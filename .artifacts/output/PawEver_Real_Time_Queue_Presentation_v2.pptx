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0b86ef76284afa" /><Relationship Type="http://schemas.openxmlformats.org/officeDocument/2006/relationships/extended-properties" Target="/docProps/app.xml" Id="R1536b730a9df4b87" /><Relationship Type="http://schemas.openxmlformats.org/officeDocument/2006/relationships/officeDocument" Target="/ppt/presentation.xml" Id="Read1b525dda74402" /></Relationships>
</file>

<file path=ppt/presentation.xml><?xml version="1.0" encoding="utf-8"?>
<p:presentation xmlns:p="http://schemas.openxmlformats.org/presentationml/2006/main">
  <p:sldMasterIdLst>
    <p:sldMasterId xmlns:r="http://schemas.openxmlformats.org/officeDocument/2006/relationships" id="2147483648" r:id="R236ab599df5149cc"/>
  </p:sldMasterIdLst>
  <p:notesMasterIdLst>
    <p:notesMasterId xmlns:r="http://schemas.openxmlformats.org/officeDocument/2006/relationships" r:id="R4e94f18fc9214c1f"/>
  </p:notesMasterIdLst>
  <p:sldIdLst>
    <p:sldId xmlns:r="http://schemas.openxmlformats.org/officeDocument/2006/relationships" id="256" r:id="R455b3a1af4664343"/>
    <p:sldId xmlns:r="http://schemas.openxmlformats.org/officeDocument/2006/relationships" id="257" r:id="Rd3d6ac4cbdb94684"/>
    <p:sldId xmlns:r="http://schemas.openxmlformats.org/officeDocument/2006/relationships" id="258" r:id="R07b963fb87cf4dae"/>
    <p:sldId xmlns:r="http://schemas.openxmlformats.org/officeDocument/2006/relationships" id="259" r:id="R76f039ce124c461a"/>
    <p:sldId xmlns:r="http://schemas.openxmlformats.org/officeDocument/2006/relationships" id="260" r:id="R2a96410a76e14cd7"/>
    <p:sldId xmlns:r="http://schemas.openxmlformats.org/officeDocument/2006/relationships" id="261" r:id="R87a92e121a3c49e2"/>
    <p:sldId xmlns:r="http://schemas.openxmlformats.org/officeDocument/2006/relationships" id="262" r:id="R79eaa28194304f75"/>
    <p:sldId xmlns:r="http://schemas.openxmlformats.org/officeDocument/2006/relationships" id="263" r:id="R3b602476b90749b0"/>
    <p:sldId xmlns:r="http://schemas.openxmlformats.org/officeDocument/2006/relationships" id="264" r:id="R135e05a5d7814eae"/>
    <p:sldId xmlns:r="http://schemas.openxmlformats.org/officeDocument/2006/relationships" id="265" r:id="R7260bc87b52344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8495a114f4d4f" /><Relationship Type="http://schemas.openxmlformats.org/officeDocument/2006/relationships/slideMaster" Target="/ppt/slideMasters/slideMaster1.xml" Id="R236ab599df5149cc" /><Relationship Type="http://schemas.openxmlformats.org/officeDocument/2006/relationships/notesMaster" Target="/ppt/notesMasters/notesMaster1.xml" Id="R4e94f18fc9214c1f" /><Relationship Type="http://schemas.openxmlformats.org/officeDocument/2006/relationships/presProps" Target="/ppt/presProps.xml" Id="R6f12be07a6c34873" /><Relationship Type="http://schemas.openxmlformats.org/officeDocument/2006/relationships/tableStyles" Target="/ppt/tableStyles.xml" Id="Re7e4ecce14b744d7" /><Relationship Type="http://schemas.openxmlformats.org/officeDocument/2006/relationships/slide" Target="/ppt/slides/slide1.xml" Id="R455b3a1af4664343" /><Relationship Type="http://schemas.openxmlformats.org/officeDocument/2006/relationships/slide" Target="/ppt/slides/slide2.xml" Id="Rd3d6ac4cbdb94684" /><Relationship Type="http://schemas.openxmlformats.org/officeDocument/2006/relationships/slide" Target="/ppt/slides/slide3.xml" Id="R07b963fb87cf4dae" /><Relationship Type="http://schemas.openxmlformats.org/officeDocument/2006/relationships/slide" Target="/ppt/slides/slide4.xml" Id="R76f039ce124c461a" /><Relationship Type="http://schemas.openxmlformats.org/officeDocument/2006/relationships/slide" Target="/ppt/slides/slide5.xml" Id="R2a96410a76e14cd7" /><Relationship Type="http://schemas.openxmlformats.org/officeDocument/2006/relationships/slide" Target="/ppt/slides/slide6.xml" Id="R87a92e121a3c49e2" /><Relationship Type="http://schemas.openxmlformats.org/officeDocument/2006/relationships/slide" Target="/ppt/slides/slide7.xml" Id="R79eaa28194304f75" /><Relationship Type="http://schemas.openxmlformats.org/officeDocument/2006/relationships/slide" Target="/ppt/slides/slide8.xml" Id="R3b602476b90749b0" /><Relationship Type="http://schemas.openxmlformats.org/officeDocument/2006/relationships/slide" Target="/ppt/slides/slide9.xml" Id="R135e05a5d7814eae" /><Relationship Type="http://schemas.openxmlformats.org/officeDocument/2006/relationships/slide" Target="/ppt/slides/slide10.xml" Id="R7260bc87b52344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0313ad007d44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b6286c828f47ae" /><Relationship Type="http://schemas.openxmlformats.org/officeDocument/2006/relationships/notesMaster" Target="/ppt/notesMasters/notesMaster1.xml" Id="R31b574274ea044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4f17d6227a4ab6" /><Relationship Type="http://schemas.openxmlformats.org/officeDocument/2006/relationships/notesMaster" Target="/ppt/notesMasters/notesMaster1.xml" Id="R560b31e9b71749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0d92b2068442d5" /><Relationship Type="http://schemas.openxmlformats.org/officeDocument/2006/relationships/notesMaster" Target="/ppt/notesMasters/notesMaster1.xml" Id="R454f9cfb011143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6ec13c85b44b8c" /><Relationship Type="http://schemas.openxmlformats.org/officeDocument/2006/relationships/notesMaster" Target="/ppt/notesMasters/notesMaster1.xml" Id="R6c98767346334e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d85d12231641c1" /><Relationship Type="http://schemas.openxmlformats.org/officeDocument/2006/relationships/notesMaster" Target="/ppt/notesMasters/notesMaster1.xml" Id="R990d52ba91f04e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150bd1e4ff4185" /><Relationship Type="http://schemas.openxmlformats.org/officeDocument/2006/relationships/notesMaster" Target="/ppt/notesMasters/notesMaster1.xml" Id="R1fe7c1b42ca245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73946e816f48bd" /><Relationship Type="http://schemas.openxmlformats.org/officeDocument/2006/relationships/notesMaster" Target="/ppt/notesMasters/notesMaster1.xml" Id="R17036da160db46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b3805104be48eb" /><Relationship Type="http://schemas.openxmlformats.org/officeDocument/2006/relationships/notesMaster" Target="/ppt/notesMasters/notesMaster1.xml" Id="R73f391d5fcd142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a62417b0df46c7" /><Relationship Type="http://schemas.openxmlformats.org/officeDocument/2006/relationships/notesMaster" Target="/ppt/notesMasters/notesMaster1.xml" Id="R3515a5c9e65140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ccf35356054059" /><Relationship Type="http://schemas.openxmlformats.org/officeDocument/2006/relationships/notesMaster" Target="/ppt/notesMasters/notesMaster1.xml" Id="Rcd9423fc88064d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present PawEver's real-time veterinary clinic queue management feature. The goal is to let pet owners see their place in the queue while clinic staff manage the next patient. I will explain why the clinic needs this feature, how WebSocket and Socket.IO support it, how the system is implemented, and then show the feature in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 queue creates problems for both sides. Pet owners do not know when their pet will be called, so they repeatedly ask staff for updates. Staff may keep a waiting list, but they must communicate each change manually. If a page only loads data once, it becomes stale as soon as staff call the next patient. The core problem is that the queue changes faster than manual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solution creates one shared queue. First, the owner checks in a registered pet. The server assigns a queue number. Staff view the waiting list and call the next patient. Every accepted action updates the owner and staff screens. The owner sees the queue number, current status, and patients ahead. Staff see the current patient and the ordered waiting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is the underlying communication technology. It keeps a full-duplex connection open so the browser and server can exchange messages immediately. PawEver uses Socket.IO on top of that connection. Socket.IO provides named events, reconnection, rooms, and a fallback to HTTP long polling. A raw WebSocket client cannot connect directly to this Socket.IO server because Socket.IO adds its own protocol and handshake.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update flow. The owner or staff first sends a normal REST request. The server validates the request and starts a database transaction. PostgreSQL saves the new queue state. Only after the successful commit does the server emit queue updated through Socket.IO. Connected pages receive the signal and fetch a fresh REST snapshot. This design keeps PostgreSQL as the source of truth and avoids sending private pet or owner data inside the live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client views: Queue Status for owners and Queue Management for staff. Both use REST for reads and queue actions. The application server contains the REST routes and the Socket.IO server on the same HTTP server. PostgreSQL stores the authoritative state. Socket.IO broadcasts only a change signal to the queue room, and both clients then fetch their permitted data. If this system later runs on multiple backend instances, a shared adapter such as Redis would be required for cross-instance broadcasts.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emits one named event: queue updated. Its payload includes the type of change, the affected entry ID, and a timestamp. It does not include the owner's name or pet information. This protects data during broadcast. Each client reacts by calling the REST API, where role and owner rules determine the response. Socket.IO reconnects automatically, and the page has a 30-second safety refresh. The current application uses a user ID parameter rather than secure server sessions, so production authentication remains a future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has four layers. The database defines queue statuses and ordering rules. The REST API exposes check-in, list, current, next, and cancellation operations. Socket.IO places clients in a queue room and emits only after a successful change. The React page listens for the event, refreshes, reconnects, and removes its listeners when the page unmounts. The project includes migration commands, a frontend build, and an integration test for the queue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I will use two browser windows. On the owner page, I select a registered pet and click Check In. The page shows a queue number and the number of patients ahead. In the staff window, the new entry appears in the waiting table. I click Call Next Patient. Then I return to the owner window without pressing Refresh. The status has changed to Serving because Socket.IO delivered queue updated and the page fetched fresh data. I call next again to show the first visit as Completed and the next visit as Serving. Finally, I check in another pet and cancel it while waiting. This proves check-in, ordering, status transitions, cancellation, and the live notification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PostgreSQL stores the authoritative queue state, the REST API applies each action, and Socket.IO announces accepted changes in real time. This gives clinic staff a simple workflow and gives pet owners immediate visibility into their turn. Thank you. I am happy to answer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5bdcb3b68d4e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99ec0b5e864a65" /><Relationship Type="http://schemas.openxmlformats.org/officeDocument/2006/relationships/slideLayout" Target="/ppt/slideLayouts/slideLayout1.xml" Id="Rd47c6261ccfc41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7c6261ccfc41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d65f89686a4727" /><Relationship Type="http://schemas.openxmlformats.org/officeDocument/2006/relationships/notesSlide" Target="/ppt/notesSlides/notesSlide1.xml" Id="Ra48e6f34b6d84e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0472e6b5374c1b" /><Relationship Type="http://schemas.openxmlformats.org/officeDocument/2006/relationships/image" Target="/ppt/media/image.png" Id="R8547dc3b211e4811" /><Relationship Type="http://schemas.openxmlformats.org/officeDocument/2006/relationships/notesSlide" Target="/ppt/notesSlides/notesSlide2.xml" Id="Rf1a0558d6a3d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a873dc72244830" /><Relationship Type="http://schemas.openxmlformats.org/officeDocument/2006/relationships/notesSlide" Target="/ppt/notesSlides/notesSlide3.xml" Id="R3fa87af2683a45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e42d6c6af04665" /><Relationship Type="http://schemas.openxmlformats.org/officeDocument/2006/relationships/notesSlide" Target="/ppt/notesSlides/notesSlide4.xml" Id="R0be546d8700742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2047a1456f425f" /><Relationship Type="http://schemas.openxmlformats.org/officeDocument/2006/relationships/notesSlide" Target="/ppt/notesSlides/notesSlide5.xml" Id="Rc90fcd45dc3e4f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eb9ab4eefa4c51" /><Relationship Type="http://schemas.openxmlformats.org/officeDocument/2006/relationships/notesSlide" Target="/ppt/notesSlides/notesSlide6.xml" Id="R4b211bcb696244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73ece200af4a95" /><Relationship Type="http://schemas.openxmlformats.org/officeDocument/2006/relationships/notesSlide" Target="/ppt/notesSlides/notesSlide7.xml" Id="R2841c8d3cb3b4e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cb63264f6546c2" /><Relationship Type="http://schemas.openxmlformats.org/officeDocument/2006/relationships/notesSlide" Target="/ppt/notesSlides/notesSlide8.xml" Id="Rcc99015dfe5c47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30c08d53c74bed" /><Relationship Type="http://schemas.openxmlformats.org/officeDocument/2006/relationships/notesSlide" Target="/ppt/notesSlides/notesSlide9.xml" Id="Rd0fead03c4e148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72275e4f7a4894" /><Relationship Type="http://schemas.openxmlformats.org/officeDocument/2006/relationships/notesSlide" Target="/ppt/notesSlides/notesSlide10.xml" Id="Ra0d5d08c65ae40c1" /></Relationships>
</file>

<file path=ppt/slides/slide1.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F6EEA3-D310-4300-B333-7AD13FC14CD2}"/>
              </a:ext>
            </a:extLst>
          </p:cNvPr>
          <p:cNvSpPr>
            <a:spLocks xmlns:a="http://schemas.openxmlformats.org/drawingml/2006/main" noGrp="1"/>
          </p:cNvSpPr>
          <p:nvPr/>
        </p:nvSpPr>
        <p:spPr>
          <a:xfrm xmlns:a="http://schemas.openxmlformats.org/drawingml/2006/main">
            <a:off x="8477250" y="-1619250"/>
            <a:ext cx="5334000" cy="5334000"/>
          </a:xfrm>
          <a:prstGeom xmlns:a="http://schemas.openxmlformats.org/drawingml/2006/main" prst="ellipse">
            <a:avLst/>
          </a:prstGeom>
          <a:solidFill xmlns:a="http://schemas.openxmlformats.org/drawingml/2006/main">
            <a:srgbClr val="1E5B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AD520D-039E-45BF-86E6-E3A2297F2F25}"/>
              </a:ext>
            </a:extLst>
          </p:cNvPr>
          <p:cNvSpPr>
            <a:spLocks xmlns:a="http://schemas.openxmlformats.org/drawingml/2006/main" noGrp="1"/>
          </p:cNvSpPr>
          <p:nvPr/>
        </p:nvSpPr>
        <p:spPr>
          <a:xfrm xmlns:a="http://schemas.openxmlformats.org/drawingml/2006/main">
            <a:off x="9525000" y="3333750"/>
            <a:ext cx="3619500" cy="3619500"/>
          </a:xfrm>
          <a:prstGeom xmlns:a="http://schemas.openxmlformats.org/drawingml/2006/main" prst="ellipse">
            <a:avLst/>
          </a:prstGeom>
          <a:solidFill xmlns:a="http://schemas.openxmlformats.org/drawingml/2006/main">
            <a:srgbClr val="0E332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5469B2-1B6B-40C8-AFE5-E7B3E6D4A749}"/>
              </a:ext>
            </a:extLst>
          </p:cNvPr>
          <p:cNvSpPr>
            <a:spLocks xmlns:a="http://schemas.openxmlformats.org/drawingml/2006/main" noGrp="1"/>
          </p:cNvSpPr>
          <p:nvPr/>
        </p:nvSpPr>
        <p:spPr>
          <a:xfrm xmlns:a="http://schemas.openxmlformats.org/drawingml/2006/main">
            <a:off x="666750" y="904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8EE0C8"/>
                </a:solidFill>
                <a:latin typeface="Helvetica Neue"/>
                <a:ea typeface="Helvetica Neue"/>
                <a:cs typeface="Helvetica Neue"/>
              </a:defRPr>
            </a:pPr>
            <a:r>
              <a:rPr sz="1950" b="1">
                <a:solidFill>
                  <a:srgbClr val="8EE0C8"/>
                </a:solidFill>
                <a:latin typeface="Helvetica Neue"/>
                <a:ea typeface="Helvetica Neue"/>
                <a:cs typeface="Helvetica Neue"/>
              </a:rPr>
              <a:t>REAL-TIME</a:t>
            </a:r>
          </a:p>
        </p:txBody>
      </p:sp>
      <p:sp>
        <p:nvSpPr>
          <p:cNvPr id="4" name="">
            <a:extLst xmlns:a="http://schemas.openxmlformats.org/drawingml/2006/main">
              <a:ext uri="{FF2B5EF4-FFF2-40B4-BE49-F238E27FC236}">
                <a16:creationId xmlns:a16="http://schemas.microsoft.com/office/drawing/2014/main" id="{B893764B-13FF-4EC6-BEE4-A6F323B3F46A}"/>
              </a:ext>
            </a:extLst>
          </p:cNvPr>
          <p:cNvSpPr>
            <a:spLocks xmlns:a="http://schemas.openxmlformats.org/drawingml/2006/main" noGrp="1"/>
          </p:cNvSpPr>
          <p:nvPr/>
        </p:nvSpPr>
        <p:spPr>
          <a:xfrm xmlns:a="http://schemas.openxmlformats.org/drawingml/2006/main">
            <a:off x="666750" y="1409700"/>
            <a:ext cx="723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Veterinary Clinic</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Queue Management</a:t>
            </a:r>
          </a:p>
        </p:txBody>
      </p:sp>
      <p:sp>
        <p:nvSpPr>
          <p:cNvPr id="5" name="">
            <a:extLst xmlns:a="http://schemas.openxmlformats.org/drawingml/2006/main">
              <a:ext uri="{FF2B5EF4-FFF2-40B4-BE49-F238E27FC236}">
                <a16:creationId xmlns:a16="http://schemas.microsoft.com/office/drawing/2014/main" id="{26DC618A-16FD-4171-B252-54A71C97F572}"/>
              </a:ext>
            </a:extLst>
          </p:cNvPr>
          <p:cNvSpPr>
            <a:spLocks xmlns:a="http://schemas.openxmlformats.org/drawingml/2006/main" noGrp="1"/>
          </p:cNvSpPr>
          <p:nvPr/>
        </p:nvSpPr>
        <p:spPr>
          <a:xfrm xmlns:a="http://schemas.openxmlformats.org/drawingml/2006/main">
            <a:off x="704850" y="31146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WebSocket and Socket.IO</a:t>
            </a:r>
          </a:p>
        </p:txBody>
      </p:sp>
      <p:sp>
        <p:nvSpPr>
          <p:cNvPr id="6" name="">
            <a:extLst xmlns:a="http://schemas.openxmlformats.org/drawingml/2006/main">
              <a:ext uri="{FF2B5EF4-FFF2-40B4-BE49-F238E27FC236}">
                <a16:creationId xmlns:a16="http://schemas.microsoft.com/office/drawing/2014/main" id="{C852A237-5FFF-4666-9837-D81EC5FF933C}"/>
              </a:ext>
            </a:extLst>
          </p:cNvPr>
          <p:cNvSpPr>
            <a:spLocks xmlns:a="http://schemas.openxmlformats.org/drawingml/2006/main" noGrp="1"/>
          </p:cNvSpPr>
          <p:nvPr/>
        </p:nvSpPr>
        <p:spPr>
          <a:xfrm xmlns:a="http://schemas.openxmlformats.org/drawingml/2006/main">
            <a:off x="704850" y="3876675"/>
            <a:ext cx="5000625"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7" name="">
            <a:extLst xmlns:a="http://schemas.openxmlformats.org/drawingml/2006/main">
              <a:ext uri="{FF2B5EF4-FFF2-40B4-BE49-F238E27FC236}">
                <a16:creationId xmlns:a16="http://schemas.microsoft.com/office/drawing/2014/main" id="{9DA29B01-4A60-468C-8BB4-554493AE498B}"/>
              </a:ext>
            </a:extLst>
          </p:cNvPr>
          <p:cNvSpPr>
            <a:spLocks xmlns:a="http://schemas.openxmlformats.org/drawingml/2006/main" noGrp="1"/>
          </p:cNvSpPr>
          <p:nvPr/>
        </p:nvSpPr>
        <p:spPr>
          <a:xfrm xmlns:a="http://schemas.openxmlformats.org/drawingml/2006/main">
            <a:off x="704850" y="40957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A live queue that keeps pet owners and clinic staff in sync</a:t>
            </a:r>
          </a:p>
        </p:txBody>
      </p:sp>
      <p:sp>
        <p:nvSpPr>
          <p:cNvPr id="8" name="">
            <a:extLst xmlns:a="http://schemas.openxmlformats.org/drawingml/2006/main">
              <a:ext uri="{FF2B5EF4-FFF2-40B4-BE49-F238E27FC236}">
                <a16:creationId xmlns:a16="http://schemas.microsoft.com/office/drawing/2014/main" id="{02B5BD0D-74D2-4EBE-86F4-54F33D9875BD}"/>
              </a:ext>
            </a:extLst>
          </p:cNvPr>
          <p:cNvSpPr>
            <a:spLocks xmlns:a="http://schemas.openxmlformats.org/drawingml/2006/main" noGrp="1"/>
          </p:cNvSpPr>
          <p:nvPr/>
        </p:nvSpPr>
        <p:spPr>
          <a:xfrm xmlns:a="http://schemas.openxmlformats.org/drawingml/2006/main">
            <a:off x="8239125" y="2381250"/>
            <a:ext cx="1123950" cy="1123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A001</a:t>
            </a:r>
          </a:p>
        </p:txBody>
      </p:sp>
      <p:sp>
        <p:nvSpPr>
          <p:cNvPr id="9" name="">
            <a:extLst xmlns:a="http://schemas.openxmlformats.org/drawingml/2006/main">
              <a:ext uri="{FF2B5EF4-FFF2-40B4-BE49-F238E27FC236}">
                <a16:creationId xmlns:a16="http://schemas.microsoft.com/office/drawing/2014/main" id="{EC0C1E52-3879-4181-BADE-BF159ACB8C7F}"/>
              </a:ext>
            </a:extLst>
          </p:cNvPr>
          <p:cNvSpPr>
            <a:spLocks xmlns:a="http://schemas.openxmlformats.org/drawingml/2006/main" noGrp="1"/>
          </p:cNvSpPr>
          <p:nvPr/>
        </p:nvSpPr>
        <p:spPr>
          <a:xfrm xmlns:a="http://schemas.openxmlformats.org/drawingml/2006/main">
            <a:off x="9477375" y="3362325"/>
            <a:ext cx="971550" cy="971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A002</a:t>
            </a:r>
          </a:p>
        </p:txBody>
      </p:sp>
      <p:sp>
        <p:nvSpPr>
          <p:cNvPr id="10" name="">
            <a:extLst xmlns:a="http://schemas.openxmlformats.org/drawingml/2006/main">
              <a:ext uri="{FF2B5EF4-FFF2-40B4-BE49-F238E27FC236}">
                <a16:creationId xmlns:a16="http://schemas.microsoft.com/office/drawing/2014/main" id="{D03B2B88-75DF-4613-B7D2-B3511D405F1C}"/>
              </a:ext>
            </a:extLst>
          </p:cNvPr>
          <p:cNvSpPr>
            <a:spLocks xmlns:a="http://schemas.openxmlformats.org/drawingml/2006/main" noGrp="1"/>
          </p:cNvSpPr>
          <p:nvPr/>
        </p:nvSpPr>
        <p:spPr>
          <a:xfrm xmlns:a="http://schemas.openxmlformats.org/drawingml/2006/main">
            <a:off x="10287000" y="1762125"/>
            <a:ext cx="876300" cy="8763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A003</a:t>
            </a:r>
          </a:p>
        </p:txBody>
      </p:sp>
      <p:sp>
        <p:nvSpPr>
          <p:cNvPr id="11" name="">
            <a:extLst xmlns:a="http://schemas.openxmlformats.org/drawingml/2006/main">
              <a:ext uri="{FF2B5EF4-FFF2-40B4-BE49-F238E27FC236}">
                <a16:creationId xmlns:a16="http://schemas.microsoft.com/office/drawing/2014/main" id="{24C2B94E-B58D-41C6-8255-53F9EF278E4F}"/>
              </a:ext>
            </a:extLst>
          </p:cNvPr>
          <p:cNvSpPr>
            <a:spLocks xmlns:a="http://schemas.openxmlformats.org/drawingml/2006/main" noGrp="1"/>
          </p:cNvSpPr>
          <p:nvPr/>
        </p:nvSpPr>
        <p:spPr>
          <a:xfrm xmlns:a="http://schemas.openxmlformats.org/drawingml/2006/main">
            <a:off x="704850" y="6019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D8CC"/>
                </a:solidFill>
                <a:latin typeface="Helvetica Neue"/>
                <a:ea typeface="Helvetica Neue"/>
                <a:cs typeface="Helvetica Neue"/>
              </a:defRPr>
            </a:pPr>
            <a:r>
              <a:rPr sz="1200" b="0">
                <a:solidFill>
                  <a:srgbClr val="A9D8CC"/>
                </a:solidFill>
                <a:latin typeface="Helvetica Neue"/>
                <a:ea typeface="Helvetica Neue"/>
                <a:cs typeface="Helvetica Neue"/>
              </a:rPr>
              <a:t>10-minute presentation and live demo</a:t>
            </a:r>
          </a:p>
        </p:txBody>
      </p:sp>
    </p:spTree>
    <p:extLst>
      <p:ext uri="{BB962C8B-B14F-4D97-AF65-F5344CB8AC3E}">
        <p14:creationId xmlns:p14="http://schemas.microsoft.com/office/powerpoint/2010/main" val="798074340"/>
      </p:ext>
    </p:extLst>
  </p:cSld>
</p:sld>
</file>

<file path=ppt/slides/slide2.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EEA908-856B-429D-83F1-3CCCB4BBBD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0B17115-B1A1-4177-90DE-9EC8710DB58B}"/>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C57139F6-D389-4DF3-B5E6-80FAAB1C4973}"/>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Clinic queue problem</a:t>
            </a:r>
          </a:p>
        </p:txBody>
      </p:sp>
      <p:sp>
        <p:nvSpPr>
          <p:cNvPr id="4" name="">
            <a:extLst xmlns:a="http://schemas.openxmlformats.org/drawingml/2006/main">
              <a:ext uri="{FF2B5EF4-FFF2-40B4-BE49-F238E27FC236}">
                <a16:creationId xmlns:a16="http://schemas.microsoft.com/office/drawing/2014/main" id="{1B44A817-D42F-475A-AFDB-A23D1FE7FC5B}"/>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Owners and staff work from different views of the same waiting room</a:t>
            </a:r>
          </a:p>
        </p:txBody>
      </p:sp>
      <p:sp>
        <p:nvSpPr>
          <p:cNvPr id="5" name="">
            <a:extLst xmlns:a="http://schemas.openxmlformats.org/drawingml/2006/main">
              <a:ext uri="{FF2B5EF4-FFF2-40B4-BE49-F238E27FC236}">
                <a16:creationId xmlns:a16="http://schemas.microsoft.com/office/drawing/2014/main" id="{73EDF70C-A205-4103-B0E9-ED0A0852F602}"/>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172134D5-3046-4BE9-84D8-AF2CEFA0CCC4}"/>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6BCDF41A-529C-4EBA-8786-FD25C7417302}"/>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2</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547dc3b211e4811"/>
          <a:srcRect xmlns:a="http://schemas.openxmlformats.org/drawingml/2006/main" l="5000" t="8000" r="4000" b="8000"/>
          <a:stretch xmlns:a="http://schemas.openxmlformats.org/drawingml/2006/main"/>
        </p:blipFill>
        <p:spPr>
          <a:xfrm xmlns:a="http://schemas.openxmlformats.org/drawingml/2006/main">
            <a:off x="6381750" y="1885950"/>
            <a:ext cx="4953000" cy="3143250"/>
          </a:xfrm>
          <a:prstGeom xmlns:a="http://schemas.openxmlformats.org/drawingml/2006/main" prst="roundRect">
            <a:avLst>
              <a:gd name="adj" fmla="val 4848"/>
            </a:avLst>
          </a:prstGeom>
        </p:spPr>
      </p:pic>
      <p:sp>
        <p:nvSpPr>
          <p:cNvPr id="9" name="">
            <a:extLst xmlns:a="http://schemas.openxmlformats.org/drawingml/2006/main">
              <a:ext uri="{FF2B5EF4-FFF2-40B4-BE49-F238E27FC236}">
                <a16:creationId xmlns:a16="http://schemas.microsoft.com/office/drawing/2014/main" id="{5C1C42F2-1278-4279-9373-2D47B46CB30F}"/>
              </a:ext>
            </a:extLst>
          </p:cNvPr>
          <p:cNvSpPr>
            <a:spLocks xmlns:a="http://schemas.openxmlformats.org/drawingml/2006/main" noGrp="1"/>
          </p:cNvSpPr>
          <p:nvPr/>
        </p:nvSpPr>
        <p:spPr>
          <a:xfrm xmlns:a="http://schemas.openxmlformats.org/drawingml/2006/main">
            <a:off x="666750" y="195262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Pet owners</a:t>
            </a:r>
          </a:p>
        </p:txBody>
      </p:sp>
      <p:sp>
        <p:nvSpPr>
          <p:cNvPr id="10" name="">
            <a:extLst xmlns:a="http://schemas.openxmlformats.org/drawingml/2006/main">
              <a:ext uri="{FF2B5EF4-FFF2-40B4-BE49-F238E27FC236}">
                <a16:creationId xmlns:a16="http://schemas.microsoft.com/office/drawing/2014/main" id="{63BB4AEF-7AEA-424A-B979-2AE9742F9E73}"/>
              </a:ext>
            </a:extLst>
          </p:cNvPr>
          <p:cNvSpPr>
            <a:spLocks xmlns:a="http://schemas.openxmlformats.org/drawingml/2006/main" noGrp="1"/>
          </p:cNvSpPr>
          <p:nvPr/>
        </p:nvSpPr>
        <p:spPr>
          <a:xfrm xmlns:a="http://schemas.openxmlformats.org/drawingml/2006/main">
            <a:off x="666750" y="23622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Cannot see when their pet will be called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Ask staff for repeated updates</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Experience uncertainty while waiting</a:t>
            </a:r>
          </a:p>
        </p:txBody>
      </p:sp>
      <p:sp>
        <p:nvSpPr>
          <p:cNvPr id="11" name="">
            <a:extLst xmlns:a="http://schemas.openxmlformats.org/drawingml/2006/main">
              <a:ext uri="{FF2B5EF4-FFF2-40B4-BE49-F238E27FC236}">
                <a16:creationId xmlns:a16="http://schemas.microsoft.com/office/drawing/2014/main" id="{479E181F-8C28-4F10-B469-227F5D446CA0}"/>
              </a:ext>
            </a:extLst>
          </p:cNvPr>
          <p:cNvSpPr>
            <a:spLocks xmlns:a="http://schemas.openxmlformats.org/drawingml/2006/main" noGrp="1"/>
          </p:cNvSpPr>
          <p:nvPr/>
        </p:nvSpPr>
        <p:spPr>
          <a:xfrm xmlns:a="http://schemas.openxmlformats.org/drawingml/2006/main">
            <a:off x="666750" y="4095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Clinic staff</a:t>
            </a:r>
          </a:p>
        </p:txBody>
      </p:sp>
      <p:sp>
        <p:nvSpPr>
          <p:cNvPr id="12" name="">
            <a:extLst xmlns:a="http://schemas.openxmlformats.org/drawingml/2006/main">
              <a:ext uri="{FF2B5EF4-FFF2-40B4-BE49-F238E27FC236}">
                <a16:creationId xmlns:a16="http://schemas.microsoft.com/office/drawing/2014/main" id="{D69C1187-ACFF-454F-9863-E708488407D7}"/>
              </a:ext>
            </a:extLst>
          </p:cNvPr>
          <p:cNvSpPr>
            <a:spLocks xmlns:a="http://schemas.openxmlformats.org/drawingml/2006/main" noGrp="1"/>
          </p:cNvSpPr>
          <p:nvPr/>
        </p:nvSpPr>
        <p:spPr>
          <a:xfrm xmlns:a="http://schemas.openxmlformats.org/drawingml/2006/main">
            <a:off x="666750" y="450532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Track the queue manually</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Announce changes one person at a time</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Risk showing stale information</a:t>
            </a:r>
          </a:p>
        </p:txBody>
      </p:sp>
      <p:sp>
        <p:nvSpPr>
          <p:cNvPr id="13" name="">
            <a:extLst xmlns:a="http://schemas.openxmlformats.org/drawingml/2006/main">
              <a:ext uri="{FF2B5EF4-FFF2-40B4-BE49-F238E27FC236}">
                <a16:creationId xmlns:a16="http://schemas.microsoft.com/office/drawing/2014/main" id="{C0434119-8E54-44AF-8D60-BF8199540675}"/>
              </a:ext>
            </a:extLst>
          </p:cNvPr>
          <p:cNvSpPr>
            <a:spLocks xmlns:a="http://schemas.openxmlformats.org/drawingml/2006/main" noGrp="1"/>
          </p:cNvSpPr>
          <p:nvPr/>
        </p:nvSpPr>
        <p:spPr>
          <a:xfrm xmlns:a="http://schemas.openxmlformats.org/drawingml/2006/main">
            <a:off x="6381750" y="5238750"/>
            <a:ext cx="4953000" cy="742950"/>
          </a:xfrm>
          <a:prstGeom xmlns:a="http://schemas.openxmlformats.org/drawingml/2006/main" prst="roundRect">
            <a:avLst>
              <a:gd name="adj" fmla="val 20513"/>
            </a:avLst>
          </a:prstGeom>
          <a:solidFill xmlns:a="http://schemas.openxmlformats.org/drawingml/2006/main">
            <a:srgbClr val="F8E2DF"/>
          </a:solidFill>
          <a:ln xmlns:a="http://schemas.openxmlformats.org/drawingml/2006/main" w="14288">
            <a:solidFill>
              <a:srgbClr val="C85B55"/>
            </a:solidFill>
            <a:prstDash val="solid"/>
          </a:ln>
        </p:spPr>
      </p:sp>
      <p:sp>
        <p:nvSpPr>
          <p:cNvPr id="14" name="">
            <a:extLst xmlns:a="http://schemas.openxmlformats.org/drawingml/2006/main">
              <a:ext uri="{FF2B5EF4-FFF2-40B4-BE49-F238E27FC236}">
                <a16:creationId xmlns:a16="http://schemas.microsoft.com/office/drawing/2014/main" id="{CA3D8830-401A-4919-82A1-ACE73EE8A996}"/>
              </a:ext>
            </a:extLst>
          </p:cNvPr>
          <p:cNvSpPr>
            <a:spLocks xmlns:a="http://schemas.openxmlformats.org/drawingml/2006/main" noGrp="1"/>
          </p:cNvSpPr>
          <p:nvPr/>
        </p:nvSpPr>
        <p:spPr>
          <a:xfrm xmlns:a="http://schemas.openxmlformats.org/drawingml/2006/main">
            <a:off x="6619875" y="53721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167"/>
          </a:bodyPr>
          <a:lstStyle xmlns:a="http://schemas.openxmlformats.org/drawingml/2006/main"/>
          <a:p xmlns:a="http://schemas.openxmlformats.org/drawingml/2006/main">
            <a:pPr algn="ctr">
              <a:defRPr sz="1500" b="1">
                <a:solidFill>
                  <a:srgbClr val="C85B55"/>
                </a:solidFill>
                <a:latin typeface="Helvetica Neue"/>
                <a:ea typeface="Helvetica Neue"/>
                <a:cs typeface="Helvetica Neue"/>
              </a:defRPr>
            </a:pPr>
            <a:r>
              <a:rPr sz="1500" b="1">
                <a:solidFill>
                  <a:srgbClr val="C85B55"/>
                </a:solidFill>
                <a:latin typeface="Helvetica Neue"/>
                <a:ea typeface="Helvetica Neue"/>
                <a:cs typeface="Helvetica Neue"/>
              </a:rPr>
              <a:t>Core issue: the queue changes faster than manual communication</a:t>
            </a:r>
          </a:p>
        </p:txBody>
      </p:sp>
    </p:spTree>
    <p:extLst>
      <p:ext uri="{BB962C8B-B14F-4D97-AF65-F5344CB8AC3E}">
        <p14:creationId xmlns:p14="http://schemas.microsoft.com/office/powerpoint/2010/main" val="404745595"/>
      </p:ext>
    </p:extLst>
  </p:cSld>
</p:sld>
</file>

<file path=ppt/slides/slide3.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75ED13-2743-40E3-AEBE-7F0CB69BC85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08C81532-FB6B-4CB2-9A32-76F6ED95E00E}"/>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BBA15175-712F-4914-9C76-743827EB894E}"/>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Proposed solution</a:t>
            </a:r>
          </a:p>
        </p:txBody>
      </p:sp>
      <p:sp>
        <p:nvSpPr>
          <p:cNvPr id="4" name="">
            <a:extLst xmlns:a="http://schemas.openxmlformats.org/drawingml/2006/main">
              <a:ext uri="{FF2B5EF4-FFF2-40B4-BE49-F238E27FC236}">
                <a16:creationId xmlns:a16="http://schemas.microsoft.com/office/drawing/2014/main" id="{5138A763-F457-41A9-B7EB-2756CFDC9594}"/>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A shared queue with automatic updates after every accepted action</a:t>
            </a:r>
          </a:p>
        </p:txBody>
      </p:sp>
      <p:sp>
        <p:nvSpPr>
          <p:cNvPr id="5" name="">
            <a:extLst xmlns:a="http://schemas.openxmlformats.org/drawingml/2006/main">
              <a:ext uri="{FF2B5EF4-FFF2-40B4-BE49-F238E27FC236}">
                <a16:creationId xmlns:a16="http://schemas.microsoft.com/office/drawing/2014/main" id="{41D6AA90-D1B0-4640-8FE1-BF828F966DF0}"/>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20C60E8E-0425-4663-AF5F-CC4AE13FDDFE}"/>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C12BD471-1A75-4FCD-B0D7-0C7FC58C449A}"/>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815E996A-D4F4-4272-B17D-289249CA6118}"/>
              </a:ext>
            </a:extLst>
          </p:cNvPr>
          <p:cNvSpPr>
            <a:spLocks xmlns:a="http://schemas.openxmlformats.org/drawingml/2006/main" noGrp="1"/>
          </p:cNvSpPr>
          <p:nvPr/>
        </p:nvSpPr>
        <p:spPr>
          <a:xfrm xmlns:a="http://schemas.openxmlformats.org/drawingml/2006/main">
            <a:off x="1352550" y="1952625"/>
            <a:ext cx="609600" cy="60960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CBE57955-CFD2-46A1-9F35-17BC84D2EA95}"/>
              </a:ext>
            </a:extLst>
          </p:cNvPr>
          <p:cNvSpPr>
            <a:spLocks xmlns:a="http://schemas.openxmlformats.org/drawingml/2006/main" noGrp="1"/>
          </p:cNvSpPr>
          <p:nvPr/>
        </p:nvSpPr>
        <p:spPr>
          <a:xfrm xmlns:a="http://schemas.openxmlformats.org/drawingml/2006/main">
            <a:off x="609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Check in pet</a:t>
            </a:r>
          </a:p>
        </p:txBody>
      </p:sp>
      <p:sp>
        <p:nvSpPr>
          <p:cNvPr id="10" name="">
            <a:extLst xmlns:a="http://schemas.openxmlformats.org/drawingml/2006/main">
              <a:ext uri="{FF2B5EF4-FFF2-40B4-BE49-F238E27FC236}">
                <a16:creationId xmlns:a16="http://schemas.microsoft.com/office/drawing/2014/main" id="{D1C5A009-D40D-4033-A7CB-735F46A8DDEE}"/>
              </a:ext>
            </a:extLst>
          </p:cNvPr>
          <p:cNvSpPr>
            <a:spLocks xmlns:a="http://schemas.openxmlformats.org/drawingml/2006/main" noGrp="1"/>
          </p:cNvSpPr>
          <p:nvPr/>
        </p:nvSpPr>
        <p:spPr>
          <a:xfrm xmlns:a="http://schemas.openxmlformats.org/drawingml/2006/main">
            <a:off x="609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 selects a registered pet</a:t>
            </a:r>
          </a:p>
        </p:txBody>
      </p:sp>
      <p:sp>
        <p:nvSpPr>
          <p:cNvPr id="11" name="">
            <a:extLst xmlns:a="http://schemas.openxmlformats.org/drawingml/2006/main">
              <a:ext uri="{FF2B5EF4-FFF2-40B4-BE49-F238E27FC236}">
                <a16:creationId xmlns:a16="http://schemas.microsoft.com/office/drawing/2014/main" id="{3567D645-9204-4C69-AF4E-43D61002E37C}"/>
              </a:ext>
            </a:extLst>
          </p:cNvPr>
          <p:cNvSpPr>
            <a:spLocks xmlns:a="http://schemas.openxmlformats.org/drawingml/2006/main" noGrp="1"/>
          </p:cNvSpPr>
          <p:nvPr/>
        </p:nvSpPr>
        <p:spPr>
          <a:xfrm xmlns:a="http://schemas.openxmlformats.org/drawingml/2006/main">
            <a:off x="2752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2" name="">
            <a:extLst xmlns:a="http://schemas.openxmlformats.org/drawingml/2006/main">
              <a:ext uri="{FF2B5EF4-FFF2-40B4-BE49-F238E27FC236}">
                <a16:creationId xmlns:a16="http://schemas.microsoft.com/office/drawing/2014/main" id="{E1E91B5C-63BF-4A52-A470-15D5B051FB73}"/>
              </a:ext>
            </a:extLst>
          </p:cNvPr>
          <p:cNvSpPr>
            <a:spLocks xmlns:a="http://schemas.openxmlformats.org/drawingml/2006/main" noGrp="1"/>
          </p:cNvSpPr>
          <p:nvPr/>
        </p:nvSpPr>
        <p:spPr>
          <a:xfrm xmlns:a="http://schemas.openxmlformats.org/drawingml/2006/main">
            <a:off x="4210050" y="1952625"/>
            <a:ext cx="609600" cy="6096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6554FB97-E390-4601-B20B-FD20A8188364}"/>
              </a:ext>
            </a:extLst>
          </p:cNvPr>
          <p:cNvSpPr>
            <a:spLocks xmlns:a="http://schemas.openxmlformats.org/drawingml/2006/main" noGrp="1"/>
          </p:cNvSpPr>
          <p:nvPr/>
        </p:nvSpPr>
        <p:spPr>
          <a:xfrm xmlns:a="http://schemas.openxmlformats.org/drawingml/2006/main">
            <a:off x="3467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Join queue</a:t>
            </a:r>
          </a:p>
        </p:txBody>
      </p:sp>
      <p:sp>
        <p:nvSpPr>
          <p:cNvPr id="14" name="">
            <a:extLst xmlns:a="http://schemas.openxmlformats.org/drawingml/2006/main">
              <a:ext uri="{FF2B5EF4-FFF2-40B4-BE49-F238E27FC236}">
                <a16:creationId xmlns:a16="http://schemas.microsoft.com/office/drawing/2014/main" id="{E12B96DB-1595-4BCE-ACD9-ACF923AF8455}"/>
              </a:ext>
            </a:extLst>
          </p:cNvPr>
          <p:cNvSpPr>
            <a:spLocks xmlns:a="http://schemas.openxmlformats.org/drawingml/2006/main" noGrp="1"/>
          </p:cNvSpPr>
          <p:nvPr/>
        </p:nvSpPr>
        <p:spPr>
          <a:xfrm xmlns:a="http://schemas.openxmlformats.org/drawingml/2006/main">
            <a:off x="3467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System assigns a queue number</a:t>
            </a:r>
          </a:p>
        </p:txBody>
      </p:sp>
      <p:sp>
        <p:nvSpPr>
          <p:cNvPr id="15" name="">
            <a:extLst xmlns:a="http://schemas.openxmlformats.org/drawingml/2006/main">
              <a:ext uri="{FF2B5EF4-FFF2-40B4-BE49-F238E27FC236}">
                <a16:creationId xmlns:a16="http://schemas.microsoft.com/office/drawing/2014/main" id="{7EBFF005-C353-4BEA-BA8B-4248308AF74F}"/>
              </a:ext>
            </a:extLst>
          </p:cNvPr>
          <p:cNvSpPr>
            <a:spLocks xmlns:a="http://schemas.openxmlformats.org/drawingml/2006/main" noGrp="1"/>
          </p:cNvSpPr>
          <p:nvPr/>
        </p:nvSpPr>
        <p:spPr>
          <a:xfrm xmlns:a="http://schemas.openxmlformats.org/drawingml/2006/main">
            <a:off x="56102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6" name="">
            <a:extLst xmlns:a="http://schemas.openxmlformats.org/drawingml/2006/main">
              <a:ext uri="{FF2B5EF4-FFF2-40B4-BE49-F238E27FC236}">
                <a16:creationId xmlns:a16="http://schemas.microsoft.com/office/drawing/2014/main" id="{41567C51-4460-4204-A6BA-3940AEB12679}"/>
              </a:ext>
            </a:extLst>
          </p:cNvPr>
          <p:cNvSpPr>
            <a:spLocks xmlns:a="http://schemas.openxmlformats.org/drawingml/2006/main" noGrp="1"/>
          </p:cNvSpPr>
          <p:nvPr/>
        </p:nvSpPr>
        <p:spPr>
          <a:xfrm xmlns:a="http://schemas.openxmlformats.org/drawingml/2006/main">
            <a:off x="7067550" y="1952625"/>
            <a:ext cx="609600" cy="60960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D91A9ABF-6469-4927-9827-F3F6117B38FA}"/>
              </a:ext>
            </a:extLst>
          </p:cNvPr>
          <p:cNvSpPr>
            <a:spLocks xmlns:a="http://schemas.openxmlformats.org/drawingml/2006/main" noGrp="1"/>
          </p:cNvSpPr>
          <p:nvPr/>
        </p:nvSpPr>
        <p:spPr>
          <a:xfrm xmlns:a="http://schemas.openxmlformats.org/drawingml/2006/main">
            <a:off x="6324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Call next</a:t>
            </a:r>
          </a:p>
        </p:txBody>
      </p:sp>
      <p:sp>
        <p:nvSpPr>
          <p:cNvPr id="18" name="">
            <a:extLst xmlns:a="http://schemas.openxmlformats.org/drawingml/2006/main">
              <a:ext uri="{FF2B5EF4-FFF2-40B4-BE49-F238E27FC236}">
                <a16:creationId xmlns:a16="http://schemas.microsoft.com/office/drawing/2014/main" id="{614746E2-509A-45C4-9932-8AB26D7706EB}"/>
              </a:ext>
            </a:extLst>
          </p:cNvPr>
          <p:cNvSpPr>
            <a:spLocks xmlns:a="http://schemas.openxmlformats.org/drawingml/2006/main" noGrp="1"/>
          </p:cNvSpPr>
          <p:nvPr/>
        </p:nvSpPr>
        <p:spPr>
          <a:xfrm xmlns:a="http://schemas.openxmlformats.org/drawingml/2006/main">
            <a:off x="6324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Staff advances the waiting list</a:t>
            </a:r>
          </a:p>
        </p:txBody>
      </p:sp>
      <p:sp>
        <p:nvSpPr>
          <p:cNvPr id="19" name="">
            <a:extLst xmlns:a="http://schemas.openxmlformats.org/drawingml/2006/main">
              <a:ext uri="{FF2B5EF4-FFF2-40B4-BE49-F238E27FC236}">
                <a16:creationId xmlns:a16="http://schemas.microsoft.com/office/drawing/2014/main" id="{98D33504-D653-4992-BC3E-448BDE6B2A21}"/>
              </a:ext>
            </a:extLst>
          </p:cNvPr>
          <p:cNvSpPr>
            <a:spLocks xmlns:a="http://schemas.openxmlformats.org/drawingml/2006/main" noGrp="1"/>
          </p:cNvSpPr>
          <p:nvPr/>
        </p:nvSpPr>
        <p:spPr>
          <a:xfrm xmlns:a="http://schemas.openxmlformats.org/drawingml/2006/main">
            <a:off x="8467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EBE097A5-D63E-4D88-8B04-7883E83FD784}"/>
              </a:ext>
            </a:extLst>
          </p:cNvPr>
          <p:cNvSpPr>
            <a:spLocks xmlns:a="http://schemas.openxmlformats.org/drawingml/2006/main" noGrp="1"/>
          </p:cNvSpPr>
          <p:nvPr/>
        </p:nvSpPr>
        <p:spPr>
          <a:xfrm xmlns:a="http://schemas.openxmlformats.org/drawingml/2006/main">
            <a:off x="9925050" y="1952625"/>
            <a:ext cx="609600" cy="60960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0E05C92E-3A3F-4816-9D62-8C372FE5396F}"/>
              </a:ext>
            </a:extLst>
          </p:cNvPr>
          <p:cNvSpPr>
            <a:spLocks xmlns:a="http://schemas.openxmlformats.org/drawingml/2006/main" noGrp="1"/>
          </p:cNvSpPr>
          <p:nvPr/>
        </p:nvSpPr>
        <p:spPr>
          <a:xfrm xmlns:a="http://schemas.openxmlformats.org/drawingml/2006/main">
            <a:off x="9182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Update screens</a:t>
            </a:r>
          </a:p>
        </p:txBody>
      </p:sp>
      <p:sp>
        <p:nvSpPr>
          <p:cNvPr id="22" name="">
            <a:extLst xmlns:a="http://schemas.openxmlformats.org/drawingml/2006/main">
              <a:ext uri="{FF2B5EF4-FFF2-40B4-BE49-F238E27FC236}">
                <a16:creationId xmlns:a16="http://schemas.microsoft.com/office/drawing/2014/main" id="{862D4878-C618-47F6-A5B0-9D3C83E3EB68}"/>
              </a:ext>
            </a:extLst>
          </p:cNvPr>
          <p:cNvSpPr>
            <a:spLocks xmlns:a="http://schemas.openxmlformats.org/drawingml/2006/main" noGrp="1"/>
          </p:cNvSpPr>
          <p:nvPr/>
        </p:nvSpPr>
        <p:spPr>
          <a:xfrm xmlns:a="http://schemas.openxmlformats.org/drawingml/2006/main">
            <a:off x="9182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 and staff see the new state</a:t>
            </a:r>
          </a:p>
        </p:txBody>
      </p:sp>
      <p:sp>
        <p:nvSpPr>
          <p:cNvPr id="23" name="">
            <a:extLst xmlns:a="http://schemas.openxmlformats.org/drawingml/2006/main">
              <a:ext uri="{FF2B5EF4-FFF2-40B4-BE49-F238E27FC236}">
                <a16:creationId xmlns:a16="http://schemas.microsoft.com/office/drawing/2014/main" id="{B1ABC154-B009-4D3D-8F5A-6415D37D7BF3}"/>
              </a:ext>
            </a:extLst>
          </p:cNvPr>
          <p:cNvSpPr>
            <a:spLocks xmlns:a="http://schemas.openxmlformats.org/drawingml/2006/main" noGrp="1"/>
          </p:cNvSpPr>
          <p:nvPr/>
        </p:nvSpPr>
        <p:spPr>
          <a:xfrm xmlns:a="http://schemas.openxmlformats.org/drawingml/2006/main">
            <a:off x="1333500" y="4333875"/>
            <a:ext cx="9525000" cy="1190625"/>
          </a:xfrm>
          <a:prstGeom xmlns:a="http://schemas.openxmlformats.org/drawingml/2006/main" prst="roundRect">
            <a:avLst>
              <a:gd name="adj" fmla="val 17600"/>
            </a:avLst>
          </a:prstGeom>
          <a:solidFill xmlns:a="http://schemas.openxmlformats.org/drawingml/2006/main">
            <a:srgbClr val="DCF4EC"/>
          </a:solidFill>
          <a:ln xmlns:a="http://schemas.openxmlformats.org/drawingml/2006/main" w="14288">
            <a:solidFill>
              <a:srgbClr val="8ACDBA"/>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3333A763-225C-4E95-B2B7-6E083DDD02B7}"/>
              </a:ext>
            </a:extLst>
          </p:cNvPr>
          <p:cNvSpPr>
            <a:spLocks xmlns:a="http://schemas.openxmlformats.org/drawingml/2006/main" noGrp="1"/>
          </p:cNvSpPr>
          <p:nvPr/>
        </p:nvSpPr>
        <p:spPr>
          <a:xfrm xmlns:a="http://schemas.openxmlformats.org/drawingml/2006/main">
            <a:off x="171450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Owner view</a:t>
            </a:r>
          </a:p>
        </p:txBody>
      </p:sp>
      <p:sp>
        <p:nvSpPr>
          <p:cNvPr id="25" name="">
            <a:extLst xmlns:a="http://schemas.openxmlformats.org/drawingml/2006/main">
              <a:ext uri="{FF2B5EF4-FFF2-40B4-BE49-F238E27FC236}">
                <a16:creationId xmlns:a16="http://schemas.microsoft.com/office/drawing/2014/main" id="{B13A8C89-98E7-451D-835E-6472940DDA2C}"/>
              </a:ext>
            </a:extLst>
          </p:cNvPr>
          <p:cNvSpPr>
            <a:spLocks xmlns:a="http://schemas.openxmlformats.org/drawingml/2006/main" noGrp="1"/>
          </p:cNvSpPr>
          <p:nvPr/>
        </p:nvSpPr>
        <p:spPr>
          <a:xfrm xmlns:a="http://schemas.openxmlformats.org/drawingml/2006/main">
            <a:off x="1571625"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15"/>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Queue number · status · patients ahead</a:t>
            </a:r>
          </a:p>
        </p:txBody>
      </p:sp>
      <p:sp>
        <p:nvSpPr>
          <p:cNvPr id="26" name="">
            <a:extLst xmlns:a="http://schemas.openxmlformats.org/drawingml/2006/main">
              <a:ext uri="{FF2B5EF4-FFF2-40B4-BE49-F238E27FC236}">
                <a16:creationId xmlns:a16="http://schemas.microsoft.com/office/drawing/2014/main" id="{6D7DEBBB-E39A-450F-9E97-7AA6C55933A5}"/>
              </a:ext>
            </a:extLst>
          </p:cNvPr>
          <p:cNvSpPr>
            <a:spLocks xmlns:a="http://schemas.openxmlformats.org/drawingml/2006/main" noGrp="1"/>
          </p:cNvSpPr>
          <p:nvPr/>
        </p:nvSpPr>
        <p:spPr>
          <a:xfrm xmlns:a="http://schemas.openxmlformats.org/drawingml/2006/main">
            <a:off x="4762500" y="463867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6A085"/>
                </a:solidFill>
                <a:latin typeface="Helvetica Neue"/>
                <a:ea typeface="Helvetica Neue"/>
                <a:cs typeface="Helvetica Neue"/>
              </a:defRPr>
            </a:pPr>
            <a:r>
              <a:rPr sz="1950" b="1">
                <a:solidFill>
                  <a:srgbClr val="16A085"/>
                </a:solidFill>
                <a:latin typeface="Helvetica Neue"/>
                <a:ea typeface="Helvetica Neue"/>
                <a:cs typeface="Helvetica Neue"/>
              </a:rPr>
              <a:t>Live shared state</a:t>
            </a:r>
          </a:p>
        </p:txBody>
      </p:sp>
      <p:sp>
        <p:nvSpPr>
          <p:cNvPr id="27" name="">
            <a:extLst xmlns:a="http://schemas.openxmlformats.org/drawingml/2006/main">
              <a:ext uri="{FF2B5EF4-FFF2-40B4-BE49-F238E27FC236}">
                <a16:creationId xmlns:a16="http://schemas.microsoft.com/office/drawing/2014/main" id="{5702491B-F6D7-4C37-AC0D-1CCB8E5E5B50}"/>
              </a:ext>
            </a:extLst>
          </p:cNvPr>
          <p:cNvSpPr>
            <a:spLocks xmlns:a="http://schemas.openxmlformats.org/drawingml/2006/main" noGrp="1"/>
          </p:cNvSpPr>
          <p:nvPr/>
        </p:nvSpPr>
        <p:spPr>
          <a:xfrm xmlns:a="http://schemas.openxmlformats.org/drawingml/2006/main">
            <a:off x="809625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Staff view</a:t>
            </a:r>
          </a:p>
        </p:txBody>
      </p:sp>
      <p:sp>
        <p:nvSpPr>
          <p:cNvPr id="28" name="">
            <a:extLst xmlns:a="http://schemas.openxmlformats.org/drawingml/2006/main">
              <a:ext uri="{FF2B5EF4-FFF2-40B4-BE49-F238E27FC236}">
                <a16:creationId xmlns:a16="http://schemas.microsoft.com/office/drawing/2014/main" id="{C7A08DA1-DA65-4EBD-8CA8-FC579C4DA96A}"/>
              </a:ext>
            </a:extLst>
          </p:cNvPr>
          <p:cNvSpPr>
            <a:spLocks xmlns:a="http://schemas.openxmlformats.org/drawingml/2006/main" noGrp="1"/>
          </p:cNvSpPr>
          <p:nvPr/>
        </p:nvSpPr>
        <p:spPr>
          <a:xfrm xmlns:a="http://schemas.openxmlformats.org/drawingml/2006/main">
            <a:off x="7810500" y="4914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Waiting list · current patient · call next</a:t>
            </a:r>
          </a:p>
        </p:txBody>
      </p:sp>
    </p:spTree>
    <p:extLst>
      <p:ext uri="{BB962C8B-B14F-4D97-AF65-F5344CB8AC3E}">
        <p14:creationId xmlns:p14="http://schemas.microsoft.com/office/powerpoint/2010/main" val="576084523"/>
      </p:ext>
    </p:extLst>
  </p:cSld>
</p:sld>
</file>

<file path=ppt/slides/slide4.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B0B836B-9464-4B71-B75D-BEA33E2C14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23D78EE8-2E3E-4CC2-96C5-AF1AC47E52D0}"/>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7CED561-CCB0-4089-984D-BADE61E085B0}"/>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Technology of interest</a:t>
            </a:r>
          </a:p>
        </p:txBody>
      </p:sp>
      <p:sp>
        <p:nvSpPr>
          <p:cNvPr id="4" name="">
            <a:extLst xmlns:a="http://schemas.openxmlformats.org/drawingml/2006/main">
              <a:ext uri="{FF2B5EF4-FFF2-40B4-BE49-F238E27FC236}">
                <a16:creationId xmlns:a16="http://schemas.microsoft.com/office/drawing/2014/main" id="{C898DDFA-CC6B-443B-B099-26776CCAA019}"/>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manages a persistent real-time channel between browser and server</a:t>
            </a:r>
          </a:p>
        </p:txBody>
      </p:sp>
      <p:sp>
        <p:nvSpPr>
          <p:cNvPr id="5" name="">
            <a:extLst xmlns:a="http://schemas.openxmlformats.org/drawingml/2006/main">
              <a:ext uri="{FF2B5EF4-FFF2-40B4-BE49-F238E27FC236}">
                <a16:creationId xmlns:a16="http://schemas.microsoft.com/office/drawing/2014/main" id="{A69A8A32-EF98-4161-B407-799906A2D9B1}"/>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46989D1D-6B30-465A-8F52-EAB0A63691A4}"/>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7001CFA8-481C-4E06-960C-334A91FA3AF1}"/>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4</a:t>
            </a:r>
          </a:p>
        </p:txBody>
      </p:sp>
      <p:sp>
        <p:nvSpPr>
          <p:cNvPr id="8" name="">
            <a:extLst xmlns:a="http://schemas.openxmlformats.org/drawingml/2006/main">
              <a:ext uri="{FF2B5EF4-FFF2-40B4-BE49-F238E27FC236}">
                <a16:creationId xmlns:a16="http://schemas.microsoft.com/office/drawing/2014/main" id="{6CF65CE6-E56D-495F-BC46-919428B46F54}"/>
              </a:ext>
            </a:extLst>
          </p:cNvPr>
          <p:cNvSpPr>
            <a:spLocks xmlns:a="http://schemas.openxmlformats.org/drawingml/2006/main" noGrp="1"/>
          </p:cNvSpPr>
          <p:nvPr/>
        </p:nvSpPr>
        <p:spPr>
          <a:xfrm xmlns:a="http://schemas.openxmlformats.org/drawingml/2006/main">
            <a:off x="704850" y="1952625"/>
            <a:ext cx="4762500" cy="3333750"/>
          </a:xfrm>
          <a:prstGeom xmlns:a="http://schemas.openxmlformats.org/drawingml/2006/main" prst="roundRect">
            <a:avLst>
              <a:gd name="adj" fmla="val 6286"/>
            </a:avLst>
          </a:prstGeom>
          <a:solidFill xmlns:a="http://schemas.openxmlformats.org/drawingml/2006/main">
            <a:srgbClr val="E5F0F8"/>
          </a:solidFill>
          <a:ln xmlns:a="http://schemas.openxmlformats.org/drawingml/2006/main" w="14288">
            <a:solidFill>
              <a:srgbClr val="99BCD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457B691-054D-4A03-A7A6-95E7D841E58B}"/>
              </a:ext>
            </a:extLst>
          </p:cNvPr>
          <p:cNvSpPr>
            <a:spLocks xmlns:a="http://schemas.openxmlformats.org/drawingml/2006/main" noGrp="1"/>
          </p:cNvSpPr>
          <p:nvPr/>
        </p:nvSpPr>
        <p:spPr>
          <a:xfrm xmlns:a="http://schemas.openxmlformats.org/drawingml/2006/main">
            <a:off x="9906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2E6F95"/>
                </a:solidFill>
                <a:latin typeface="Helvetica Neue"/>
                <a:ea typeface="Helvetica Neue"/>
                <a:cs typeface="Helvetica Neue"/>
              </a:defRPr>
            </a:pPr>
            <a:r>
              <a:rPr sz="2250" b="1">
                <a:solidFill>
                  <a:srgbClr val="2E6F95"/>
                </a:solidFill>
                <a:latin typeface="Helvetica Neue"/>
                <a:ea typeface="Helvetica Neue"/>
                <a:cs typeface="Helvetica Neue"/>
              </a:rPr>
              <a:t>WebSocket</a:t>
            </a:r>
          </a:p>
        </p:txBody>
      </p:sp>
      <p:sp>
        <p:nvSpPr>
          <p:cNvPr id="10" name="">
            <a:extLst xmlns:a="http://schemas.openxmlformats.org/drawingml/2006/main">
              <a:ext uri="{FF2B5EF4-FFF2-40B4-BE49-F238E27FC236}">
                <a16:creationId xmlns:a16="http://schemas.microsoft.com/office/drawing/2014/main" id="{AE2C827F-DB63-4060-8376-975C47052AD7}"/>
              </a:ext>
            </a:extLst>
          </p:cNvPr>
          <p:cNvSpPr>
            <a:spLocks xmlns:a="http://schemas.openxmlformats.org/drawingml/2006/main" noGrp="1"/>
          </p:cNvSpPr>
          <p:nvPr/>
        </p:nvSpPr>
        <p:spPr>
          <a:xfrm xmlns:a="http://schemas.openxmlformats.org/drawingml/2006/main">
            <a:off x="10953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 persistent, full-duplex connection</a:t>
            </a:r>
          </a:p>
        </p:txBody>
      </p:sp>
      <p:sp>
        <p:nvSpPr>
          <p:cNvPr id="11" name="">
            <a:extLst xmlns:a="http://schemas.openxmlformats.org/drawingml/2006/main">
              <a:ext uri="{FF2B5EF4-FFF2-40B4-BE49-F238E27FC236}">
                <a16:creationId xmlns:a16="http://schemas.microsoft.com/office/drawing/2014/main" id="{ED3A1CB2-9279-4CA6-9B17-A48E729E2F56}"/>
              </a:ext>
            </a:extLst>
          </p:cNvPr>
          <p:cNvSpPr>
            <a:spLocks xmlns:a="http://schemas.openxmlformats.org/drawingml/2006/main" noGrp="1"/>
          </p:cNvSpPr>
          <p:nvPr/>
        </p:nvSpPr>
        <p:spPr>
          <a:xfrm xmlns:a="http://schemas.openxmlformats.org/drawingml/2006/main">
            <a:off x="1428750" y="3619500"/>
            <a:ext cx="3333750" cy="0"/>
          </a:xfrm>
          <a:prstGeom xmlns:a="http://schemas.openxmlformats.org/drawingml/2006/main" prst="line">
            <a:avLst/>
          </a:prstGeom>
          <a:noFill xmlns:a="http://schemas.openxmlformats.org/drawingml/2006/main"/>
          <a:ln xmlns:a="http://schemas.openxmlformats.org/drawingml/2006/main" w="47625">
            <a:solidFill>
              <a:srgbClr val="2E6F95"/>
            </a:solidFill>
            <a:prstDash val="solid"/>
          </a:ln>
        </p:spPr>
      </p:sp>
      <p:sp>
        <p:nvSpPr>
          <p:cNvPr id="12" name="">
            <a:extLst xmlns:a="http://schemas.openxmlformats.org/drawingml/2006/main">
              <a:ext uri="{FF2B5EF4-FFF2-40B4-BE49-F238E27FC236}">
                <a16:creationId xmlns:a16="http://schemas.microsoft.com/office/drawing/2014/main" id="{106EE6BB-37C2-4B24-8339-D1D89493DA9A}"/>
              </a:ext>
            </a:extLst>
          </p:cNvPr>
          <p:cNvSpPr>
            <a:spLocks xmlns:a="http://schemas.openxmlformats.org/drawingml/2006/main" noGrp="1"/>
          </p:cNvSpPr>
          <p:nvPr/>
        </p:nvSpPr>
        <p:spPr>
          <a:xfrm xmlns:a="http://schemas.openxmlformats.org/drawingml/2006/main">
            <a:off x="1095375" y="3914775"/>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6736F"/>
                </a:solidFill>
                <a:latin typeface="Helvetica Neue"/>
                <a:ea typeface="Helvetica Neue"/>
                <a:cs typeface="Helvetica Neue"/>
              </a:defRPr>
            </a:pPr>
            <a:r>
              <a:rPr sz="1425" b="0">
                <a:solidFill>
                  <a:srgbClr val="66736F"/>
                </a:solidFill>
                <a:latin typeface="Helvetica Neue"/>
                <a:ea typeface="Helvetica Neue"/>
                <a:cs typeface="Helvetica Neue"/>
              </a:rPr>
              <a:t>Browser and server can exchange messages without creating a new HTTP request for every update.</a:t>
            </a:r>
          </a:p>
        </p:txBody>
      </p:sp>
      <p:sp>
        <p:nvSpPr>
          <p:cNvPr id="13" name="">
            <a:extLst xmlns:a="http://schemas.openxmlformats.org/drawingml/2006/main">
              <a:ext uri="{FF2B5EF4-FFF2-40B4-BE49-F238E27FC236}">
                <a16:creationId xmlns:a16="http://schemas.microsoft.com/office/drawing/2014/main" id="{8BCD552A-DF4E-45E3-9EDF-742123CBCEF2}"/>
              </a:ext>
            </a:extLst>
          </p:cNvPr>
          <p:cNvSpPr>
            <a:spLocks xmlns:a="http://schemas.openxmlformats.org/drawingml/2006/main" noGrp="1"/>
          </p:cNvSpPr>
          <p:nvPr/>
        </p:nvSpPr>
        <p:spPr>
          <a:xfrm xmlns:a="http://schemas.openxmlformats.org/drawingml/2006/main">
            <a:off x="6724650" y="1952625"/>
            <a:ext cx="4762500" cy="3333750"/>
          </a:xfrm>
          <a:prstGeom xmlns:a="http://schemas.openxmlformats.org/drawingml/2006/main" prst="roundRect">
            <a:avLst>
              <a:gd name="adj" fmla="val 6286"/>
            </a:avLst>
          </a:prstGeom>
          <a:solidFill xmlns:a="http://schemas.openxmlformats.org/drawingml/2006/main">
            <a:srgbClr val="DCF4EC"/>
          </a:solidFill>
          <a:ln xmlns:a="http://schemas.openxmlformats.org/drawingml/2006/main" w="14288">
            <a:solidFill>
              <a:srgbClr val="86CBB8"/>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184263E-DF15-4F24-8680-2C28A755C66A}"/>
              </a:ext>
            </a:extLst>
          </p:cNvPr>
          <p:cNvSpPr>
            <a:spLocks xmlns:a="http://schemas.openxmlformats.org/drawingml/2006/main" noGrp="1"/>
          </p:cNvSpPr>
          <p:nvPr/>
        </p:nvSpPr>
        <p:spPr>
          <a:xfrm xmlns:a="http://schemas.openxmlformats.org/drawingml/2006/main">
            <a:off x="70104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6A085"/>
                </a:solidFill>
                <a:latin typeface="Helvetica Neue"/>
                <a:ea typeface="Helvetica Neue"/>
                <a:cs typeface="Helvetica Neue"/>
              </a:defRPr>
            </a:pPr>
            <a:r>
              <a:rPr sz="2250" b="1">
                <a:solidFill>
                  <a:srgbClr val="16A085"/>
                </a:solidFill>
                <a:latin typeface="Helvetica Neue"/>
                <a:ea typeface="Helvetica Neue"/>
                <a:cs typeface="Helvetica Neue"/>
              </a:rPr>
              <a:t>Socket.IO</a:t>
            </a:r>
          </a:p>
        </p:txBody>
      </p:sp>
      <p:sp>
        <p:nvSpPr>
          <p:cNvPr id="15" name="">
            <a:extLst xmlns:a="http://schemas.openxmlformats.org/drawingml/2006/main">
              <a:ext uri="{FF2B5EF4-FFF2-40B4-BE49-F238E27FC236}">
                <a16:creationId xmlns:a16="http://schemas.microsoft.com/office/drawing/2014/main" id="{34C5F863-1A4C-45E5-B725-0997C82152D7}"/>
              </a:ext>
            </a:extLst>
          </p:cNvPr>
          <p:cNvSpPr>
            <a:spLocks xmlns:a="http://schemas.openxmlformats.org/drawingml/2006/main" noGrp="1"/>
          </p:cNvSpPr>
          <p:nvPr/>
        </p:nvSpPr>
        <p:spPr>
          <a:xfrm xmlns:a="http://schemas.openxmlformats.org/drawingml/2006/main">
            <a:off x="71151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The real-time library used by PawEver</a:t>
            </a:r>
          </a:p>
        </p:txBody>
      </p:sp>
      <p:sp>
        <p:nvSpPr>
          <p:cNvPr id="16" name="">
            <a:extLst xmlns:a="http://schemas.openxmlformats.org/drawingml/2006/main">
              <a:ext uri="{FF2B5EF4-FFF2-40B4-BE49-F238E27FC236}">
                <a16:creationId xmlns:a16="http://schemas.microsoft.com/office/drawing/2014/main" id="{2E9266BA-E134-4BC3-BEB8-DC23250E9620}"/>
              </a:ext>
            </a:extLst>
          </p:cNvPr>
          <p:cNvSpPr>
            <a:spLocks xmlns:a="http://schemas.openxmlformats.org/drawingml/2006/main" noGrp="1"/>
          </p:cNvSpPr>
          <p:nvPr/>
        </p:nvSpPr>
        <p:spPr>
          <a:xfrm xmlns:a="http://schemas.openxmlformats.org/drawingml/2006/main">
            <a:off x="7524750" y="3476625"/>
            <a:ext cx="319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Named events</a:t>
            </a:r>
          </a:p>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Automatic reconnection</a:t>
            </a:r>
          </a:p>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Rooms for broadcasting</a:t>
            </a:r>
          </a:p>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Polling fallback</a:t>
            </a:r>
          </a:p>
        </p:txBody>
      </p:sp>
      <p:sp>
        <p:nvSpPr>
          <p:cNvPr id="17" name="">
            <a:extLst xmlns:a="http://schemas.openxmlformats.org/drawingml/2006/main">
              <a:ext uri="{FF2B5EF4-FFF2-40B4-BE49-F238E27FC236}">
                <a16:creationId xmlns:a16="http://schemas.microsoft.com/office/drawing/2014/main" id="{DF3E50BC-A95F-49EA-8991-0D444EC2DE3B}"/>
              </a:ext>
            </a:extLst>
          </p:cNvPr>
          <p:cNvSpPr>
            <a:spLocks xmlns:a="http://schemas.openxmlformats.org/drawingml/2006/main" noGrp="1"/>
          </p:cNvSpPr>
          <p:nvPr/>
        </p:nvSpPr>
        <p:spPr>
          <a:xfrm xmlns:a="http://schemas.openxmlformats.org/drawingml/2006/main">
            <a:off x="5657850" y="3314700"/>
            <a:ext cx="876300" cy="304800"/>
          </a:xfrm>
          <a:prstGeom xmlns:a="http://schemas.openxmlformats.org/drawingml/2006/main" prst="rightArrow">
            <a:avLst/>
          </a:prstGeom>
          <a:solidFill xmlns:a="http://schemas.openxmlformats.org/drawingml/2006/main">
            <a:srgbClr val="C98A3D"/>
          </a:solidFill>
          <a:ln xmlns:a="http://schemas.openxmlformats.org/drawingml/2006/main" w="0">
            <a:solidFill>
              <a:srgbClr val="C98A3D"/>
            </a:solidFill>
          </a:ln>
        </p:spPr>
      </p:sp>
      <p:sp>
        <p:nvSpPr>
          <p:cNvPr id="18" name="">
            <a:extLst xmlns:a="http://schemas.openxmlformats.org/drawingml/2006/main">
              <a:ext uri="{FF2B5EF4-FFF2-40B4-BE49-F238E27FC236}">
                <a16:creationId xmlns:a16="http://schemas.microsoft.com/office/drawing/2014/main" id="{DEA394E1-02FA-4854-B555-6FC67E6A9016}"/>
              </a:ext>
            </a:extLst>
          </p:cNvPr>
          <p:cNvSpPr>
            <a:spLocks xmlns:a="http://schemas.openxmlformats.org/drawingml/2006/main" noGrp="1"/>
          </p:cNvSpPr>
          <p:nvPr/>
        </p:nvSpPr>
        <p:spPr>
          <a:xfrm xmlns:a="http://schemas.openxmlformats.org/drawingml/2006/main">
            <a:off x="5800725" y="2952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1">
                <a:solidFill>
                  <a:srgbClr val="C98A3D"/>
                </a:solidFill>
                <a:latin typeface="Helvetica Neue"/>
                <a:ea typeface="Helvetica Neue"/>
                <a:cs typeface="Helvetica Neue"/>
              </a:defRPr>
            </a:pPr>
            <a:r>
              <a:rPr sz="1200" b="1">
                <a:solidFill>
                  <a:srgbClr val="C98A3D"/>
                </a:solidFill>
                <a:latin typeface="Helvetica Neue"/>
                <a:ea typeface="Helvetica Neue"/>
                <a:cs typeface="Helvetica Neue"/>
              </a:rPr>
              <a:t>uses</a:t>
            </a:r>
          </a:p>
        </p:txBody>
      </p:sp>
    </p:spTree>
    <p:extLst>
      <p:ext uri="{BB962C8B-B14F-4D97-AF65-F5344CB8AC3E}">
        <p14:creationId xmlns:p14="http://schemas.microsoft.com/office/powerpoint/2010/main" val="851440401"/>
      </p:ext>
    </p:extLst>
  </p:cSld>
</p:sld>
</file>

<file path=ppt/slides/slide5.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6E66100-196E-4CF5-B8D7-A440062DB01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843C6162-CD6E-4660-84BC-3F5DEADDF207}"/>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F6561702-2202-49CD-9697-DEC36938FAAB}"/>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Queue update flow</a:t>
            </a:r>
          </a:p>
        </p:txBody>
      </p:sp>
      <p:sp>
        <p:nvSpPr>
          <p:cNvPr id="4" name="">
            <a:extLst xmlns:a="http://schemas.openxmlformats.org/drawingml/2006/main">
              <a:ext uri="{FF2B5EF4-FFF2-40B4-BE49-F238E27FC236}">
                <a16:creationId xmlns:a16="http://schemas.microsoft.com/office/drawing/2014/main" id="{AA1C2140-DB4B-4A33-B99D-F11B7ABCBC5B}"/>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database commits the change before Socket.IO announces it</a:t>
            </a:r>
          </a:p>
        </p:txBody>
      </p:sp>
      <p:sp>
        <p:nvSpPr>
          <p:cNvPr id="5" name="">
            <a:extLst xmlns:a="http://schemas.openxmlformats.org/drawingml/2006/main">
              <a:ext uri="{FF2B5EF4-FFF2-40B4-BE49-F238E27FC236}">
                <a16:creationId xmlns:a16="http://schemas.microsoft.com/office/drawing/2014/main" id="{312A655B-27A6-4619-B387-D9687ACFE707}"/>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52377145-ABA0-4FF9-849B-A1319F921458}"/>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062F4152-ABB1-4BBD-9022-50AB0A32596B}"/>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5</a:t>
            </a:r>
          </a:p>
        </p:txBody>
      </p:sp>
      <p:sp>
        <p:nvSpPr>
          <p:cNvPr id="8" name="">
            <a:extLst xmlns:a="http://schemas.openxmlformats.org/drawingml/2006/main">
              <a:ext uri="{FF2B5EF4-FFF2-40B4-BE49-F238E27FC236}">
                <a16:creationId xmlns:a16="http://schemas.microsoft.com/office/drawing/2014/main" id="{714500B6-C87A-4758-BE4B-DFCBCE4193B3}"/>
              </a:ext>
            </a:extLst>
          </p:cNvPr>
          <p:cNvSpPr>
            <a:spLocks xmlns:a="http://schemas.openxmlformats.org/drawingml/2006/main" noGrp="1"/>
          </p:cNvSpPr>
          <p:nvPr/>
        </p:nvSpPr>
        <p:spPr>
          <a:xfrm xmlns:a="http://schemas.openxmlformats.org/drawingml/2006/main">
            <a:off x="666750" y="1952625"/>
            <a:ext cx="1809750" cy="685800"/>
          </a:xfrm>
          <a:prstGeom xmlns:a="http://schemas.openxmlformats.org/drawingml/2006/main" prst="roundRect">
            <a:avLst>
              <a:gd name="adj" fmla="val 20833"/>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2E979B88-5F4D-4FEC-B14A-DF0BE865270B}"/>
              </a:ext>
            </a:extLst>
          </p:cNvPr>
          <p:cNvSpPr>
            <a:spLocks xmlns:a="http://schemas.openxmlformats.org/drawingml/2006/main" noGrp="1"/>
          </p:cNvSpPr>
          <p:nvPr/>
        </p:nvSpPr>
        <p:spPr>
          <a:xfrm xmlns:a="http://schemas.openxmlformats.org/drawingml/2006/main">
            <a:off x="76200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Owner or staff</a:t>
            </a:r>
          </a:p>
        </p:txBody>
      </p:sp>
      <p:sp>
        <p:nvSpPr>
          <p:cNvPr id="10" name="">
            <a:extLst xmlns:a="http://schemas.openxmlformats.org/drawingml/2006/main">
              <a:ext uri="{FF2B5EF4-FFF2-40B4-BE49-F238E27FC236}">
                <a16:creationId xmlns:a16="http://schemas.microsoft.com/office/drawing/2014/main" id="{C49000B8-B4E3-4B22-B527-9C68138E83F4}"/>
              </a:ext>
            </a:extLst>
          </p:cNvPr>
          <p:cNvSpPr>
            <a:spLocks xmlns:a="http://schemas.openxmlformats.org/drawingml/2006/main" noGrp="1"/>
          </p:cNvSpPr>
          <p:nvPr/>
        </p:nvSpPr>
        <p:spPr>
          <a:xfrm xmlns:a="http://schemas.openxmlformats.org/drawingml/2006/main">
            <a:off x="251460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1" name="">
            <a:extLst xmlns:a="http://schemas.openxmlformats.org/drawingml/2006/main">
              <a:ext uri="{FF2B5EF4-FFF2-40B4-BE49-F238E27FC236}">
                <a16:creationId xmlns:a16="http://schemas.microsoft.com/office/drawing/2014/main" id="{EEA38F77-4D2F-4496-A5AB-FB7914B18BB4}"/>
              </a:ext>
            </a:extLst>
          </p:cNvPr>
          <p:cNvSpPr>
            <a:spLocks xmlns:a="http://schemas.openxmlformats.org/drawingml/2006/main" noGrp="1"/>
          </p:cNvSpPr>
          <p:nvPr/>
        </p:nvSpPr>
        <p:spPr>
          <a:xfrm xmlns:a="http://schemas.openxmlformats.org/drawingml/2006/main">
            <a:off x="2857500" y="1952625"/>
            <a:ext cx="1809750" cy="685800"/>
          </a:xfrm>
          <a:prstGeom xmlns:a="http://schemas.openxmlformats.org/drawingml/2006/main" prst="roundRect">
            <a:avLst>
              <a:gd name="adj" fmla="val 20833"/>
            </a:avLst>
          </a:prstGeom>
          <a:solidFill xmlns:a="http://schemas.openxmlformats.org/drawingml/2006/main">
            <a:srgbClr val="E5F0F8"/>
          </a:solidFill>
          <a:ln xmlns:a="http://schemas.openxmlformats.org/drawingml/2006/main" w="14288">
            <a:solidFill>
              <a:srgbClr val="2E6F95"/>
            </a:solidFill>
            <a:prstDash val="solid"/>
          </a:ln>
        </p:spPr>
      </p:sp>
      <p:sp>
        <p:nvSpPr>
          <p:cNvPr id="12" name="">
            <a:extLst xmlns:a="http://schemas.openxmlformats.org/drawingml/2006/main">
              <a:ext uri="{FF2B5EF4-FFF2-40B4-BE49-F238E27FC236}">
                <a16:creationId xmlns:a16="http://schemas.microsoft.com/office/drawing/2014/main" id="{0AEF4E20-D93A-4973-BAC1-D27C8E8063BE}"/>
              </a:ext>
            </a:extLst>
          </p:cNvPr>
          <p:cNvSpPr>
            <a:spLocks xmlns:a="http://schemas.openxmlformats.org/drawingml/2006/main" noGrp="1"/>
          </p:cNvSpPr>
          <p:nvPr/>
        </p:nvSpPr>
        <p:spPr>
          <a:xfrm xmlns:a="http://schemas.openxmlformats.org/drawingml/2006/main">
            <a:off x="2952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REST endpoint</a:t>
            </a:r>
          </a:p>
        </p:txBody>
      </p:sp>
      <p:sp>
        <p:nvSpPr>
          <p:cNvPr id="13" name="">
            <a:extLst xmlns:a="http://schemas.openxmlformats.org/drawingml/2006/main">
              <a:ext uri="{FF2B5EF4-FFF2-40B4-BE49-F238E27FC236}">
                <a16:creationId xmlns:a16="http://schemas.microsoft.com/office/drawing/2014/main" id="{7D04B02B-4431-4C82-A3C3-E32B01F79415}"/>
              </a:ext>
            </a:extLst>
          </p:cNvPr>
          <p:cNvSpPr>
            <a:spLocks xmlns:a="http://schemas.openxmlformats.org/drawingml/2006/main" noGrp="1"/>
          </p:cNvSpPr>
          <p:nvPr/>
        </p:nvSpPr>
        <p:spPr>
          <a:xfrm xmlns:a="http://schemas.openxmlformats.org/drawingml/2006/main">
            <a:off x="4705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4" name="">
            <a:extLst xmlns:a="http://schemas.openxmlformats.org/drawingml/2006/main">
              <a:ext uri="{FF2B5EF4-FFF2-40B4-BE49-F238E27FC236}">
                <a16:creationId xmlns:a16="http://schemas.microsoft.com/office/drawing/2014/main" id="{356FF588-F88A-4F24-8287-20BA7EE4829D}"/>
              </a:ext>
            </a:extLst>
          </p:cNvPr>
          <p:cNvSpPr>
            <a:spLocks xmlns:a="http://schemas.openxmlformats.org/drawingml/2006/main" noGrp="1"/>
          </p:cNvSpPr>
          <p:nvPr/>
        </p:nvSpPr>
        <p:spPr>
          <a:xfrm xmlns:a="http://schemas.openxmlformats.org/drawingml/2006/main">
            <a:off x="5095875" y="1952625"/>
            <a:ext cx="1809750" cy="685800"/>
          </a:xfrm>
          <a:prstGeom xmlns:a="http://schemas.openxmlformats.org/drawingml/2006/main" prst="roundRect">
            <a:avLst>
              <a:gd name="adj" fmla="val 20833"/>
            </a:avLst>
          </a:prstGeom>
          <a:solidFill xmlns:a="http://schemas.openxmlformats.org/drawingml/2006/main">
            <a:srgbClr val="DCF4EC"/>
          </a:solidFill>
          <a:ln xmlns:a="http://schemas.openxmlformats.org/drawingml/2006/main" w="14288">
            <a:solidFill>
              <a:srgbClr val="16A085"/>
            </a:solidFill>
            <a:prstDash val="solid"/>
          </a:ln>
        </p:spPr>
      </p:sp>
      <p:sp>
        <p:nvSpPr>
          <p:cNvPr id="15" name="">
            <a:extLst xmlns:a="http://schemas.openxmlformats.org/drawingml/2006/main">
              <a:ext uri="{FF2B5EF4-FFF2-40B4-BE49-F238E27FC236}">
                <a16:creationId xmlns:a16="http://schemas.microsoft.com/office/drawing/2014/main" id="{D195D950-3715-4D95-A2BE-4CB648E18156}"/>
              </a:ext>
            </a:extLst>
          </p:cNvPr>
          <p:cNvSpPr>
            <a:spLocks xmlns:a="http://schemas.openxmlformats.org/drawingml/2006/main" noGrp="1"/>
          </p:cNvSpPr>
          <p:nvPr/>
        </p:nvSpPr>
        <p:spPr>
          <a:xfrm xmlns:a="http://schemas.openxmlformats.org/drawingml/2006/main">
            <a:off x="5191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64F54EB4-6BC8-4F75-AB6E-6AEF890C3D6C}"/>
              </a:ext>
            </a:extLst>
          </p:cNvPr>
          <p:cNvSpPr>
            <a:spLocks xmlns:a="http://schemas.openxmlformats.org/drawingml/2006/main" noGrp="1"/>
          </p:cNvSpPr>
          <p:nvPr/>
        </p:nvSpPr>
        <p:spPr>
          <a:xfrm xmlns:a="http://schemas.openxmlformats.org/drawingml/2006/main">
            <a:off x="6943725"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7" name="">
            <a:extLst xmlns:a="http://schemas.openxmlformats.org/drawingml/2006/main">
              <a:ext uri="{FF2B5EF4-FFF2-40B4-BE49-F238E27FC236}">
                <a16:creationId xmlns:a16="http://schemas.microsoft.com/office/drawing/2014/main" id="{5DDF542F-DBFA-49B6-B055-D3E9D1C62688}"/>
              </a:ext>
            </a:extLst>
          </p:cNvPr>
          <p:cNvSpPr>
            <a:spLocks xmlns:a="http://schemas.openxmlformats.org/drawingml/2006/main" noGrp="1"/>
          </p:cNvSpPr>
          <p:nvPr/>
        </p:nvSpPr>
        <p:spPr>
          <a:xfrm xmlns:a="http://schemas.openxmlformats.org/drawingml/2006/main">
            <a:off x="7429500" y="1952625"/>
            <a:ext cx="1809750" cy="6858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8" name="">
            <a:extLst xmlns:a="http://schemas.openxmlformats.org/drawingml/2006/main">
              <a:ext uri="{FF2B5EF4-FFF2-40B4-BE49-F238E27FC236}">
                <a16:creationId xmlns:a16="http://schemas.microsoft.com/office/drawing/2014/main" id="{6F254445-8CC3-418C-BE5D-3B794631F0F8}"/>
              </a:ext>
            </a:extLst>
          </p:cNvPr>
          <p:cNvSpPr>
            <a:spLocks xmlns:a="http://schemas.openxmlformats.org/drawingml/2006/main" noGrp="1"/>
          </p:cNvSpPr>
          <p:nvPr/>
        </p:nvSpPr>
        <p:spPr>
          <a:xfrm xmlns:a="http://schemas.openxmlformats.org/drawingml/2006/main">
            <a:off x="7524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83DC232A-594B-4C97-A40C-DE21024D6B64}"/>
              </a:ext>
            </a:extLst>
          </p:cNvPr>
          <p:cNvSpPr>
            <a:spLocks xmlns:a="http://schemas.openxmlformats.org/drawingml/2006/main" noGrp="1"/>
          </p:cNvSpPr>
          <p:nvPr/>
        </p:nvSpPr>
        <p:spPr>
          <a:xfrm xmlns:a="http://schemas.openxmlformats.org/drawingml/2006/main">
            <a:off x="9277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C5D45A1A-608B-47DF-A4FB-D272DFED261F}"/>
              </a:ext>
            </a:extLst>
          </p:cNvPr>
          <p:cNvSpPr>
            <a:spLocks xmlns:a="http://schemas.openxmlformats.org/drawingml/2006/main" noGrp="1"/>
          </p:cNvSpPr>
          <p:nvPr/>
        </p:nvSpPr>
        <p:spPr>
          <a:xfrm xmlns:a="http://schemas.openxmlformats.org/drawingml/2006/main">
            <a:off x="9667875" y="1952625"/>
            <a:ext cx="1809750" cy="685800"/>
          </a:xfrm>
          <a:prstGeom xmlns:a="http://schemas.openxmlformats.org/drawingml/2006/main" prst="roundRect">
            <a:avLst>
              <a:gd name="adj" fmla="val 20833"/>
            </a:avLst>
          </a:prstGeom>
          <a:solidFill xmlns:a="http://schemas.openxmlformats.org/drawingml/2006/main">
            <a:srgbClr val="DDF4F5"/>
          </a:solidFill>
          <a:ln xmlns:a="http://schemas.openxmlformats.org/drawingml/2006/main" w="14288">
            <a:solidFill>
              <a:srgbClr val="4FA7A8"/>
            </a:solidFill>
            <a:prstDash val="solid"/>
          </a:ln>
        </p:spPr>
      </p:sp>
      <p:sp>
        <p:nvSpPr>
          <p:cNvPr id="21" name="">
            <a:extLst xmlns:a="http://schemas.openxmlformats.org/drawingml/2006/main">
              <a:ext uri="{FF2B5EF4-FFF2-40B4-BE49-F238E27FC236}">
                <a16:creationId xmlns:a16="http://schemas.microsoft.com/office/drawing/2014/main" id="{4837DA1B-8509-46C9-9503-B5D056BA008D}"/>
              </a:ext>
            </a:extLst>
          </p:cNvPr>
          <p:cNvSpPr>
            <a:spLocks xmlns:a="http://schemas.openxmlformats.org/drawingml/2006/main" noGrp="1"/>
          </p:cNvSpPr>
          <p:nvPr/>
        </p:nvSpPr>
        <p:spPr>
          <a:xfrm xmlns:a="http://schemas.openxmlformats.org/drawingml/2006/main">
            <a:off x="9763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Queue pages</a:t>
            </a:r>
          </a:p>
        </p:txBody>
      </p:sp>
      <p:sp>
        <p:nvSpPr>
          <p:cNvPr id="22" name="">
            <a:extLst xmlns:a="http://schemas.openxmlformats.org/drawingml/2006/main">
              <a:ext uri="{FF2B5EF4-FFF2-40B4-BE49-F238E27FC236}">
                <a16:creationId xmlns:a16="http://schemas.microsoft.com/office/drawing/2014/main" id="{611F54E0-EBC2-4911-A1E6-ACD756645BD8}"/>
              </a:ext>
            </a:extLst>
          </p:cNvPr>
          <p:cNvSpPr>
            <a:spLocks xmlns:a="http://schemas.openxmlformats.org/drawingml/2006/main" noGrp="1"/>
          </p:cNvSpPr>
          <p:nvPr/>
        </p:nvSpPr>
        <p:spPr>
          <a:xfrm xmlns:a="http://schemas.openxmlformats.org/drawingml/2006/main">
            <a:off x="714375" y="30956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5EB1C005-2E3D-4262-A1FA-48B4CAC69CEC}"/>
              </a:ext>
            </a:extLst>
          </p:cNvPr>
          <p:cNvSpPr>
            <a:spLocks xmlns:a="http://schemas.openxmlformats.org/drawingml/2006/main" noGrp="1"/>
          </p:cNvSpPr>
          <p:nvPr/>
        </p:nvSpPr>
        <p:spPr>
          <a:xfrm xmlns:a="http://schemas.openxmlformats.org/drawingml/2006/main">
            <a:off x="1238250" y="30765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Check in, call next, or cancel</a:t>
            </a:r>
          </a:p>
        </p:txBody>
      </p:sp>
      <p:sp>
        <p:nvSpPr>
          <p:cNvPr id="24" name="">
            <a:extLst xmlns:a="http://schemas.openxmlformats.org/drawingml/2006/main">
              <a:ext uri="{FF2B5EF4-FFF2-40B4-BE49-F238E27FC236}">
                <a16:creationId xmlns:a16="http://schemas.microsoft.com/office/drawing/2014/main" id="{D3457B38-2A96-4182-A13E-DDB439EA2955}"/>
              </a:ext>
            </a:extLst>
          </p:cNvPr>
          <p:cNvSpPr>
            <a:spLocks xmlns:a="http://schemas.openxmlformats.org/drawingml/2006/main" noGrp="1"/>
          </p:cNvSpPr>
          <p:nvPr/>
        </p:nvSpPr>
        <p:spPr>
          <a:xfrm xmlns:a="http://schemas.openxmlformats.org/drawingml/2006/main">
            <a:off x="4381500" y="3076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User sends an HTTP request</a:t>
            </a:r>
          </a:p>
        </p:txBody>
      </p:sp>
      <p:sp>
        <p:nvSpPr>
          <p:cNvPr id="25" name="">
            <a:extLst xmlns:a="http://schemas.openxmlformats.org/drawingml/2006/main">
              <a:ext uri="{FF2B5EF4-FFF2-40B4-BE49-F238E27FC236}">
                <a16:creationId xmlns:a16="http://schemas.microsoft.com/office/drawing/2014/main" id="{1414C36E-25C7-41B0-8BFD-ACCE3D89BBCC}"/>
              </a:ext>
            </a:extLst>
          </p:cNvPr>
          <p:cNvSpPr>
            <a:spLocks xmlns:a="http://schemas.openxmlformats.org/drawingml/2006/main" noGrp="1"/>
          </p:cNvSpPr>
          <p:nvPr/>
        </p:nvSpPr>
        <p:spPr>
          <a:xfrm xmlns:a="http://schemas.openxmlformats.org/drawingml/2006/main">
            <a:off x="714375" y="364807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5851CA4F-9F42-4D33-9774-697154E6BCC4}"/>
              </a:ext>
            </a:extLst>
          </p:cNvPr>
          <p:cNvSpPr>
            <a:spLocks xmlns:a="http://schemas.openxmlformats.org/drawingml/2006/main" noGrp="1"/>
          </p:cNvSpPr>
          <p:nvPr/>
        </p:nvSpPr>
        <p:spPr>
          <a:xfrm xmlns:a="http://schemas.openxmlformats.org/drawingml/2006/main">
            <a:off x="1238250" y="36290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Validate and update</a:t>
            </a:r>
          </a:p>
        </p:txBody>
      </p:sp>
      <p:sp>
        <p:nvSpPr>
          <p:cNvPr id="27" name="">
            <a:extLst xmlns:a="http://schemas.openxmlformats.org/drawingml/2006/main">
              <a:ext uri="{FF2B5EF4-FFF2-40B4-BE49-F238E27FC236}">
                <a16:creationId xmlns:a16="http://schemas.microsoft.com/office/drawing/2014/main" id="{9A6FDCD0-F0D8-47B3-9295-1D54D0860679}"/>
              </a:ext>
            </a:extLst>
          </p:cNvPr>
          <p:cNvSpPr>
            <a:spLocks xmlns:a="http://schemas.openxmlformats.org/drawingml/2006/main" noGrp="1"/>
          </p:cNvSpPr>
          <p:nvPr/>
        </p:nvSpPr>
        <p:spPr>
          <a:xfrm xmlns:a="http://schemas.openxmlformats.org/drawingml/2006/main">
            <a:off x="4381500" y="36290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Server checks role, ownership, and queue status</a:t>
            </a:r>
          </a:p>
        </p:txBody>
      </p:sp>
      <p:sp>
        <p:nvSpPr>
          <p:cNvPr id="28" name="">
            <a:extLst xmlns:a="http://schemas.openxmlformats.org/drawingml/2006/main">
              <a:ext uri="{FF2B5EF4-FFF2-40B4-BE49-F238E27FC236}">
                <a16:creationId xmlns:a16="http://schemas.microsoft.com/office/drawing/2014/main" id="{D1ECE573-9578-47D3-8865-8DE3185DE08A}"/>
              </a:ext>
            </a:extLst>
          </p:cNvPr>
          <p:cNvSpPr>
            <a:spLocks xmlns:a="http://schemas.openxmlformats.org/drawingml/2006/main" noGrp="1"/>
          </p:cNvSpPr>
          <p:nvPr/>
        </p:nvSpPr>
        <p:spPr>
          <a:xfrm xmlns:a="http://schemas.openxmlformats.org/drawingml/2006/main">
            <a:off x="714375" y="42005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AE18D7D5-050C-4803-82A4-61269E09EE9B}"/>
              </a:ext>
            </a:extLst>
          </p:cNvPr>
          <p:cNvSpPr>
            <a:spLocks xmlns:a="http://schemas.openxmlformats.org/drawingml/2006/main" noGrp="1"/>
          </p:cNvSpPr>
          <p:nvPr/>
        </p:nvSpPr>
        <p:spPr>
          <a:xfrm xmlns:a="http://schemas.openxmlformats.org/drawingml/2006/main">
            <a:off x="1238250" y="41814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Commit queue state</a:t>
            </a:r>
          </a:p>
        </p:txBody>
      </p:sp>
      <p:sp>
        <p:nvSpPr>
          <p:cNvPr id="30" name="">
            <a:extLst xmlns:a="http://schemas.openxmlformats.org/drawingml/2006/main">
              <a:ext uri="{FF2B5EF4-FFF2-40B4-BE49-F238E27FC236}">
                <a16:creationId xmlns:a16="http://schemas.microsoft.com/office/drawing/2014/main" id="{8709D85C-0B65-4405-BDF6-77049E3F5D16}"/>
              </a:ext>
            </a:extLst>
          </p:cNvPr>
          <p:cNvSpPr>
            <a:spLocks xmlns:a="http://schemas.openxmlformats.org/drawingml/2006/main" noGrp="1"/>
          </p:cNvSpPr>
          <p:nvPr/>
        </p:nvSpPr>
        <p:spPr>
          <a:xfrm xmlns:a="http://schemas.openxmlformats.org/drawingml/2006/main">
            <a:off x="4381500" y="41814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Transaction saves the authoritative result</a:t>
            </a:r>
          </a:p>
        </p:txBody>
      </p:sp>
      <p:sp>
        <p:nvSpPr>
          <p:cNvPr id="31" name="">
            <a:extLst xmlns:a="http://schemas.openxmlformats.org/drawingml/2006/main">
              <a:ext uri="{FF2B5EF4-FFF2-40B4-BE49-F238E27FC236}">
                <a16:creationId xmlns:a16="http://schemas.microsoft.com/office/drawing/2014/main" id="{0D27A875-4951-4D16-A4DC-5F8D2CA5188F}"/>
              </a:ext>
            </a:extLst>
          </p:cNvPr>
          <p:cNvSpPr>
            <a:spLocks xmlns:a="http://schemas.openxmlformats.org/drawingml/2006/main" noGrp="1"/>
          </p:cNvSpPr>
          <p:nvPr/>
        </p:nvSpPr>
        <p:spPr>
          <a:xfrm xmlns:a="http://schemas.openxmlformats.org/drawingml/2006/main">
            <a:off x="714375" y="4752975"/>
            <a:ext cx="361950" cy="361950"/>
          </a:xfrm>
          <a:prstGeom xmlns:a="http://schemas.openxmlformats.org/drawingml/2006/main" prst="ellipse">
            <a:avLst/>
          </a:prstGeom>
          <a:solidFill xmlns:a="http://schemas.openxmlformats.org/drawingml/2006/main">
            <a:srgbClr val="8067A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C7D351A5-AF28-4FAC-9F7F-A0209771FEB5}"/>
              </a:ext>
            </a:extLst>
          </p:cNvPr>
          <p:cNvSpPr>
            <a:spLocks xmlns:a="http://schemas.openxmlformats.org/drawingml/2006/main" noGrp="1"/>
          </p:cNvSpPr>
          <p:nvPr/>
        </p:nvSpPr>
        <p:spPr>
          <a:xfrm xmlns:a="http://schemas.openxmlformats.org/drawingml/2006/main">
            <a:off x="1238250" y="47339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Emit queue:updated</a:t>
            </a:r>
          </a:p>
        </p:txBody>
      </p:sp>
      <p:sp>
        <p:nvSpPr>
          <p:cNvPr id="33" name="">
            <a:extLst xmlns:a="http://schemas.openxmlformats.org/drawingml/2006/main">
              <a:ext uri="{FF2B5EF4-FFF2-40B4-BE49-F238E27FC236}">
                <a16:creationId xmlns:a16="http://schemas.microsoft.com/office/drawing/2014/main" id="{CAFA7E8D-D072-4DA1-AAE3-5AA28F1441D0}"/>
              </a:ext>
            </a:extLst>
          </p:cNvPr>
          <p:cNvSpPr>
            <a:spLocks xmlns:a="http://schemas.openxmlformats.org/drawingml/2006/main" noGrp="1"/>
          </p:cNvSpPr>
          <p:nvPr/>
        </p:nvSpPr>
        <p:spPr>
          <a:xfrm xmlns:a="http://schemas.openxmlformats.org/drawingml/2006/main">
            <a:off x="4381500" y="47339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Event carries change type, entry ID, and time</a:t>
            </a:r>
          </a:p>
        </p:txBody>
      </p:sp>
      <p:sp>
        <p:nvSpPr>
          <p:cNvPr id="34" name="">
            <a:extLst xmlns:a="http://schemas.openxmlformats.org/drawingml/2006/main">
              <a:ext uri="{FF2B5EF4-FFF2-40B4-BE49-F238E27FC236}">
                <a16:creationId xmlns:a16="http://schemas.microsoft.com/office/drawing/2014/main" id="{6FC30B33-82C2-4C53-94D5-E88BC58D48B4}"/>
              </a:ext>
            </a:extLst>
          </p:cNvPr>
          <p:cNvSpPr>
            <a:spLocks xmlns:a="http://schemas.openxmlformats.org/drawingml/2006/main" noGrp="1"/>
          </p:cNvSpPr>
          <p:nvPr/>
        </p:nvSpPr>
        <p:spPr>
          <a:xfrm xmlns:a="http://schemas.openxmlformats.org/drawingml/2006/main">
            <a:off x="714375" y="53054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5B285F24-6B56-4B6E-AB27-CA73B3A4E599}"/>
              </a:ext>
            </a:extLst>
          </p:cNvPr>
          <p:cNvSpPr>
            <a:spLocks xmlns:a="http://schemas.openxmlformats.org/drawingml/2006/main" noGrp="1"/>
          </p:cNvSpPr>
          <p:nvPr/>
        </p:nvSpPr>
        <p:spPr>
          <a:xfrm xmlns:a="http://schemas.openxmlformats.org/drawingml/2006/main">
            <a:off x="12382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Fetch a fresh snapshot</a:t>
            </a:r>
          </a:p>
        </p:txBody>
      </p:sp>
      <p:sp>
        <p:nvSpPr>
          <p:cNvPr id="36" name="">
            <a:extLst xmlns:a="http://schemas.openxmlformats.org/drawingml/2006/main">
              <a:ext uri="{FF2B5EF4-FFF2-40B4-BE49-F238E27FC236}">
                <a16:creationId xmlns:a16="http://schemas.microsoft.com/office/drawing/2014/main" id="{95566208-A28E-4D68-B5A7-77BE3C90F09F}"/>
              </a:ext>
            </a:extLst>
          </p:cNvPr>
          <p:cNvSpPr>
            <a:spLocks xmlns:a="http://schemas.openxmlformats.org/drawingml/2006/main" noGrp="1"/>
          </p:cNvSpPr>
          <p:nvPr/>
        </p:nvSpPr>
        <p:spPr>
          <a:xfrm xmlns:a="http://schemas.openxmlformats.org/drawingml/2006/main">
            <a:off x="4381500" y="52863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Each page reloads only the data it may see</a:t>
            </a:r>
          </a:p>
        </p:txBody>
      </p:sp>
    </p:spTree>
    <p:extLst>
      <p:ext uri="{BB962C8B-B14F-4D97-AF65-F5344CB8AC3E}">
        <p14:creationId xmlns:p14="http://schemas.microsoft.com/office/powerpoint/2010/main" val="1215995824"/>
      </p:ext>
    </p:extLst>
  </p:cSld>
</p:sld>
</file>

<file path=ppt/slides/slide6.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8A4064D-C83F-42CB-9C81-96F32702D9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4064AEBB-3FB3-4785-A862-CF69878DFA75}"/>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9781FFDE-0620-4FD5-9273-023EF0B07B92}"/>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System architecture</a:t>
            </a:r>
          </a:p>
        </p:txBody>
      </p:sp>
      <p:sp>
        <p:nvSpPr>
          <p:cNvPr id="4" name="">
            <a:extLst xmlns:a="http://schemas.openxmlformats.org/drawingml/2006/main">
              <a:ext uri="{FF2B5EF4-FFF2-40B4-BE49-F238E27FC236}">
                <a16:creationId xmlns:a16="http://schemas.microsoft.com/office/drawing/2014/main" id="{7B100821-7A9D-4716-A979-4DBC81FD9970}"/>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REST handles data operations while Socket.IO carries change notifications</a:t>
            </a:r>
          </a:p>
        </p:txBody>
      </p:sp>
      <p:sp>
        <p:nvSpPr>
          <p:cNvPr id="5" name="">
            <a:extLst xmlns:a="http://schemas.openxmlformats.org/drawingml/2006/main">
              <a:ext uri="{FF2B5EF4-FFF2-40B4-BE49-F238E27FC236}">
                <a16:creationId xmlns:a16="http://schemas.microsoft.com/office/drawing/2014/main" id="{1053A59A-217C-4C69-B130-01516AD6EBB7}"/>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49FF7842-1254-4953-8516-DE4302139485}"/>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3AAB4356-AE6B-4658-8796-941C2D76C594}"/>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11A1E255-7802-4BCB-B4FB-BA9CFAE20F72}"/>
              </a:ext>
            </a:extLst>
          </p:cNvPr>
          <p:cNvSpPr>
            <a:spLocks xmlns:a="http://schemas.openxmlformats.org/drawingml/2006/main" noGrp="1"/>
          </p:cNvSpPr>
          <p:nvPr/>
        </p:nvSpPr>
        <p:spPr>
          <a:xfrm xmlns:a="http://schemas.openxmlformats.org/drawingml/2006/main">
            <a:off x="619125" y="2143125"/>
            <a:ext cx="2000250" cy="809625"/>
          </a:xfrm>
          <a:prstGeom xmlns:a="http://schemas.openxmlformats.org/drawingml/2006/main" prst="roundRect">
            <a:avLst>
              <a:gd name="adj" fmla="val 18824"/>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4D578D66-F0A1-46F9-9816-CC552FF6AE29}"/>
              </a:ext>
            </a:extLst>
          </p:cNvPr>
          <p:cNvSpPr>
            <a:spLocks xmlns:a="http://schemas.openxmlformats.org/drawingml/2006/main" noGrp="1"/>
          </p:cNvSpPr>
          <p:nvPr/>
        </p:nvSpPr>
        <p:spPr>
          <a:xfrm xmlns:a="http://schemas.openxmlformats.org/drawingml/2006/main">
            <a:off x="781050" y="2266950"/>
            <a:ext cx="167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Pet owner</a:t>
            </a:r>
          </a:p>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Queue Status</a:t>
            </a:r>
          </a:p>
        </p:txBody>
      </p:sp>
      <p:sp>
        <p:nvSpPr>
          <p:cNvPr id="10" name="">
            <a:extLst xmlns:a="http://schemas.openxmlformats.org/drawingml/2006/main">
              <a:ext uri="{FF2B5EF4-FFF2-40B4-BE49-F238E27FC236}">
                <a16:creationId xmlns:a16="http://schemas.microsoft.com/office/drawing/2014/main" id="{672F7545-0DF2-4D92-8A14-670B8704C829}"/>
              </a:ext>
            </a:extLst>
          </p:cNvPr>
          <p:cNvSpPr>
            <a:spLocks xmlns:a="http://schemas.openxmlformats.org/drawingml/2006/main" noGrp="1"/>
          </p:cNvSpPr>
          <p:nvPr/>
        </p:nvSpPr>
        <p:spPr>
          <a:xfrm xmlns:a="http://schemas.openxmlformats.org/drawingml/2006/main">
            <a:off x="619125" y="3667125"/>
            <a:ext cx="2000250" cy="809625"/>
          </a:xfrm>
          <a:prstGeom xmlns:a="http://schemas.openxmlformats.org/drawingml/2006/main" prst="roundRect">
            <a:avLst>
              <a:gd name="adj" fmla="val 18824"/>
            </a:avLst>
          </a:prstGeom>
          <a:solidFill xmlns:a="http://schemas.openxmlformats.org/drawingml/2006/main">
            <a:srgbClr val="E5F0F8"/>
          </a:solidFill>
          <a:ln xmlns:a="http://schemas.openxmlformats.org/drawingml/2006/main" w="14288">
            <a:solidFill>
              <a:srgbClr val="2E6F95"/>
            </a:solidFill>
            <a:prstDash val="solid"/>
          </a:ln>
        </p:spPr>
      </p:sp>
      <p:sp>
        <p:nvSpPr>
          <p:cNvPr id="11" name="">
            <a:extLst xmlns:a="http://schemas.openxmlformats.org/drawingml/2006/main">
              <a:ext uri="{FF2B5EF4-FFF2-40B4-BE49-F238E27FC236}">
                <a16:creationId xmlns:a16="http://schemas.microsoft.com/office/drawing/2014/main" id="{8B3EF221-FE88-4484-A846-B9C39DB6E6A8}"/>
              </a:ext>
            </a:extLst>
          </p:cNvPr>
          <p:cNvSpPr>
            <a:spLocks xmlns:a="http://schemas.openxmlformats.org/drawingml/2006/main" noGrp="1"/>
          </p:cNvSpPr>
          <p:nvPr/>
        </p:nvSpPr>
        <p:spPr>
          <a:xfrm xmlns:a="http://schemas.openxmlformats.org/drawingml/2006/main">
            <a:off x="781050" y="3790950"/>
            <a:ext cx="167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93"/>
          </a:bodyPr>
          <a:lstStyle xmlns:a="http://schemas.openxmlformats.org/drawingml/2006/main"/>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Clinic staff</a:t>
            </a:r>
          </a:p>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Queue Management</a:t>
            </a:r>
          </a:p>
        </p:txBody>
      </p:sp>
      <p:sp>
        <p:nvSpPr>
          <p:cNvPr id="12" name="">
            <a:extLst xmlns:a="http://schemas.openxmlformats.org/drawingml/2006/main">
              <a:ext uri="{FF2B5EF4-FFF2-40B4-BE49-F238E27FC236}">
                <a16:creationId xmlns:a16="http://schemas.microsoft.com/office/drawing/2014/main" id="{D7DBB233-E36E-44AB-9C8B-E408DAF91EC1}"/>
              </a:ext>
            </a:extLst>
          </p:cNvPr>
          <p:cNvSpPr>
            <a:spLocks xmlns:a="http://schemas.openxmlformats.org/drawingml/2006/main" noGrp="1"/>
          </p:cNvSpPr>
          <p:nvPr/>
        </p:nvSpPr>
        <p:spPr>
          <a:xfrm xmlns:a="http://schemas.openxmlformats.org/drawingml/2006/main">
            <a:off x="4000500" y="2143125"/>
            <a:ext cx="2571750" cy="2333625"/>
          </a:xfrm>
          <a:prstGeom xmlns:a="http://schemas.openxmlformats.org/drawingml/2006/main" prst="roundRect">
            <a:avLst>
              <a:gd name="adj" fmla="val 8163"/>
            </a:avLst>
          </a:prstGeom>
          <a:solidFill xmlns:a="http://schemas.openxmlformats.org/drawingml/2006/main">
            <a:srgbClr val="DCF4EC"/>
          </a:solidFill>
          <a:ln xmlns:a="http://schemas.openxmlformats.org/drawingml/2006/main" w="14288">
            <a:solidFill>
              <a:srgbClr val="16A08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044C1AA-4194-470A-81B6-69CCFA879E6A}"/>
              </a:ext>
            </a:extLst>
          </p:cNvPr>
          <p:cNvSpPr>
            <a:spLocks xmlns:a="http://schemas.openxmlformats.org/drawingml/2006/main" noGrp="1"/>
          </p:cNvSpPr>
          <p:nvPr/>
        </p:nvSpPr>
        <p:spPr>
          <a:xfrm xmlns:a="http://schemas.openxmlformats.org/drawingml/2006/main">
            <a:off x="4286250" y="23336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ctr">
              <a:defRPr sz="1875" b="1">
                <a:solidFill>
                  <a:srgbClr val="123F38"/>
                </a:solidFill>
                <a:latin typeface="Helvetica Neue"/>
                <a:ea typeface="Helvetica Neue"/>
                <a:cs typeface="Helvetica Neue"/>
              </a:defRPr>
            </a:pPr>
            <a:r>
              <a:rPr sz="1875" b="1">
                <a:solidFill>
                  <a:srgbClr val="123F38"/>
                </a:solidFill>
                <a:latin typeface="Helvetica Neue"/>
                <a:ea typeface="Helvetica Neue"/>
                <a:cs typeface="Helvetica Neue"/>
              </a:rPr>
              <a:t>Application server</a:t>
            </a:r>
          </a:p>
        </p:txBody>
      </p:sp>
      <p:sp>
        <p:nvSpPr>
          <p:cNvPr id="14" name="">
            <a:extLst xmlns:a="http://schemas.openxmlformats.org/drawingml/2006/main">
              <a:ext uri="{FF2B5EF4-FFF2-40B4-BE49-F238E27FC236}">
                <a16:creationId xmlns:a16="http://schemas.microsoft.com/office/drawing/2014/main" id="{12F5E490-CABA-40F6-A807-028589452286}"/>
              </a:ext>
            </a:extLst>
          </p:cNvPr>
          <p:cNvSpPr>
            <a:spLocks xmlns:a="http://schemas.openxmlformats.org/drawingml/2006/main" noGrp="1"/>
          </p:cNvSpPr>
          <p:nvPr/>
        </p:nvSpPr>
        <p:spPr>
          <a:xfrm xmlns:a="http://schemas.openxmlformats.org/drawingml/2006/main">
            <a:off x="4305300" y="2838450"/>
            <a:ext cx="1962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3"/>
          </a:bodyPr>
          <a:lstStyle xmlns:a="http://schemas.openxmlformats.org/drawingml/2006/main"/>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REST API</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check-in · list · next · cancel</a:t>
            </a:r>
          </a:p>
          <a:p xmlns:a="http://schemas.openxmlformats.org/drawingml/2006/main">
            <a:r>
              <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Socket.IO server</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queue room · queue:updated</a:t>
            </a:r>
          </a:p>
        </p:txBody>
      </p:sp>
      <p:sp>
        <p:nvSpPr>
          <p:cNvPr id="15" name="">
            <a:extLst xmlns:a="http://schemas.openxmlformats.org/drawingml/2006/main">
              <a:ext uri="{FF2B5EF4-FFF2-40B4-BE49-F238E27FC236}">
                <a16:creationId xmlns:a16="http://schemas.microsoft.com/office/drawing/2014/main" id="{B8191855-CF88-4220-BFB4-B753BCF1400A}"/>
              </a:ext>
            </a:extLst>
          </p:cNvPr>
          <p:cNvSpPr>
            <a:spLocks xmlns:a="http://schemas.openxmlformats.org/drawingml/2006/main" noGrp="1"/>
          </p:cNvSpPr>
          <p:nvPr/>
        </p:nvSpPr>
        <p:spPr>
          <a:xfrm xmlns:a="http://schemas.openxmlformats.org/drawingml/2006/main">
            <a:off x="8096250" y="2238375"/>
            <a:ext cx="2857500" cy="1047750"/>
          </a:xfrm>
          <a:prstGeom xmlns:a="http://schemas.openxmlformats.org/drawingml/2006/main" prst="roundRect">
            <a:avLst>
              <a:gd name="adj" fmla="val 18182"/>
            </a:avLst>
          </a:prstGeom>
          <a:solidFill xmlns:a="http://schemas.openxmlformats.org/drawingml/2006/main">
            <a:srgbClr val="E5F0F8"/>
          </a:solidFill>
          <a:ln xmlns:a="http://schemas.openxmlformats.org/drawingml/2006/main" w="14288">
            <a:solidFill>
              <a:srgbClr val="2E6F95"/>
            </a:solidFill>
            <a:prstDash val="solid"/>
          </a:ln>
        </p:spPr>
      </p:sp>
      <p:sp>
        <p:nvSpPr>
          <p:cNvPr id="16" name="">
            <a:extLst xmlns:a="http://schemas.openxmlformats.org/drawingml/2006/main">
              <a:ext uri="{FF2B5EF4-FFF2-40B4-BE49-F238E27FC236}">
                <a16:creationId xmlns:a16="http://schemas.microsoft.com/office/drawing/2014/main" id="{1C21D0A9-67AF-42E9-9F86-7F52F4B97612}"/>
              </a:ext>
            </a:extLst>
          </p:cNvPr>
          <p:cNvSpPr>
            <a:spLocks xmlns:a="http://schemas.openxmlformats.org/drawingml/2006/main" noGrp="1"/>
          </p:cNvSpPr>
          <p:nvPr/>
        </p:nvSpPr>
        <p:spPr>
          <a:xfrm xmlns:a="http://schemas.openxmlformats.org/drawingml/2006/main">
            <a:off x="8429625" y="2400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2E6F95"/>
                </a:solidFill>
                <a:latin typeface="Helvetica Neue"/>
                <a:ea typeface="Helvetica Neue"/>
                <a:cs typeface="Helvetica Neue"/>
              </a:defRPr>
            </a:pPr>
            <a:r>
              <a:rPr sz="1875" b="1">
                <a:solidFill>
                  <a:srgbClr val="2E6F95"/>
                </a:solidFill>
                <a:latin typeface="Helvetica Neue"/>
                <a:ea typeface="Helvetica Neue"/>
                <a:cs typeface="Helvetica Neue"/>
              </a:rPr>
              <a:t>PostgreSQL</a:t>
            </a:r>
          </a:p>
        </p:txBody>
      </p:sp>
      <p:sp>
        <p:nvSpPr>
          <p:cNvPr id="17" name="">
            <a:extLst xmlns:a="http://schemas.openxmlformats.org/drawingml/2006/main">
              <a:ext uri="{FF2B5EF4-FFF2-40B4-BE49-F238E27FC236}">
                <a16:creationId xmlns:a16="http://schemas.microsoft.com/office/drawing/2014/main" id="{06C34EE5-D376-47B4-8D92-2B1451A80B55}"/>
              </a:ext>
            </a:extLst>
          </p:cNvPr>
          <p:cNvSpPr>
            <a:spLocks xmlns:a="http://schemas.openxmlformats.org/drawingml/2006/main" noGrp="1"/>
          </p:cNvSpPr>
          <p:nvPr/>
        </p:nvSpPr>
        <p:spPr>
          <a:xfrm xmlns:a="http://schemas.openxmlformats.org/drawingml/2006/main">
            <a:off x="8334375" y="28003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Authoritative queue entries</a:t>
            </a:r>
          </a:p>
        </p:txBody>
      </p:sp>
      <p:sp>
        <p:nvSpPr>
          <p:cNvPr id="18" name="">
            <a:extLst xmlns:a="http://schemas.openxmlformats.org/drawingml/2006/main">
              <a:ext uri="{FF2B5EF4-FFF2-40B4-BE49-F238E27FC236}">
                <a16:creationId xmlns:a16="http://schemas.microsoft.com/office/drawing/2014/main" id="{D6EA11E1-7FB6-4031-BDB0-28BF70B0D100}"/>
              </a:ext>
            </a:extLst>
          </p:cNvPr>
          <p:cNvSpPr>
            <a:spLocks xmlns:a="http://schemas.openxmlformats.org/drawingml/2006/main" noGrp="1"/>
          </p:cNvSpPr>
          <p:nvPr/>
        </p:nvSpPr>
        <p:spPr>
          <a:xfrm xmlns:a="http://schemas.openxmlformats.org/drawingml/2006/main">
            <a:off x="8096250" y="3810000"/>
            <a:ext cx="2857500" cy="9144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9" name="">
            <a:extLst xmlns:a="http://schemas.openxmlformats.org/drawingml/2006/main">
              <a:ext uri="{FF2B5EF4-FFF2-40B4-BE49-F238E27FC236}">
                <a16:creationId xmlns:a16="http://schemas.microsoft.com/office/drawing/2014/main" id="{7EE05556-6A94-423F-898A-37F465968267}"/>
              </a:ext>
            </a:extLst>
          </p:cNvPr>
          <p:cNvSpPr>
            <a:spLocks xmlns:a="http://schemas.openxmlformats.org/drawingml/2006/main" noGrp="1"/>
          </p:cNvSpPr>
          <p:nvPr/>
        </p:nvSpPr>
        <p:spPr>
          <a:xfrm xmlns:a="http://schemas.openxmlformats.org/drawingml/2006/main">
            <a:off x="8382000" y="3962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lgn="ctr">
              <a:defRPr sz="1650" b="1">
                <a:solidFill>
                  <a:srgbClr val="62488F"/>
                </a:solidFill>
                <a:latin typeface="Helvetica Neue"/>
                <a:ea typeface="Helvetica Neue"/>
                <a:cs typeface="Helvetica Neue"/>
              </a:defRPr>
            </a:pPr>
            <a:r>
              <a:rPr sz="1650" b="1">
                <a:solidFill>
                  <a:srgbClr val="62488F"/>
                </a:solidFill>
                <a:latin typeface="Helvetica Neue"/>
                <a:ea typeface="Helvetica Neue"/>
                <a:cs typeface="Helvetica Neue"/>
              </a:rPr>
              <a:t>Live notification path</a:t>
            </a:r>
          </a:p>
        </p:txBody>
      </p:sp>
      <p:sp>
        <p:nvSpPr>
          <p:cNvPr id="20" name="">
            <a:extLst xmlns:a="http://schemas.openxmlformats.org/drawingml/2006/main">
              <a:ext uri="{FF2B5EF4-FFF2-40B4-BE49-F238E27FC236}">
                <a16:creationId xmlns:a16="http://schemas.microsoft.com/office/drawing/2014/main" id="{5CEDC8EC-F0E7-4C8F-965B-BD0E2489A709}"/>
              </a:ext>
            </a:extLst>
          </p:cNvPr>
          <p:cNvSpPr>
            <a:spLocks xmlns:a="http://schemas.openxmlformats.org/drawingml/2006/main" noGrp="1"/>
          </p:cNvSpPr>
          <p:nvPr/>
        </p:nvSpPr>
        <p:spPr>
          <a:xfrm xmlns:a="http://schemas.openxmlformats.org/drawingml/2006/main">
            <a:off x="8429625" y="43148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Small change signal only</a:t>
            </a:r>
          </a:p>
        </p:txBody>
      </p:sp>
      <p:sp>
        <p:nvSpPr>
          <p:cNvPr id="21" name="">
            <a:extLst xmlns:a="http://schemas.openxmlformats.org/drawingml/2006/main">
              <a:ext uri="{FF2B5EF4-FFF2-40B4-BE49-F238E27FC236}">
                <a16:creationId xmlns:a16="http://schemas.microsoft.com/office/drawing/2014/main" id="{31FD7AF9-0F8F-4AF5-B387-A1111C2FD46B}"/>
              </a:ext>
            </a:extLst>
          </p:cNvPr>
          <p:cNvSpPr>
            <a:spLocks xmlns:a="http://schemas.openxmlformats.org/drawingml/2006/main" noGrp="1"/>
          </p:cNvSpPr>
          <p:nvPr/>
        </p:nvSpPr>
        <p:spPr>
          <a:xfrm xmlns:a="http://schemas.openxmlformats.org/drawingml/2006/main">
            <a:off x="2762250" y="2552700"/>
            <a:ext cx="1047750" cy="238125"/>
          </a:xfrm>
          <a:prstGeom xmlns:a="http://schemas.openxmlformats.org/drawingml/2006/main" prst="rightArrow">
            <a:avLst/>
          </a:prstGeom>
          <a:solidFill xmlns:a="http://schemas.openxmlformats.org/drawingml/2006/main">
            <a:srgbClr val="2E6F95"/>
          </a:solidFill>
          <a:ln xmlns:a="http://schemas.openxmlformats.org/drawingml/2006/main" w="0">
            <a:solidFill>
              <a:srgbClr val="2E6F95"/>
            </a:solidFill>
          </a:ln>
        </p:spPr>
      </p:sp>
      <p:sp>
        <p:nvSpPr>
          <p:cNvPr id="22" name="">
            <a:extLst xmlns:a="http://schemas.openxmlformats.org/drawingml/2006/main">
              <a:ext uri="{FF2B5EF4-FFF2-40B4-BE49-F238E27FC236}">
                <a16:creationId xmlns:a16="http://schemas.microsoft.com/office/drawing/2014/main" id="{BA14045E-22D5-49F4-AF9D-B2B228BA6645}"/>
              </a:ext>
            </a:extLst>
          </p:cNvPr>
          <p:cNvSpPr>
            <a:spLocks xmlns:a="http://schemas.openxmlformats.org/drawingml/2006/main" noGrp="1"/>
          </p:cNvSpPr>
          <p:nvPr/>
        </p:nvSpPr>
        <p:spPr>
          <a:xfrm xmlns:a="http://schemas.openxmlformats.org/drawingml/2006/main">
            <a:off x="2762250" y="3905250"/>
            <a:ext cx="1047750" cy="238125"/>
          </a:xfrm>
          <a:prstGeom xmlns:a="http://schemas.openxmlformats.org/drawingml/2006/main" prst="rightArrow">
            <a:avLst/>
          </a:prstGeom>
          <a:solidFill xmlns:a="http://schemas.openxmlformats.org/drawingml/2006/main">
            <a:srgbClr val="2E6F95"/>
          </a:solidFill>
          <a:ln xmlns:a="http://schemas.openxmlformats.org/drawingml/2006/main" w="0">
            <a:solidFill>
              <a:srgbClr val="2E6F95"/>
            </a:solidFill>
          </a:ln>
        </p:spPr>
      </p:sp>
      <p:sp>
        <p:nvSpPr>
          <p:cNvPr id="23" name="">
            <a:extLst xmlns:a="http://schemas.openxmlformats.org/drawingml/2006/main">
              <a:ext uri="{FF2B5EF4-FFF2-40B4-BE49-F238E27FC236}">
                <a16:creationId xmlns:a16="http://schemas.microsoft.com/office/drawing/2014/main" id="{3326A8A6-5CFF-4A9B-9E56-EC53FC0EA30C}"/>
              </a:ext>
            </a:extLst>
          </p:cNvPr>
          <p:cNvSpPr>
            <a:spLocks xmlns:a="http://schemas.openxmlformats.org/drawingml/2006/main" noGrp="1"/>
          </p:cNvSpPr>
          <p:nvPr/>
        </p:nvSpPr>
        <p:spPr>
          <a:xfrm xmlns:a="http://schemas.openxmlformats.org/drawingml/2006/main">
            <a:off x="2933700" y="22288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604"/>
          </a:bodyPr>
          <a:lstStyle xmlns:a="http://schemas.openxmlformats.org/drawingml/2006/main"/>
          <a:p xmlns:a="http://schemas.openxmlformats.org/drawingml/2006/main">
            <a:pPr algn="ctr">
              <a:defRPr sz="1050" b="1">
                <a:solidFill>
                  <a:srgbClr val="2E6F95"/>
                </a:solidFill>
                <a:latin typeface="Helvetica Neue"/>
                <a:ea typeface="Helvetica Neue"/>
                <a:cs typeface="Helvetica Neue"/>
              </a:defRPr>
            </a:pPr>
            <a:r>
              <a:rPr sz="1050" b="1">
                <a:solidFill>
                  <a:srgbClr val="2E6F95"/>
                </a:solidFill>
                <a:latin typeface="Helvetica Neue"/>
                <a:ea typeface="Helvetica Neue"/>
                <a:cs typeface="Helvetica Neue"/>
              </a:rPr>
              <a:t>HTTP JSON</a:t>
            </a:r>
          </a:p>
        </p:txBody>
      </p:sp>
      <p:sp>
        <p:nvSpPr>
          <p:cNvPr id="24" name="">
            <a:extLst xmlns:a="http://schemas.openxmlformats.org/drawingml/2006/main">
              <a:ext uri="{FF2B5EF4-FFF2-40B4-BE49-F238E27FC236}">
                <a16:creationId xmlns:a16="http://schemas.microsoft.com/office/drawing/2014/main" id="{3EB5D026-986A-473B-863B-6A74F9EB0788}"/>
              </a:ext>
            </a:extLst>
          </p:cNvPr>
          <p:cNvSpPr>
            <a:spLocks xmlns:a="http://schemas.openxmlformats.org/drawingml/2006/main" noGrp="1"/>
          </p:cNvSpPr>
          <p:nvPr/>
        </p:nvSpPr>
        <p:spPr>
          <a:xfrm xmlns:a="http://schemas.openxmlformats.org/drawingml/2006/main">
            <a:off x="6724650" y="2571750"/>
            <a:ext cx="1190625" cy="238125"/>
          </a:xfrm>
          <a:prstGeom xmlns:a="http://schemas.openxmlformats.org/drawingml/2006/main" prst="rightArrow">
            <a:avLst/>
          </a:prstGeom>
          <a:solidFill xmlns:a="http://schemas.openxmlformats.org/drawingml/2006/main">
            <a:srgbClr val="16A085"/>
          </a:solidFill>
          <a:ln xmlns:a="http://schemas.openxmlformats.org/drawingml/2006/main" w="0">
            <a:solidFill>
              <a:srgbClr val="16A085"/>
            </a:solidFill>
          </a:ln>
        </p:spPr>
      </p:sp>
      <p:sp>
        <p:nvSpPr>
          <p:cNvPr id="25" name="">
            <a:extLst xmlns:a="http://schemas.openxmlformats.org/drawingml/2006/main">
              <a:ext uri="{FF2B5EF4-FFF2-40B4-BE49-F238E27FC236}">
                <a16:creationId xmlns:a16="http://schemas.microsoft.com/office/drawing/2014/main" id="{F746AB70-EB2E-427B-B205-D7D079795BB5}"/>
              </a:ext>
            </a:extLst>
          </p:cNvPr>
          <p:cNvSpPr>
            <a:spLocks xmlns:a="http://schemas.openxmlformats.org/drawingml/2006/main" noGrp="1"/>
          </p:cNvSpPr>
          <p:nvPr/>
        </p:nvSpPr>
        <p:spPr>
          <a:xfrm xmlns:a="http://schemas.openxmlformats.org/drawingml/2006/main">
            <a:off x="6905625" y="2266950"/>
            <a:ext cx="80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1">
                <a:solidFill>
                  <a:srgbClr val="16A085"/>
                </a:solidFill>
                <a:latin typeface="Helvetica Neue"/>
                <a:ea typeface="Helvetica Neue"/>
                <a:cs typeface="Helvetica Neue"/>
              </a:defRPr>
            </a:pPr>
            <a:r>
              <a:rPr sz="1050" b="1">
                <a:solidFill>
                  <a:srgbClr val="16A085"/>
                </a:solidFill>
                <a:latin typeface="Helvetica Neue"/>
                <a:ea typeface="Helvetica Neue"/>
                <a:cs typeface="Helvetica Neue"/>
              </a:rPr>
              <a:t>read / write</a:t>
            </a:r>
          </a:p>
        </p:txBody>
      </p:sp>
      <p:sp>
        <p:nvSpPr>
          <p:cNvPr id="26" name="">
            <a:extLst xmlns:a="http://schemas.openxmlformats.org/drawingml/2006/main">
              <a:ext uri="{FF2B5EF4-FFF2-40B4-BE49-F238E27FC236}">
                <a16:creationId xmlns:a16="http://schemas.microsoft.com/office/drawing/2014/main" id="{6C329394-AB2F-46E1-98E7-5CDE05AE573C}"/>
              </a:ext>
            </a:extLst>
          </p:cNvPr>
          <p:cNvSpPr>
            <a:spLocks xmlns:a="http://schemas.openxmlformats.org/drawingml/2006/main" noGrp="1"/>
          </p:cNvSpPr>
          <p:nvPr/>
        </p:nvSpPr>
        <p:spPr>
          <a:xfrm xmlns:a="http://schemas.openxmlformats.org/drawingml/2006/main">
            <a:off x="6724650" y="3981450"/>
            <a:ext cx="1190625" cy="238125"/>
          </a:xfrm>
          <a:prstGeom xmlns:a="http://schemas.openxmlformats.org/drawingml/2006/main" prst="rightArrow">
            <a:avLst/>
          </a:prstGeom>
          <a:solidFill xmlns:a="http://schemas.openxmlformats.org/drawingml/2006/main">
            <a:srgbClr val="8067AD"/>
          </a:solidFill>
          <a:ln xmlns:a="http://schemas.openxmlformats.org/drawingml/2006/main" w="0">
            <a:solidFill>
              <a:srgbClr val="8067AD"/>
            </a:solidFill>
          </a:ln>
        </p:spPr>
      </p:sp>
      <p:sp>
        <p:nvSpPr>
          <p:cNvPr id="27" name="">
            <a:extLst xmlns:a="http://schemas.openxmlformats.org/drawingml/2006/main">
              <a:ext uri="{FF2B5EF4-FFF2-40B4-BE49-F238E27FC236}">
                <a16:creationId xmlns:a16="http://schemas.microsoft.com/office/drawing/2014/main" id="{B4B3623E-564A-4861-9806-A1DBBF1F2F1F}"/>
              </a:ext>
            </a:extLst>
          </p:cNvPr>
          <p:cNvSpPr>
            <a:spLocks xmlns:a="http://schemas.openxmlformats.org/drawingml/2006/main" noGrp="1"/>
          </p:cNvSpPr>
          <p:nvPr/>
        </p:nvSpPr>
        <p:spPr>
          <a:xfrm xmlns:a="http://schemas.openxmlformats.org/drawingml/2006/main">
            <a:off x="6924675" y="3667125"/>
            <a:ext cx="80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1">
                <a:solidFill>
                  <a:srgbClr val="8067AD"/>
                </a:solidFill>
                <a:latin typeface="Helvetica Neue"/>
                <a:ea typeface="Helvetica Neue"/>
                <a:cs typeface="Helvetica Neue"/>
              </a:defRPr>
            </a:pPr>
            <a:r>
              <a:rPr sz="1050" b="1">
                <a:solidFill>
                  <a:srgbClr val="8067AD"/>
                </a:solidFill>
                <a:latin typeface="Helvetica Neue"/>
                <a:ea typeface="Helvetica Neue"/>
                <a:cs typeface="Helvetica Neue"/>
              </a:rPr>
              <a:t>emit event</a:t>
            </a:r>
          </a:p>
        </p:txBody>
      </p:sp>
      <p:sp>
        <p:nvSpPr>
          <p:cNvPr id="28" name="">
            <a:extLst xmlns:a="http://schemas.openxmlformats.org/drawingml/2006/main">
              <a:ext uri="{FF2B5EF4-FFF2-40B4-BE49-F238E27FC236}">
                <a16:creationId xmlns:a16="http://schemas.microsoft.com/office/drawing/2014/main" id="{877F8656-31F6-4DEB-938D-13EE5B54600A}"/>
              </a:ext>
            </a:extLst>
          </p:cNvPr>
          <p:cNvSpPr>
            <a:spLocks xmlns:a="http://schemas.openxmlformats.org/drawingml/2006/main" noGrp="1"/>
          </p:cNvSpPr>
          <p:nvPr/>
        </p:nvSpPr>
        <p:spPr>
          <a:xfrm xmlns:a="http://schemas.openxmlformats.org/drawingml/2006/main">
            <a:off x="3238500" y="5562600"/>
            <a:ext cx="6191250" cy="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29" name="">
            <a:extLst xmlns:a="http://schemas.openxmlformats.org/drawingml/2006/main">
              <a:ext uri="{FF2B5EF4-FFF2-40B4-BE49-F238E27FC236}">
                <a16:creationId xmlns:a16="http://schemas.microsoft.com/office/drawing/2014/main" id="{17A78A32-36EE-4D57-AAE0-F21483FB0655}"/>
              </a:ext>
            </a:extLst>
          </p:cNvPr>
          <p:cNvSpPr>
            <a:spLocks xmlns:a="http://schemas.openxmlformats.org/drawingml/2006/main" noGrp="1"/>
          </p:cNvSpPr>
          <p:nvPr/>
        </p:nvSpPr>
        <p:spPr>
          <a:xfrm xmlns:a="http://schemas.openxmlformats.org/drawingml/2006/main">
            <a:off x="3238500" y="4476750"/>
            <a:ext cx="0" cy="108585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30" name="">
            <a:extLst xmlns:a="http://schemas.openxmlformats.org/drawingml/2006/main">
              <a:ext uri="{FF2B5EF4-FFF2-40B4-BE49-F238E27FC236}">
                <a16:creationId xmlns:a16="http://schemas.microsoft.com/office/drawing/2014/main" id="{06417CC0-9C9C-41D4-B5E9-CD327BE063B6}"/>
              </a:ext>
            </a:extLst>
          </p:cNvPr>
          <p:cNvSpPr>
            <a:spLocks xmlns:a="http://schemas.openxmlformats.org/drawingml/2006/main" noGrp="1"/>
          </p:cNvSpPr>
          <p:nvPr/>
        </p:nvSpPr>
        <p:spPr>
          <a:xfrm xmlns:a="http://schemas.openxmlformats.org/drawingml/2006/main">
            <a:off x="9429750" y="4724400"/>
            <a:ext cx="0" cy="83820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31" name="">
            <a:extLst xmlns:a="http://schemas.openxmlformats.org/drawingml/2006/main">
              <a:ext uri="{FF2B5EF4-FFF2-40B4-BE49-F238E27FC236}">
                <a16:creationId xmlns:a16="http://schemas.microsoft.com/office/drawing/2014/main" id="{61D28451-0C1B-401D-82AC-AB64CD9B6CD1}"/>
              </a:ext>
            </a:extLst>
          </p:cNvPr>
          <p:cNvSpPr>
            <a:spLocks xmlns:a="http://schemas.openxmlformats.org/drawingml/2006/main" noGrp="1"/>
          </p:cNvSpPr>
          <p:nvPr/>
        </p:nvSpPr>
        <p:spPr>
          <a:xfrm xmlns:a="http://schemas.openxmlformats.org/drawingml/2006/main">
            <a:off x="4667250" y="549592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62488F"/>
                </a:solidFill>
                <a:latin typeface="Helvetica Neue"/>
                <a:ea typeface="Helvetica Neue"/>
                <a:cs typeface="Helvetica Neue"/>
              </a:defRPr>
            </a:pPr>
            <a:r>
              <a:rPr sz="1350" b="1">
                <a:solidFill>
                  <a:srgbClr val="62488F"/>
                </a:solidFill>
                <a:latin typeface="Helvetica Neue"/>
                <a:ea typeface="Helvetica Neue"/>
                <a:cs typeface="Helvetica Neue"/>
              </a:rPr>
              <a:t>Socket.IO returns to both queue pages</a:t>
            </a:r>
          </a:p>
        </p:txBody>
      </p:sp>
      <p:sp>
        <p:nvSpPr>
          <p:cNvPr id="32" name="">
            <a:extLst xmlns:a="http://schemas.openxmlformats.org/drawingml/2006/main">
              <a:ext uri="{FF2B5EF4-FFF2-40B4-BE49-F238E27FC236}">
                <a16:creationId xmlns:a16="http://schemas.microsoft.com/office/drawing/2014/main" id="{FA32C83A-8DA1-4F4A-9F86-D2441A69155E}"/>
              </a:ext>
            </a:extLst>
          </p:cNvPr>
          <p:cNvSpPr>
            <a:spLocks xmlns:a="http://schemas.openxmlformats.org/drawingml/2006/main" noGrp="1"/>
          </p:cNvSpPr>
          <p:nvPr/>
        </p:nvSpPr>
        <p:spPr>
          <a:xfrm xmlns:a="http://schemas.openxmlformats.org/drawingml/2006/main">
            <a:off x="2524125" y="5953125"/>
            <a:ext cx="71437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14288">
            <a:solidFill>
              <a:srgbClr val="B6D8CE"/>
            </a:solidFill>
            <a:prstDash val="solid"/>
          </a:ln>
        </p:spPr>
      </p:sp>
      <p:sp>
        <p:nvSpPr>
          <p:cNvPr id="33" name="">
            <a:extLst xmlns:a="http://schemas.openxmlformats.org/drawingml/2006/main">
              <a:ext uri="{FF2B5EF4-FFF2-40B4-BE49-F238E27FC236}">
                <a16:creationId xmlns:a16="http://schemas.microsoft.com/office/drawing/2014/main" id="{1E660AFC-F447-4A2D-84ED-AD9EC3525C80}"/>
              </a:ext>
            </a:extLst>
          </p:cNvPr>
          <p:cNvSpPr>
            <a:spLocks xmlns:a="http://schemas.openxmlformats.org/drawingml/2006/main" noGrp="1"/>
          </p:cNvSpPr>
          <p:nvPr/>
        </p:nvSpPr>
        <p:spPr>
          <a:xfrm xmlns:a="http://schemas.openxmlformats.org/drawingml/2006/main">
            <a:off x="2667000" y="600075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125" b="0">
                <a:solidFill>
                  <a:srgbClr val="66736F"/>
                </a:solidFill>
                <a:latin typeface="Helvetica Neue"/>
                <a:ea typeface="Helvetica Neue"/>
                <a:cs typeface="Helvetica Neue"/>
              </a:defRPr>
            </a:pPr>
            <a:r>
              <a:rPr sz="1125" b="0">
                <a:solidFill>
                  <a:srgbClr val="66736F"/>
                </a:solidFill>
                <a:latin typeface="Helvetica Neue"/>
                <a:ea typeface="Helvetica Neue"/>
                <a:cs typeface="Helvetica Neue"/>
              </a:rPr>
              <a:t>Scale-out note: multiple server instances would need a shared Socket.IO adapter</a:t>
            </a:r>
          </a:p>
        </p:txBody>
      </p:sp>
    </p:spTree>
    <p:extLst>
      <p:ext uri="{BB962C8B-B14F-4D97-AF65-F5344CB8AC3E}">
        <p14:creationId xmlns:p14="http://schemas.microsoft.com/office/powerpoint/2010/main" val="694800807"/>
      </p:ext>
    </p:extLst>
  </p:cSld>
</p:sld>
</file>

<file path=ppt/slides/slide7.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F33D650-8773-4713-9403-899F436FBCF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E47C6755-D345-4090-9AC9-B994D440C682}"/>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22AE2EF7-ADBD-4305-9E0D-99D3547DCD47}"/>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Socket.IO event design</a:t>
            </a:r>
          </a:p>
        </p:txBody>
      </p:sp>
      <p:sp>
        <p:nvSpPr>
          <p:cNvPr id="4" name="">
            <a:extLst xmlns:a="http://schemas.openxmlformats.org/drawingml/2006/main">
              <a:ext uri="{FF2B5EF4-FFF2-40B4-BE49-F238E27FC236}">
                <a16:creationId xmlns:a16="http://schemas.microsoft.com/office/drawing/2014/main" id="{F2C0D25D-64BB-4C5D-B062-56FD3AF45CD2}"/>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One event announces change; REST returns the role-scoped queue data</a:t>
            </a:r>
          </a:p>
        </p:txBody>
      </p:sp>
      <p:sp>
        <p:nvSpPr>
          <p:cNvPr id="5" name="">
            <a:extLst xmlns:a="http://schemas.openxmlformats.org/drawingml/2006/main">
              <a:ext uri="{FF2B5EF4-FFF2-40B4-BE49-F238E27FC236}">
                <a16:creationId xmlns:a16="http://schemas.microsoft.com/office/drawing/2014/main" id="{5600DC27-780E-4BB2-9B3C-0F3E0019DACC}"/>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A5833E6F-F59C-46FF-BE62-F55FC3383554}"/>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3193F756-5079-4CD4-9314-72EAD78E6547}"/>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CADE5B08-4BF5-4B36-9822-F309E090BD94}"/>
              </a:ext>
            </a:extLst>
          </p:cNvPr>
          <p:cNvSpPr>
            <a:spLocks xmlns:a="http://schemas.openxmlformats.org/drawingml/2006/main" noGrp="1"/>
          </p:cNvSpPr>
          <p:nvPr/>
        </p:nvSpPr>
        <p:spPr>
          <a:xfrm xmlns:a="http://schemas.openxmlformats.org/drawingml/2006/main">
            <a:off x="666750" y="1952625"/>
            <a:ext cx="5143500" cy="3381375"/>
          </a:xfrm>
          <a:prstGeom xmlns:a="http://schemas.openxmlformats.org/drawingml/2006/main" prst="roundRect">
            <a:avLst>
              <a:gd name="adj" fmla="val 5634"/>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4D63EA4-F6DD-4D1E-A03C-8AA09F6A65F4}"/>
              </a:ext>
            </a:extLst>
          </p:cNvPr>
          <p:cNvSpPr>
            <a:spLocks xmlns:a="http://schemas.openxmlformats.org/drawingml/2006/main" noGrp="1"/>
          </p:cNvSpPr>
          <p:nvPr/>
        </p:nvSpPr>
        <p:spPr>
          <a:xfrm xmlns:a="http://schemas.openxmlformats.org/drawingml/2006/main">
            <a:off x="952500" y="21526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83DEC5"/>
                </a:solidFill>
                <a:latin typeface="Helvetica Neue"/>
                <a:ea typeface="Helvetica Neue"/>
                <a:cs typeface="Helvetica Neue"/>
              </a:defRPr>
            </a:pPr>
            <a:r>
              <a:rPr sz="1725" b="1">
                <a:solidFill>
                  <a:srgbClr val="83DEC5"/>
                </a:solidFill>
                <a:latin typeface="Helvetica Neue"/>
                <a:ea typeface="Helvetica Neue"/>
                <a:cs typeface="Helvetica Neue"/>
              </a:rPr>
              <a:t>queue:updated</a:t>
            </a:r>
          </a:p>
        </p:txBody>
      </p:sp>
      <p:sp>
        <p:nvSpPr>
          <p:cNvPr id="10" name="">
            <a:extLst xmlns:a="http://schemas.openxmlformats.org/drawingml/2006/main">
              <a:ext uri="{FF2B5EF4-FFF2-40B4-BE49-F238E27FC236}">
                <a16:creationId xmlns:a16="http://schemas.microsoft.com/office/drawing/2014/main" id="{3C615029-0497-4327-B4C7-A15A81B35970}"/>
              </a:ext>
            </a:extLst>
          </p:cNvPr>
          <p:cNvSpPr>
            <a:spLocks xmlns:a="http://schemas.openxmlformats.org/drawingml/2006/main" noGrp="1"/>
          </p:cNvSpPr>
          <p:nvPr/>
        </p:nvSpPr>
        <p:spPr>
          <a:xfrm xmlns:a="http://schemas.openxmlformats.org/drawingml/2006/main">
            <a:off x="1000125" y="2714625"/>
            <a:ext cx="4381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  "change": "checked-in",</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  "entryId": "...",</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  "changedAt": "2026-09-22T...Z"</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09639955-F3F9-4292-A71C-DD94056A8B30}"/>
              </a:ext>
            </a:extLst>
          </p:cNvPr>
          <p:cNvSpPr>
            <a:spLocks xmlns:a="http://schemas.openxmlformats.org/drawingml/2006/main" noGrp="1"/>
          </p:cNvSpPr>
          <p:nvPr/>
        </p:nvSpPr>
        <p:spPr>
          <a:xfrm xmlns:a="http://schemas.openxmlformats.org/drawingml/2006/main">
            <a:off x="1000125" y="476250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C8BF"/>
                </a:solidFill>
                <a:latin typeface="Helvetica Neue"/>
                <a:ea typeface="Helvetica Neue"/>
                <a:cs typeface="Helvetica Neue"/>
              </a:defRPr>
            </a:pPr>
            <a:r>
              <a:rPr sz="1200" b="0">
                <a:solidFill>
                  <a:srgbClr val="A9C8BF"/>
                </a:solidFill>
                <a:latin typeface="Helvetica Neue"/>
                <a:ea typeface="Helvetica Neue"/>
                <a:cs typeface="Helvetica Neue"/>
              </a:rPr>
              <a:t>Other change values: next-called, cancelled</a:t>
            </a:r>
          </a:p>
        </p:txBody>
      </p:sp>
      <p:sp>
        <p:nvSpPr>
          <p:cNvPr id="12" name="">
            <a:extLst xmlns:a="http://schemas.openxmlformats.org/drawingml/2006/main">
              <a:ext uri="{FF2B5EF4-FFF2-40B4-BE49-F238E27FC236}">
                <a16:creationId xmlns:a16="http://schemas.microsoft.com/office/drawing/2014/main" id="{0F164033-7759-426C-AF83-ACB0DA160DA1}"/>
              </a:ext>
            </a:extLst>
          </p:cNvPr>
          <p:cNvSpPr>
            <a:spLocks xmlns:a="http://schemas.openxmlformats.org/drawingml/2006/main" noGrp="1"/>
          </p:cNvSpPr>
          <p:nvPr/>
        </p:nvSpPr>
        <p:spPr>
          <a:xfrm xmlns:a="http://schemas.openxmlformats.org/drawingml/2006/main">
            <a:off x="6572250" y="19526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123F38"/>
                </a:solidFill>
                <a:latin typeface="Helvetica Neue"/>
                <a:ea typeface="Helvetica Neue"/>
                <a:cs typeface="Helvetica Neue"/>
              </a:defRPr>
            </a:pPr>
            <a:r>
              <a:rPr sz="2025" b="1">
                <a:solidFill>
                  <a:srgbClr val="123F38"/>
                </a:solidFill>
                <a:latin typeface="Helvetica Neue"/>
                <a:ea typeface="Helvetica Neue"/>
                <a:cs typeface="Helvetica Neue"/>
              </a:rPr>
              <a:t>Design decisions</a:t>
            </a:r>
          </a:p>
        </p:txBody>
      </p:sp>
      <p:sp>
        <p:nvSpPr>
          <p:cNvPr id="13" name="">
            <a:extLst xmlns:a="http://schemas.openxmlformats.org/drawingml/2006/main">
              <a:ext uri="{FF2B5EF4-FFF2-40B4-BE49-F238E27FC236}">
                <a16:creationId xmlns:a16="http://schemas.microsoft.com/office/drawing/2014/main" id="{D14E6ABF-9810-4466-88A7-C1182A697680}"/>
              </a:ext>
            </a:extLst>
          </p:cNvPr>
          <p:cNvSpPr>
            <a:spLocks xmlns:a="http://schemas.openxmlformats.org/drawingml/2006/main" noGrp="1"/>
          </p:cNvSpPr>
          <p:nvPr/>
        </p:nvSpPr>
        <p:spPr>
          <a:xfrm xmlns:a="http://schemas.openxmlformats.org/drawingml/2006/main">
            <a:off x="6572250" y="2571750"/>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486FF899-339F-456C-A71A-1055F5430A0B}"/>
              </a:ext>
            </a:extLst>
          </p:cNvPr>
          <p:cNvSpPr>
            <a:spLocks xmlns:a="http://schemas.openxmlformats.org/drawingml/2006/main" noGrp="1"/>
          </p:cNvSpPr>
          <p:nvPr/>
        </p:nvSpPr>
        <p:spPr>
          <a:xfrm xmlns:a="http://schemas.openxmlformats.org/drawingml/2006/main">
            <a:off x="7096125" y="25241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Privacy</a:t>
            </a:r>
          </a:p>
        </p:txBody>
      </p:sp>
      <p:sp>
        <p:nvSpPr>
          <p:cNvPr id="15" name="">
            <a:extLst xmlns:a="http://schemas.openxmlformats.org/drawingml/2006/main">
              <a:ext uri="{FF2B5EF4-FFF2-40B4-BE49-F238E27FC236}">
                <a16:creationId xmlns:a16="http://schemas.microsoft.com/office/drawing/2014/main" id="{75D6AFD1-4DB4-4BC7-9D2B-328181C3D67A}"/>
              </a:ext>
            </a:extLst>
          </p:cNvPr>
          <p:cNvSpPr>
            <a:spLocks xmlns:a="http://schemas.openxmlformats.org/drawingml/2006/main" noGrp="1"/>
          </p:cNvSpPr>
          <p:nvPr/>
        </p:nvSpPr>
        <p:spPr>
          <a:xfrm xmlns:a="http://schemas.openxmlformats.org/drawingml/2006/main">
            <a:off x="7096125" y="28003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No owner or pet details in the event</a:t>
            </a:r>
          </a:p>
        </p:txBody>
      </p:sp>
      <p:sp>
        <p:nvSpPr>
          <p:cNvPr id="16" name="">
            <a:extLst xmlns:a="http://schemas.openxmlformats.org/drawingml/2006/main">
              <a:ext uri="{FF2B5EF4-FFF2-40B4-BE49-F238E27FC236}">
                <a16:creationId xmlns:a16="http://schemas.microsoft.com/office/drawing/2014/main" id="{B8CB9994-1770-49CF-A994-6DE8420FC452}"/>
              </a:ext>
            </a:extLst>
          </p:cNvPr>
          <p:cNvSpPr>
            <a:spLocks xmlns:a="http://schemas.openxmlformats.org/drawingml/2006/main" noGrp="1"/>
          </p:cNvSpPr>
          <p:nvPr/>
        </p:nvSpPr>
        <p:spPr>
          <a:xfrm xmlns:a="http://schemas.openxmlformats.org/drawingml/2006/main">
            <a:off x="6572250" y="3352800"/>
            <a:ext cx="361950" cy="3619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DA1A9BA5-BF85-404F-A1CF-BBE269B1C6BA}"/>
              </a:ext>
            </a:extLst>
          </p:cNvPr>
          <p:cNvSpPr>
            <a:spLocks xmlns:a="http://schemas.openxmlformats.org/drawingml/2006/main" noGrp="1"/>
          </p:cNvSpPr>
          <p:nvPr/>
        </p:nvSpPr>
        <p:spPr>
          <a:xfrm xmlns:a="http://schemas.openxmlformats.org/drawingml/2006/main">
            <a:off x="7096125" y="33051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Authorization</a:t>
            </a:r>
          </a:p>
        </p:txBody>
      </p:sp>
      <p:sp>
        <p:nvSpPr>
          <p:cNvPr id="18" name="">
            <a:extLst xmlns:a="http://schemas.openxmlformats.org/drawingml/2006/main">
              <a:ext uri="{FF2B5EF4-FFF2-40B4-BE49-F238E27FC236}">
                <a16:creationId xmlns:a16="http://schemas.microsoft.com/office/drawing/2014/main" id="{0A79EC17-6A58-4AE8-841F-A5EBAFC7CE3F}"/>
              </a:ext>
            </a:extLst>
          </p:cNvPr>
          <p:cNvSpPr>
            <a:spLocks xmlns:a="http://schemas.openxmlformats.org/drawingml/2006/main" noGrp="1"/>
          </p:cNvSpPr>
          <p:nvPr/>
        </p:nvSpPr>
        <p:spPr>
          <a:xfrm xmlns:a="http://schemas.openxmlformats.org/drawingml/2006/main">
            <a:off x="7096125" y="35814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REST response stays scoped by role and user ID</a:t>
            </a:r>
          </a:p>
        </p:txBody>
      </p:sp>
      <p:sp>
        <p:nvSpPr>
          <p:cNvPr id="19" name="">
            <a:extLst xmlns:a="http://schemas.openxmlformats.org/drawingml/2006/main">
              <a:ext uri="{FF2B5EF4-FFF2-40B4-BE49-F238E27FC236}">
                <a16:creationId xmlns:a16="http://schemas.microsoft.com/office/drawing/2014/main" id="{F9048BC7-9D69-48F9-87C4-4E84E3D9FBED}"/>
              </a:ext>
            </a:extLst>
          </p:cNvPr>
          <p:cNvSpPr>
            <a:spLocks xmlns:a="http://schemas.openxmlformats.org/drawingml/2006/main" noGrp="1"/>
          </p:cNvSpPr>
          <p:nvPr/>
        </p:nvSpPr>
        <p:spPr>
          <a:xfrm xmlns:a="http://schemas.openxmlformats.org/drawingml/2006/main">
            <a:off x="6572250" y="4133850"/>
            <a:ext cx="361950" cy="3619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13BA4700-E62A-41DA-8A3B-34E838C304C6}"/>
              </a:ext>
            </a:extLst>
          </p:cNvPr>
          <p:cNvSpPr>
            <a:spLocks xmlns:a="http://schemas.openxmlformats.org/drawingml/2006/main" noGrp="1"/>
          </p:cNvSpPr>
          <p:nvPr/>
        </p:nvSpPr>
        <p:spPr>
          <a:xfrm xmlns:a="http://schemas.openxmlformats.org/drawingml/2006/main">
            <a:off x="7096125" y="40862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Resilience</a:t>
            </a:r>
          </a:p>
        </p:txBody>
      </p:sp>
      <p:sp>
        <p:nvSpPr>
          <p:cNvPr id="21" name="">
            <a:extLst xmlns:a="http://schemas.openxmlformats.org/drawingml/2006/main">
              <a:ext uri="{FF2B5EF4-FFF2-40B4-BE49-F238E27FC236}">
                <a16:creationId xmlns:a16="http://schemas.microsoft.com/office/drawing/2014/main" id="{A93804C3-5D92-4CFD-994A-32C092429088}"/>
              </a:ext>
            </a:extLst>
          </p:cNvPr>
          <p:cNvSpPr>
            <a:spLocks xmlns:a="http://schemas.openxmlformats.org/drawingml/2006/main" noGrp="1"/>
          </p:cNvSpPr>
          <p:nvPr/>
        </p:nvSpPr>
        <p:spPr>
          <a:xfrm xmlns:a="http://schemas.openxmlformats.org/drawingml/2006/main">
            <a:off x="7096125" y="43624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72"/>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Socket reconnects and the page refreshes every 30 seconds</a:t>
            </a:r>
          </a:p>
        </p:txBody>
      </p:sp>
      <p:sp>
        <p:nvSpPr>
          <p:cNvPr id="22" name="">
            <a:extLst xmlns:a="http://schemas.openxmlformats.org/drawingml/2006/main">
              <a:ext uri="{FF2B5EF4-FFF2-40B4-BE49-F238E27FC236}">
                <a16:creationId xmlns:a16="http://schemas.microsoft.com/office/drawing/2014/main" id="{FBD697C1-4436-4607-8CAF-4C6DFE827BCF}"/>
              </a:ext>
            </a:extLst>
          </p:cNvPr>
          <p:cNvSpPr>
            <a:spLocks xmlns:a="http://schemas.openxmlformats.org/drawingml/2006/main" noGrp="1"/>
          </p:cNvSpPr>
          <p:nvPr/>
        </p:nvSpPr>
        <p:spPr>
          <a:xfrm xmlns:a="http://schemas.openxmlformats.org/drawingml/2006/main">
            <a:off x="6572250" y="4914900"/>
            <a:ext cx="361950" cy="36195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A25FDA5E-7E9E-4B1A-8A8D-3D2D97B1CDB2}"/>
              </a:ext>
            </a:extLst>
          </p:cNvPr>
          <p:cNvSpPr>
            <a:spLocks xmlns:a="http://schemas.openxmlformats.org/drawingml/2006/main" noGrp="1"/>
          </p:cNvSpPr>
          <p:nvPr/>
        </p:nvSpPr>
        <p:spPr>
          <a:xfrm xmlns:a="http://schemas.openxmlformats.org/drawingml/2006/main">
            <a:off x="7096125" y="48672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Simplicity</a:t>
            </a:r>
          </a:p>
        </p:txBody>
      </p:sp>
      <p:sp>
        <p:nvSpPr>
          <p:cNvPr id="24" name="">
            <a:extLst xmlns:a="http://schemas.openxmlformats.org/drawingml/2006/main">
              <a:ext uri="{FF2B5EF4-FFF2-40B4-BE49-F238E27FC236}">
                <a16:creationId xmlns:a16="http://schemas.microsoft.com/office/drawing/2014/main" id="{2C790AE5-F14D-48B6-ACDB-52CA5BE466F2}"/>
              </a:ext>
            </a:extLst>
          </p:cNvPr>
          <p:cNvSpPr>
            <a:spLocks xmlns:a="http://schemas.openxmlformats.org/drawingml/2006/main" noGrp="1"/>
          </p:cNvSpPr>
          <p:nvPr/>
        </p:nvSpPr>
        <p:spPr>
          <a:xfrm xmlns:a="http://schemas.openxmlformats.org/drawingml/2006/main">
            <a:off x="7096125" y="514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One event triggers the same refresh behavior</a:t>
            </a:r>
          </a:p>
        </p:txBody>
      </p:sp>
      <p:sp>
        <p:nvSpPr>
          <p:cNvPr id="25" name="">
            <a:extLst xmlns:a="http://schemas.openxmlformats.org/drawingml/2006/main">
              <a:ext uri="{FF2B5EF4-FFF2-40B4-BE49-F238E27FC236}">
                <a16:creationId xmlns:a16="http://schemas.microsoft.com/office/drawing/2014/main" id="{14C81694-F6B1-4244-83F4-3B8B3A934D16}"/>
              </a:ext>
            </a:extLst>
          </p:cNvPr>
          <p:cNvSpPr>
            <a:spLocks xmlns:a="http://schemas.openxmlformats.org/drawingml/2006/main" noGrp="1"/>
          </p:cNvSpPr>
          <p:nvPr/>
        </p:nvSpPr>
        <p:spPr>
          <a:xfrm xmlns:a="http://schemas.openxmlformats.org/drawingml/2006/main">
            <a:off x="6572250" y="5810250"/>
            <a:ext cx="4524375" cy="400050"/>
          </a:xfrm>
          <a:prstGeom xmlns:a="http://schemas.openxmlformats.org/drawingml/2006/main" prst="roundRect">
            <a:avLst>
              <a:gd name="adj" fmla="val 28571"/>
            </a:avLst>
          </a:prstGeom>
          <a:solidFill xmlns:a="http://schemas.openxmlformats.org/drawingml/2006/main">
            <a:srgbClr val="F8E2DF"/>
          </a:solidFill>
          <a:ln xmlns:a="http://schemas.openxmlformats.org/drawingml/2006/main" w="14288">
            <a:solidFill>
              <a:srgbClr val="C85B55"/>
            </a:solidFill>
            <a:prstDash val="solid"/>
          </a:ln>
        </p:spPr>
      </p:sp>
      <p:sp>
        <p:nvSpPr>
          <p:cNvPr id="26" name="">
            <a:extLst xmlns:a="http://schemas.openxmlformats.org/drawingml/2006/main">
              <a:ext uri="{FF2B5EF4-FFF2-40B4-BE49-F238E27FC236}">
                <a16:creationId xmlns:a16="http://schemas.microsoft.com/office/drawing/2014/main" id="{62690064-1414-4B4C-B755-01CDD68D0B66}"/>
              </a:ext>
            </a:extLst>
          </p:cNvPr>
          <p:cNvSpPr>
            <a:spLocks xmlns:a="http://schemas.openxmlformats.org/drawingml/2006/main" noGrp="1"/>
          </p:cNvSpPr>
          <p:nvPr/>
        </p:nvSpPr>
        <p:spPr>
          <a:xfrm xmlns:a="http://schemas.openxmlformats.org/drawingml/2006/main">
            <a:off x="6715125" y="5857875"/>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182"/>
          </a:bodyPr>
          <a:lstStyle xmlns:a="http://schemas.openxmlformats.org/drawingml/2006/main"/>
          <a:p xmlns:a="http://schemas.openxmlformats.org/drawingml/2006/main">
            <a:pPr algn="ctr">
              <a:defRPr sz="1050" b="1">
                <a:solidFill>
                  <a:srgbClr val="C85B55"/>
                </a:solidFill>
                <a:latin typeface="Helvetica Neue"/>
                <a:ea typeface="Helvetica Neue"/>
                <a:cs typeface="Helvetica Neue"/>
              </a:defRPr>
            </a:pPr>
            <a:r>
              <a:rPr sz="1050" b="1">
                <a:solidFill>
                  <a:srgbClr val="C85B55"/>
                </a:solidFill>
                <a:latin typeface="Helvetica Neue"/>
                <a:ea typeface="Helvetica Neue"/>
                <a:cs typeface="Helvetica Neue"/>
              </a:rPr>
              <a:t>Current limitation: userId identifies the caller; production needs secure sessions or tokens</a:t>
            </a:r>
          </a:p>
        </p:txBody>
      </p:sp>
    </p:spTree>
    <p:extLst>
      <p:ext uri="{BB962C8B-B14F-4D97-AF65-F5344CB8AC3E}">
        <p14:creationId xmlns:p14="http://schemas.microsoft.com/office/powerpoint/2010/main" val="1089716035"/>
      </p:ext>
    </p:extLst>
  </p:cSld>
</p:sld>
</file>

<file path=ppt/slides/slide8.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98D0BCA-67F8-425B-B217-1DA319D7CB3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BF5C4614-101C-4B21-B938-14546829D302}"/>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65167FA-3A7C-460A-9406-9DE13204009B}"/>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Implementation plan and runnable proof</a:t>
            </a:r>
          </a:p>
        </p:txBody>
      </p:sp>
      <p:sp>
        <p:nvSpPr>
          <p:cNvPr id="4" name="">
            <a:extLst xmlns:a="http://schemas.openxmlformats.org/drawingml/2006/main">
              <a:ext uri="{FF2B5EF4-FFF2-40B4-BE49-F238E27FC236}">
                <a16:creationId xmlns:a16="http://schemas.microsoft.com/office/drawing/2014/main" id="{0A5045D3-B349-4095-9D6B-714013453DF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Four layers turn queue actions into reliable live updates</a:t>
            </a:r>
          </a:p>
        </p:txBody>
      </p:sp>
      <p:sp>
        <p:nvSpPr>
          <p:cNvPr id="5" name="">
            <a:extLst xmlns:a="http://schemas.openxmlformats.org/drawingml/2006/main">
              <a:ext uri="{FF2B5EF4-FFF2-40B4-BE49-F238E27FC236}">
                <a16:creationId xmlns:a16="http://schemas.microsoft.com/office/drawing/2014/main" id="{41E803A2-8521-446A-AA7A-E5A382B21A95}"/>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9FAEA8E3-69B2-4831-80AE-380E77AF4D1E}"/>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C8910FF6-F39E-4840-B335-AEB7E37631FD}"/>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DD2A065B-004C-447A-A0F2-1180B7B43B40}"/>
              </a:ext>
            </a:extLst>
          </p:cNvPr>
          <p:cNvSpPr>
            <a:spLocks xmlns:a="http://schemas.openxmlformats.org/drawingml/2006/main" noGrp="1"/>
          </p:cNvSpPr>
          <p:nvPr/>
        </p:nvSpPr>
        <p:spPr>
          <a:xfrm xmlns:a="http://schemas.openxmlformats.org/drawingml/2006/main">
            <a:off x="685800" y="19526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128189C2-25A7-4E86-A42B-39A5F7D4860A}"/>
              </a:ext>
            </a:extLst>
          </p:cNvPr>
          <p:cNvSpPr>
            <a:spLocks xmlns:a="http://schemas.openxmlformats.org/drawingml/2006/main" noGrp="1"/>
          </p:cNvSpPr>
          <p:nvPr/>
        </p:nvSpPr>
        <p:spPr>
          <a:xfrm xmlns:a="http://schemas.openxmlformats.org/drawingml/2006/main">
            <a:off x="1257300" y="21240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0" name="">
            <a:extLst xmlns:a="http://schemas.openxmlformats.org/drawingml/2006/main">
              <a:ext uri="{FF2B5EF4-FFF2-40B4-BE49-F238E27FC236}">
                <a16:creationId xmlns:a16="http://schemas.microsoft.com/office/drawing/2014/main" id="{1DFC0BDC-4385-4A68-9CD2-2BC879D49A6E}"/>
              </a:ext>
            </a:extLst>
          </p:cNvPr>
          <p:cNvSpPr>
            <a:spLocks xmlns:a="http://schemas.openxmlformats.org/drawingml/2006/main" noGrp="1"/>
          </p:cNvSpPr>
          <p:nvPr/>
        </p:nvSpPr>
        <p:spPr>
          <a:xfrm xmlns:a="http://schemas.openxmlformats.org/drawingml/2006/main">
            <a:off x="1924050" y="19526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Database</a:t>
            </a:r>
          </a:p>
        </p:txBody>
      </p:sp>
      <p:sp>
        <p:nvSpPr>
          <p:cNvPr id="11" name="">
            <a:extLst xmlns:a="http://schemas.openxmlformats.org/drawingml/2006/main">
              <a:ext uri="{FF2B5EF4-FFF2-40B4-BE49-F238E27FC236}">
                <a16:creationId xmlns:a16="http://schemas.microsoft.com/office/drawing/2014/main" id="{3870FF30-E368-49CD-8234-10DDD17B3EDD}"/>
              </a:ext>
            </a:extLst>
          </p:cNvPr>
          <p:cNvSpPr>
            <a:spLocks xmlns:a="http://schemas.openxmlformats.org/drawingml/2006/main" noGrp="1"/>
          </p:cNvSpPr>
          <p:nvPr/>
        </p:nvSpPr>
        <p:spPr>
          <a:xfrm xmlns:a="http://schemas.openxmlformats.org/drawingml/2006/main">
            <a:off x="3857625" y="19526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508"/>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Queue table, status constraint, ordering indexes</a:t>
            </a:r>
          </a:p>
        </p:txBody>
      </p:sp>
      <p:sp>
        <p:nvSpPr>
          <p:cNvPr id="12" name="">
            <a:extLst xmlns:a="http://schemas.openxmlformats.org/drawingml/2006/main">
              <a:ext uri="{FF2B5EF4-FFF2-40B4-BE49-F238E27FC236}">
                <a16:creationId xmlns:a16="http://schemas.microsoft.com/office/drawing/2014/main" id="{7AE6E335-DE03-433A-95D9-ECBF7771A6F9}"/>
              </a:ext>
            </a:extLst>
          </p:cNvPr>
          <p:cNvSpPr>
            <a:spLocks xmlns:a="http://schemas.openxmlformats.org/drawingml/2006/main" noGrp="1"/>
          </p:cNvSpPr>
          <p:nvPr/>
        </p:nvSpPr>
        <p:spPr>
          <a:xfrm xmlns:a="http://schemas.openxmlformats.org/drawingml/2006/main">
            <a:off x="685800" y="28289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B12F812D-FF32-42DA-9282-15D2CE2B214C}"/>
              </a:ext>
            </a:extLst>
          </p:cNvPr>
          <p:cNvSpPr>
            <a:spLocks xmlns:a="http://schemas.openxmlformats.org/drawingml/2006/main" noGrp="1"/>
          </p:cNvSpPr>
          <p:nvPr/>
        </p:nvSpPr>
        <p:spPr>
          <a:xfrm xmlns:a="http://schemas.openxmlformats.org/drawingml/2006/main">
            <a:off x="1257300" y="30003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4" name="">
            <a:extLst xmlns:a="http://schemas.openxmlformats.org/drawingml/2006/main">
              <a:ext uri="{FF2B5EF4-FFF2-40B4-BE49-F238E27FC236}">
                <a16:creationId xmlns:a16="http://schemas.microsoft.com/office/drawing/2014/main" id="{10FA56E0-273B-4846-BDA4-200E271047C0}"/>
              </a:ext>
            </a:extLst>
          </p:cNvPr>
          <p:cNvSpPr>
            <a:spLocks xmlns:a="http://schemas.openxmlformats.org/drawingml/2006/main" noGrp="1"/>
          </p:cNvSpPr>
          <p:nvPr/>
        </p:nvSpPr>
        <p:spPr>
          <a:xfrm xmlns:a="http://schemas.openxmlformats.org/drawingml/2006/main">
            <a:off x="1924050" y="2828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REST API</a:t>
            </a:r>
          </a:p>
        </p:txBody>
      </p:sp>
      <p:sp>
        <p:nvSpPr>
          <p:cNvPr id="15" name="">
            <a:extLst xmlns:a="http://schemas.openxmlformats.org/drawingml/2006/main">
              <a:ext uri="{FF2B5EF4-FFF2-40B4-BE49-F238E27FC236}">
                <a16:creationId xmlns:a16="http://schemas.microsoft.com/office/drawing/2014/main" id="{75CE211B-336B-43D4-B145-92E6BC2F9754}"/>
              </a:ext>
            </a:extLst>
          </p:cNvPr>
          <p:cNvSpPr>
            <a:spLocks xmlns:a="http://schemas.openxmlformats.org/drawingml/2006/main" noGrp="1"/>
          </p:cNvSpPr>
          <p:nvPr/>
        </p:nvSpPr>
        <p:spPr>
          <a:xfrm xmlns:a="http://schemas.openxmlformats.org/drawingml/2006/main">
            <a:off x="3857625" y="28289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Check in, list, current, next, and cancel</a:t>
            </a:r>
          </a:p>
        </p:txBody>
      </p:sp>
      <p:sp>
        <p:nvSpPr>
          <p:cNvPr id="16" name="">
            <a:extLst xmlns:a="http://schemas.openxmlformats.org/drawingml/2006/main">
              <a:ext uri="{FF2B5EF4-FFF2-40B4-BE49-F238E27FC236}">
                <a16:creationId xmlns:a16="http://schemas.microsoft.com/office/drawing/2014/main" id="{B7EC7B62-DE02-493F-A873-1924733C8FDF}"/>
              </a:ext>
            </a:extLst>
          </p:cNvPr>
          <p:cNvSpPr>
            <a:spLocks xmlns:a="http://schemas.openxmlformats.org/drawingml/2006/main" noGrp="1"/>
          </p:cNvSpPr>
          <p:nvPr/>
        </p:nvSpPr>
        <p:spPr>
          <a:xfrm xmlns:a="http://schemas.openxmlformats.org/drawingml/2006/main">
            <a:off x="685800" y="3705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30245D41-B861-4CC9-B829-CC0A8FEA3F5B}"/>
              </a:ext>
            </a:extLst>
          </p:cNvPr>
          <p:cNvSpPr>
            <a:spLocks xmlns:a="http://schemas.openxmlformats.org/drawingml/2006/main" noGrp="1"/>
          </p:cNvSpPr>
          <p:nvPr/>
        </p:nvSpPr>
        <p:spPr>
          <a:xfrm xmlns:a="http://schemas.openxmlformats.org/drawingml/2006/main">
            <a:off x="1257300" y="38766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8" name="">
            <a:extLst xmlns:a="http://schemas.openxmlformats.org/drawingml/2006/main">
              <a:ext uri="{FF2B5EF4-FFF2-40B4-BE49-F238E27FC236}">
                <a16:creationId xmlns:a16="http://schemas.microsoft.com/office/drawing/2014/main" id="{FB2AF1A2-583B-4547-9B0E-CA87225B1E46}"/>
              </a:ext>
            </a:extLst>
          </p:cNvPr>
          <p:cNvSpPr>
            <a:spLocks xmlns:a="http://schemas.openxmlformats.org/drawingml/2006/main" noGrp="1"/>
          </p:cNvSpPr>
          <p:nvPr/>
        </p:nvSpPr>
        <p:spPr>
          <a:xfrm xmlns:a="http://schemas.openxmlformats.org/drawingml/2006/main">
            <a:off x="1924050" y="3705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90482968-4378-4EBE-B3D2-35C88D9EC87B}"/>
              </a:ext>
            </a:extLst>
          </p:cNvPr>
          <p:cNvSpPr>
            <a:spLocks xmlns:a="http://schemas.openxmlformats.org/drawingml/2006/main" noGrp="1"/>
          </p:cNvSpPr>
          <p:nvPr/>
        </p:nvSpPr>
        <p:spPr>
          <a:xfrm xmlns:a="http://schemas.openxmlformats.org/drawingml/2006/main">
            <a:off x="3857625" y="37052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142"/>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Join queue room and emit after success</a:t>
            </a:r>
          </a:p>
        </p:txBody>
      </p:sp>
      <p:sp>
        <p:nvSpPr>
          <p:cNvPr id="20" name="">
            <a:extLst xmlns:a="http://schemas.openxmlformats.org/drawingml/2006/main">
              <a:ext uri="{FF2B5EF4-FFF2-40B4-BE49-F238E27FC236}">
                <a16:creationId xmlns:a16="http://schemas.microsoft.com/office/drawing/2014/main" id="{8FDA2DB1-186B-47A9-BCC8-9C213428F9CA}"/>
              </a:ext>
            </a:extLst>
          </p:cNvPr>
          <p:cNvSpPr>
            <a:spLocks xmlns:a="http://schemas.openxmlformats.org/drawingml/2006/main" noGrp="1"/>
          </p:cNvSpPr>
          <p:nvPr/>
        </p:nvSpPr>
        <p:spPr>
          <a:xfrm xmlns:a="http://schemas.openxmlformats.org/drawingml/2006/main">
            <a:off x="685800" y="45815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A9D751A0-4339-4A61-8C81-E0BC7D30DE16}"/>
              </a:ext>
            </a:extLst>
          </p:cNvPr>
          <p:cNvSpPr>
            <a:spLocks xmlns:a="http://schemas.openxmlformats.org/drawingml/2006/main" noGrp="1"/>
          </p:cNvSpPr>
          <p:nvPr/>
        </p:nvSpPr>
        <p:spPr>
          <a:xfrm xmlns:a="http://schemas.openxmlformats.org/drawingml/2006/main">
            <a:off x="1257300" y="47529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22" name="">
            <a:extLst xmlns:a="http://schemas.openxmlformats.org/drawingml/2006/main">
              <a:ext uri="{FF2B5EF4-FFF2-40B4-BE49-F238E27FC236}">
                <a16:creationId xmlns:a16="http://schemas.microsoft.com/office/drawing/2014/main" id="{5C201503-F585-485D-80BA-4B890BAADE99}"/>
              </a:ext>
            </a:extLst>
          </p:cNvPr>
          <p:cNvSpPr>
            <a:spLocks xmlns:a="http://schemas.openxmlformats.org/drawingml/2006/main" noGrp="1"/>
          </p:cNvSpPr>
          <p:nvPr/>
        </p:nvSpPr>
        <p:spPr>
          <a:xfrm xmlns:a="http://schemas.openxmlformats.org/drawingml/2006/main">
            <a:off x="1924050" y="45815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React client</a:t>
            </a:r>
          </a:p>
        </p:txBody>
      </p:sp>
      <p:sp>
        <p:nvSpPr>
          <p:cNvPr id="23" name="">
            <a:extLst xmlns:a="http://schemas.openxmlformats.org/drawingml/2006/main">
              <a:ext uri="{FF2B5EF4-FFF2-40B4-BE49-F238E27FC236}">
                <a16:creationId xmlns:a16="http://schemas.microsoft.com/office/drawing/2014/main" id="{E2923DEE-5F49-45CE-AF25-D927EEAFF7D1}"/>
              </a:ext>
            </a:extLst>
          </p:cNvPr>
          <p:cNvSpPr>
            <a:spLocks xmlns:a="http://schemas.openxmlformats.org/drawingml/2006/main" noGrp="1"/>
          </p:cNvSpPr>
          <p:nvPr/>
        </p:nvSpPr>
        <p:spPr>
          <a:xfrm xmlns:a="http://schemas.openxmlformats.org/drawingml/2006/main">
            <a:off x="3857625" y="45815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Listen, reconnect, refresh, and clean up</a:t>
            </a:r>
          </a:p>
        </p:txBody>
      </p:sp>
      <p:sp>
        <p:nvSpPr>
          <p:cNvPr id="24" name="">
            <a:extLst xmlns:a="http://schemas.openxmlformats.org/drawingml/2006/main">
              <a:ext uri="{FF2B5EF4-FFF2-40B4-BE49-F238E27FC236}">
                <a16:creationId xmlns:a16="http://schemas.microsoft.com/office/drawing/2014/main" id="{393FA619-FEE1-4C5F-92BE-2E07B6013791}"/>
              </a:ext>
            </a:extLst>
          </p:cNvPr>
          <p:cNvSpPr>
            <a:spLocks xmlns:a="http://schemas.openxmlformats.org/drawingml/2006/main" noGrp="1"/>
          </p:cNvSpPr>
          <p:nvPr/>
        </p:nvSpPr>
        <p:spPr>
          <a:xfrm xmlns:a="http://schemas.openxmlformats.org/drawingml/2006/main">
            <a:off x="7381875" y="1809750"/>
            <a:ext cx="3905250" cy="3810000"/>
          </a:xfrm>
          <a:prstGeom xmlns:a="http://schemas.openxmlformats.org/drawingml/2006/main" prst="roundRect">
            <a:avLst>
              <a:gd name="adj" fmla="val 5000"/>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8F451987-77A5-4DCD-9EE9-32B9CC1517C2}"/>
              </a:ext>
            </a:extLst>
          </p:cNvPr>
          <p:cNvSpPr>
            <a:spLocks xmlns:a="http://schemas.openxmlformats.org/drawingml/2006/main" noGrp="1"/>
          </p:cNvSpPr>
          <p:nvPr/>
        </p:nvSpPr>
        <p:spPr>
          <a:xfrm xmlns:a="http://schemas.openxmlformats.org/drawingml/2006/main">
            <a:off x="7715250" y="2047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83DEC5"/>
                </a:solidFill>
                <a:latin typeface="Helvetica Neue"/>
                <a:ea typeface="Helvetica Neue"/>
                <a:cs typeface="Helvetica Neue"/>
              </a:defRPr>
            </a:pPr>
            <a:r>
              <a:rPr sz="1275" b="1">
                <a:solidFill>
                  <a:srgbClr val="83DEC5"/>
                </a:solidFill>
                <a:latin typeface="Helvetica Neue"/>
                <a:ea typeface="Helvetica Neue"/>
                <a:cs typeface="Helvetica Neue"/>
              </a:rPr>
              <a:t>RUNNABLE PROOF</a:t>
            </a:r>
          </a:p>
        </p:txBody>
      </p:sp>
      <p:sp>
        <p:nvSpPr>
          <p:cNvPr id="26" name="">
            <a:extLst xmlns:a="http://schemas.openxmlformats.org/drawingml/2006/main">
              <a:ext uri="{FF2B5EF4-FFF2-40B4-BE49-F238E27FC236}">
                <a16:creationId xmlns:a16="http://schemas.microsoft.com/office/drawing/2014/main" id="{1915BCDA-9B14-4B20-991A-1AC52163E2B8}"/>
              </a:ext>
            </a:extLst>
          </p:cNvPr>
          <p:cNvSpPr>
            <a:spLocks xmlns:a="http://schemas.openxmlformats.org/drawingml/2006/main" noGrp="1"/>
          </p:cNvSpPr>
          <p:nvPr/>
        </p:nvSpPr>
        <p:spPr>
          <a:xfrm xmlns:a="http://schemas.openxmlformats.org/drawingml/2006/main">
            <a:off x="7715250" y="25336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Backend</a:t>
            </a:r>
          </a:p>
        </p:txBody>
      </p:sp>
      <p:sp>
        <p:nvSpPr>
          <p:cNvPr id="27" name="">
            <a:extLst xmlns:a="http://schemas.openxmlformats.org/drawingml/2006/main">
              <a:ext uri="{FF2B5EF4-FFF2-40B4-BE49-F238E27FC236}">
                <a16:creationId xmlns:a16="http://schemas.microsoft.com/office/drawing/2014/main" id="{380E022A-93DC-4D26-A2C2-9C361E30BC27}"/>
              </a:ext>
            </a:extLst>
          </p:cNvPr>
          <p:cNvSpPr>
            <a:spLocks xmlns:a="http://schemas.openxmlformats.org/drawingml/2006/main" noGrp="1"/>
          </p:cNvSpPr>
          <p:nvPr/>
        </p:nvSpPr>
        <p:spPr>
          <a:xfrm xmlns:a="http://schemas.openxmlformats.org/drawingml/2006/main">
            <a:off x="7715250" y="285750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db:migrate</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28" name="">
            <a:extLst xmlns:a="http://schemas.openxmlformats.org/drawingml/2006/main">
              <a:ext uri="{FF2B5EF4-FFF2-40B4-BE49-F238E27FC236}">
                <a16:creationId xmlns:a16="http://schemas.microsoft.com/office/drawing/2014/main" id="{B0A00CC4-C667-4087-9BE5-F49D9B74F403}"/>
              </a:ext>
            </a:extLst>
          </p:cNvPr>
          <p:cNvSpPr>
            <a:spLocks xmlns:a="http://schemas.openxmlformats.org/drawingml/2006/main" noGrp="1"/>
          </p:cNvSpPr>
          <p:nvPr/>
        </p:nvSpPr>
        <p:spPr>
          <a:xfrm xmlns:a="http://schemas.openxmlformats.org/drawingml/2006/main">
            <a:off x="7715250" y="3714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Frontend</a:t>
            </a:r>
          </a:p>
        </p:txBody>
      </p:sp>
      <p:sp>
        <p:nvSpPr>
          <p:cNvPr id="29" name="">
            <a:extLst xmlns:a="http://schemas.openxmlformats.org/drawingml/2006/main">
              <a:ext uri="{FF2B5EF4-FFF2-40B4-BE49-F238E27FC236}">
                <a16:creationId xmlns:a16="http://schemas.microsoft.com/office/drawing/2014/main" id="{7591CFC4-A22E-4885-B713-A90610FD61D2}"/>
              </a:ext>
            </a:extLst>
          </p:cNvPr>
          <p:cNvSpPr>
            <a:spLocks xmlns:a="http://schemas.openxmlformats.org/drawingml/2006/main" noGrp="1"/>
          </p:cNvSpPr>
          <p:nvPr/>
        </p:nvSpPr>
        <p:spPr>
          <a:xfrm xmlns:a="http://schemas.openxmlformats.org/drawingml/2006/main">
            <a:off x="7715250" y="40386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30" name="">
            <a:extLst xmlns:a="http://schemas.openxmlformats.org/drawingml/2006/main">
              <a:ext uri="{FF2B5EF4-FFF2-40B4-BE49-F238E27FC236}">
                <a16:creationId xmlns:a16="http://schemas.microsoft.com/office/drawing/2014/main" id="{43D7AAD7-1250-4043-9B89-71E6D1FDDA07}"/>
              </a:ext>
            </a:extLst>
          </p:cNvPr>
          <p:cNvSpPr>
            <a:spLocks xmlns:a="http://schemas.openxmlformats.org/drawingml/2006/main" noGrp="1"/>
          </p:cNvSpPr>
          <p:nvPr/>
        </p:nvSpPr>
        <p:spPr>
          <a:xfrm xmlns:a="http://schemas.openxmlformats.org/drawingml/2006/main">
            <a:off x="7715250" y="4762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Verification</a:t>
            </a:r>
          </a:p>
        </p:txBody>
      </p:sp>
      <p:sp>
        <p:nvSpPr>
          <p:cNvPr id="31" name="">
            <a:extLst xmlns:a="http://schemas.openxmlformats.org/drawingml/2006/main">
              <a:ext uri="{FF2B5EF4-FFF2-40B4-BE49-F238E27FC236}">
                <a16:creationId xmlns:a16="http://schemas.microsoft.com/office/drawing/2014/main" id="{02ABA27B-B52D-4D8C-90D7-59DB847DE61E}"/>
              </a:ext>
            </a:extLst>
          </p:cNvPr>
          <p:cNvSpPr>
            <a:spLocks xmlns:a="http://schemas.openxmlformats.org/drawingml/2006/main" noGrp="1"/>
          </p:cNvSpPr>
          <p:nvPr/>
        </p:nvSpPr>
        <p:spPr>
          <a:xfrm xmlns:a="http://schemas.openxmlformats.org/drawingml/2006/main">
            <a:off x="7715250" y="50863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build</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queue integration test</a:t>
            </a:r>
          </a:p>
        </p:txBody>
      </p:sp>
      <p:sp>
        <p:nvSpPr>
          <p:cNvPr id="32" name="">
            <a:extLst xmlns:a="http://schemas.openxmlformats.org/drawingml/2006/main">
              <a:ext uri="{FF2B5EF4-FFF2-40B4-BE49-F238E27FC236}">
                <a16:creationId xmlns:a16="http://schemas.microsoft.com/office/drawing/2014/main" id="{4A76C4C3-B098-44CE-87D4-5DCE6941C19C}"/>
              </a:ext>
            </a:extLst>
          </p:cNvPr>
          <p:cNvSpPr>
            <a:spLocks xmlns:a="http://schemas.openxmlformats.org/drawingml/2006/main" noGrp="1"/>
          </p:cNvSpPr>
          <p:nvPr/>
        </p:nvSpPr>
        <p:spPr>
          <a:xfrm xmlns:a="http://schemas.openxmlformats.org/drawingml/2006/main">
            <a:off x="714375" y="5762625"/>
            <a:ext cx="10239375" cy="428625"/>
          </a:xfrm>
          <a:prstGeom xmlns:a="http://schemas.openxmlformats.org/drawingml/2006/main" prst="roundRect">
            <a:avLst>
              <a:gd name="adj" fmla="val 26667"/>
            </a:avLst>
          </a:prstGeom>
          <a:solidFill xmlns:a="http://schemas.openxmlformats.org/drawingml/2006/main">
            <a:srgbClr val="DCF4EC"/>
          </a:solidFill>
          <a:ln xmlns:a="http://schemas.openxmlformats.org/drawingml/2006/main" w="14288">
            <a:solidFill>
              <a:srgbClr val="8ACDBA"/>
            </a:solidFill>
            <a:prstDash val="solid"/>
          </a:ln>
        </p:spPr>
      </p:sp>
      <p:sp>
        <p:nvSpPr>
          <p:cNvPr id="33" name="">
            <a:extLst xmlns:a="http://schemas.openxmlformats.org/drawingml/2006/main">
              <a:ext uri="{FF2B5EF4-FFF2-40B4-BE49-F238E27FC236}">
                <a16:creationId xmlns:a16="http://schemas.microsoft.com/office/drawing/2014/main" id="{49443AD4-F68E-4DB7-BBE6-345805A35656}"/>
              </a:ext>
            </a:extLst>
          </p:cNvPr>
          <p:cNvSpPr>
            <a:spLocks xmlns:a="http://schemas.openxmlformats.org/drawingml/2006/main" noGrp="1"/>
          </p:cNvSpPr>
          <p:nvPr/>
        </p:nvSpPr>
        <p:spPr>
          <a:xfrm xmlns:a="http://schemas.openxmlformats.org/drawingml/2006/main">
            <a:off x="904875" y="5829300"/>
            <a:ext cx="985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123F38"/>
                </a:solidFill>
                <a:latin typeface="Helvetica Neue"/>
                <a:ea typeface="Helvetica Neue"/>
                <a:cs typeface="Helvetica Neue"/>
              </a:defRPr>
            </a:pPr>
            <a:r>
              <a:rPr sz="1200" b="1">
                <a:solidFill>
                  <a:srgbClr val="123F38"/>
                </a:solidFill>
                <a:latin typeface="Helvetica Neue"/>
                <a:ea typeface="Helvetica Neue"/>
                <a:cs typeface="Helvetica Neue"/>
              </a:rPr>
              <a:t>Database rules prevent two active entries for one pet and more than one SERVING patient</a:t>
            </a:r>
          </a:p>
        </p:txBody>
      </p:sp>
    </p:spTree>
    <p:extLst>
      <p:ext uri="{BB962C8B-B14F-4D97-AF65-F5344CB8AC3E}">
        <p14:creationId xmlns:p14="http://schemas.microsoft.com/office/powerpoint/2010/main" val="1626587666"/>
      </p:ext>
    </p:extLst>
  </p:cSld>
</p:sld>
</file>

<file path=ppt/slides/slide9.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79F452-A130-4150-985D-5B37F39B75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5B0357DD-9C8E-4ECC-9997-92455770CE2B}"/>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262E5F29-3A0C-48CA-94E9-1F639887D648}"/>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Live demonstration and testing</a:t>
            </a:r>
          </a:p>
        </p:txBody>
      </p:sp>
      <p:sp>
        <p:nvSpPr>
          <p:cNvPr id="4" name="">
            <a:extLst xmlns:a="http://schemas.openxmlformats.org/drawingml/2006/main">
              <a:ext uri="{FF2B5EF4-FFF2-40B4-BE49-F238E27FC236}">
                <a16:creationId xmlns:a16="http://schemas.microsoft.com/office/drawing/2014/main" id="{E6E2A3F7-8F02-49C5-A80A-AC0FCD0B01C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Two browser windows show the same queue changing in real time</a:t>
            </a:r>
          </a:p>
        </p:txBody>
      </p:sp>
      <p:sp>
        <p:nvSpPr>
          <p:cNvPr id="5" name="">
            <a:extLst xmlns:a="http://schemas.openxmlformats.org/drawingml/2006/main">
              <a:ext uri="{FF2B5EF4-FFF2-40B4-BE49-F238E27FC236}">
                <a16:creationId xmlns:a16="http://schemas.microsoft.com/office/drawing/2014/main" id="{86BBB21F-66CD-4CFE-9246-70D10C6F69EB}"/>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52C39107-16BB-40AE-BAEC-DB76589FDEFA}"/>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BAA053BF-FB1A-4DDF-B13B-1877AB5F9CC3}"/>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9</a:t>
            </a:r>
          </a:p>
        </p:txBody>
      </p:sp>
      <p:sp>
        <p:nvSpPr>
          <p:cNvPr id="8" name="">
            <a:extLst xmlns:a="http://schemas.openxmlformats.org/drawingml/2006/main">
              <a:ext uri="{FF2B5EF4-FFF2-40B4-BE49-F238E27FC236}">
                <a16:creationId xmlns:a16="http://schemas.microsoft.com/office/drawing/2014/main" id="{6BF7CBD7-1CA5-446C-8789-2009E1A27A72}"/>
              </a:ext>
            </a:extLst>
          </p:cNvPr>
          <p:cNvSpPr>
            <a:spLocks xmlns:a="http://schemas.openxmlformats.org/drawingml/2006/main" noGrp="1"/>
          </p:cNvSpPr>
          <p:nvPr/>
        </p:nvSpPr>
        <p:spPr>
          <a:xfrm xmlns:a="http://schemas.openxmlformats.org/drawingml/2006/main">
            <a:off x="619125" y="1857375"/>
            <a:ext cx="5191125" cy="3905250"/>
          </a:xfrm>
          <a:prstGeom xmlns:a="http://schemas.openxmlformats.org/drawingml/2006/main" prst="roundRect">
            <a:avLst>
              <a:gd name="adj" fmla="val 4878"/>
            </a:avLst>
          </a:prstGeom>
          <a:solidFill xmlns:a="http://schemas.openxmlformats.org/drawingml/2006/main">
            <a:srgbClr val="F8E5D2"/>
          </a:solidFill>
          <a:ln xmlns:a="http://schemas.openxmlformats.org/drawingml/2006/main" w="14288">
            <a:solidFill>
              <a:srgbClr val="C98A3D"/>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0C051AC-4A78-4C6B-A42A-913299ABA989}"/>
              </a:ext>
            </a:extLst>
          </p:cNvPr>
          <p:cNvSpPr>
            <a:spLocks xmlns:a="http://schemas.openxmlformats.org/drawingml/2006/main" noGrp="1"/>
          </p:cNvSpPr>
          <p:nvPr/>
        </p:nvSpPr>
        <p:spPr>
          <a:xfrm xmlns:a="http://schemas.openxmlformats.org/drawingml/2006/main">
            <a:off x="904875"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C98A3D"/>
                </a:solidFill>
                <a:latin typeface="Helvetica Neue"/>
                <a:ea typeface="Helvetica Neue"/>
                <a:cs typeface="Helvetica Neue"/>
              </a:defRPr>
            </a:pPr>
            <a:r>
              <a:rPr sz="1350" b="1">
                <a:solidFill>
                  <a:srgbClr val="C98A3D"/>
                </a:solidFill>
                <a:latin typeface="Helvetica Neue"/>
                <a:ea typeface="Helvetica Neue"/>
                <a:cs typeface="Helvetica Neue"/>
              </a:rPr>
              <a:t>PET OWNER WINDOW</a:t>
            </a:r>
          </a:p>
        </p:txBody>
      </p:sp>
      <p:sp>
        <p:nvSpPr>
          <p:cNvPr id="10" name="">
            <a:extLst xmlns:a="http://schemas.openxmlformats.org/drawingml/2006/main">
              <a:ext uri="{FF2B5EF4-FFF2-40B4-BE49-F238E27FC236}">
                <a16:creationId xmlns:a16="http://schemas.microsoft.com/office/drawing/2014/main" id="{AF62BBE5-4D67-4F02-B18D-2EB6B602894E}"/>
              </a:ext>
            </a:extLst>
          </p:cNvPr>
          <p:cNvSpPr>
            <a:spLocks xmlns:a="http://schemas.openxmlformats.org/drawingml/2006/main" noGrp="1"/>
          </p:cNvSpPr>
          <p:nvPr/>
        </p:nvSpPr>
        <p:spPr>
          <a:xfrm xmlns:a="http://schemas.openxmlformats.org/drawingml/2006/main">
            <a:off x="1047750"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Select a registered pet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Check In</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Read queue number and patients ahead</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Watch the status change without refresh</a:t>
            </a:r>
          </a:p>
        </p:txBody>
      </p:sp>
      <p:sp>
        <p:nvSpPr>
          <p:cNvPr id="11" name="">
            <a:extLst xmlns:a="http://schemas.openxmlformats.org/drawingml/2006/main">
              <a:ext uri="{FF2B5EF4-FFF2-40B4-BE49-F238E27FC236}">
                <a16:creationId xmlns:a16="http://schemas.microsoft.com/office/drawing/2014/main" id="{0FE7079D-80E7-4B72-9D81-58196DAD3139}"/>
              </a:ext>
            </a:extLst>
          </p:cNvPr>
          <p:cNvSpPr>
            <a:spLocks xmlns:a="http://schemas.openxmlformats.org/drawingml/2006/main" noGrp="1"/>
          </p:cNvSpPr>
          <p:nvPr/>
        </p:nvSpPr>
        <p:spPr>
          <a:xfrm xmlns:a="http://schemas.openxmlformats.org/drawingml/2006/main">
            <a:off x="6381750" y="1857375"/>
            <a:ext cx="5191125" cy="3905250"/>
          </a:xfrm>
          <a:prstGeom xmlns:a="http://schemas.openxmlformats.org/drawingml/2006/main" prst="roundRect">
            <a:avLst>
              <a:gd name="adj" fmla="val 4878"/>
            </a:avLst>
          </a:prstGeom>
          <a:solidFill xmlns:a="http://schemas.openxmlformats.org/drawingml/2006/main">
            <a:srgbClr val="E5F0F8"/>
          </a:solidFill>
          <a:ln xmlns:a="http://schemas.openxmlformats.org/drawingml/2006/main" w="14288">
            <a:solidFill>
              <a:srgbClr val="2E6F9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1202C10E-180C-4E2F-A89B-CB50B07C7DE1}"/>
              </a:ext>
            </a:extLst>
          </p:cNvPr>
          <p:cNvSpPr>
            <a:spLocks xmlns:a="http://schemas.openxmlformats.org/drawingml/2006/main" noGrp="1"/>
          </p:cNvSpPr>
          <p:nvPr/>
        </p:nvSpPr>
        <p:spPr>
          <a:xfrm xmlns:a="http://schemas.openxmlformats.org/drawingml/2006/main">
            <a:off x="6667500"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E6F95"/>
                </a:solidFill>
                <a:latin typeface="Helvetica Neue"/>
                <a:ea typeface="Helvetica Neue"/>
                <a:cs typeface="Helvetica Neue"/>
              </a:defRPr>
            </a:pPr>
            <a:r>
              <a:rPr sz="1350" b="1">
                <a:solidFill>
                  <a:srgbClr val="2E6F95"/>
                </a:solidFill>
                <a:latin typeface="Helvetica Neue"/>
                <a:ea typeface="Helvetica Neue"/>
                <a:cs typeface="Helvetica Neue"/>
              </a:rPr>
              <a:t>STAFF WINDOW</a:t>
            </a:r>
          </a:p>
        </p:txBody>
      </p:sp>
      <p:sp>
        <p:nvSpPr>
          <p:cNvPr id="13" name="">
            <a:extLst xmlns:a="http://schemas.openxmlformats.org/drawingml/2006/main">
              <a:ext uri="{FF2B5EF4-FFF2-40B4-BE49-F238E27FC236}">
                <a16:creationId xmlns:a16="http://schemas.microsoft.com/office/drawing/2014/main" id="{5B5B88DA-7FDE-437E-87F5-6EDDC633798C}"/>
              </a:ext>
            </a:extLst>
          </p:cNvPr>
          <p:cNvSpPr>
            <a:spLocks xmlns:a="http://schemas.openxmlformats.org/drawingml/2006/main" noGrp="1"/>
          </p:cNvSpPr>
          <p:nvPr/>
        </p:nvSpPr>
        <p:spPr>
          <a:xfrm xmlns:a="http://schemas.openxmlformats.org/drawingml/2006/main">
            <a:off x="6810375"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Confirm the waiting entry appears</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Call Next Patient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Confirm WAITING becomes SERVING</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Call next again and test cancellation</a:t>
            </a:r>
          </a:p>
        </p:txBody>
      </p:sp>
      <p:sp>
        <p:nvSpPr>
          <p:cNvPr id="14" name="">
            <a:extLst xmlns:a="http://schemas.openxmlformats.org/drawingml/2006/main">
              <a:ext uri="{FF2B5EF4-FFF2-40B4-BE49-F238E27FC236}">
                <a16:creationId xmlns:a16="http://schemas.microsoft.com/office/drawing/2014/main" id="{5C8ECAAE-48E0-4482-83A2-F24017A6EFBD}"/>
              </a:ext>
            </a:extLst>
          </p:cNvPr>
          <p:cNvSpPr>
            <a:spLocks xmlns:a="http://schemas.openxmlformats.org/drawingml/2006/main" noGrp="1"/>
          </p:cNvSpPr>
          <p:nvPr/>
        </p:nvSpPr>
        <p:spPr>
          <a:xfrm xmlns:a="http://schemas.openxmlformats.org/drawingml/2006/main">
            <a:off x="2000250" y="5953125"/>
            <a:ext cx="8191500" cy="381000"/>
          </a:xfrm>
          <a:prstGeom xmlns:a="http://schemas.openxmlformats.org/drawingml/2006/main" prst="roundRect">
            <a:avLst>
              <a:gd name="adj" fmla="val 30000"/>
            </a:avLst>
          </a:prstGeom>
          <a:solidFill xmlns:a="http://schemas.openxmlformats.org/drawingml/2006/main">
            <a:srgbClr val="DCF4EC"/>
          </a:solidFill>
          <a:ln xmlns:a="http://schemas.openxmlformats.org/drawingml/2006/main" w="14288">
            <a:solidFill>
              <a:srgbClr val="8ACDBA"/>
            </a:solidFill>
            <a:prstDash val="solid"/>
          </a:ln>
        </p:spPr>
      </p:sp>
      <p:sp>
        <p:nvSpPr>
          <p:cNvPr id="15" name="">
            <a:extLst xmlns:a="http://schemas.openxmlformats.org/drawingml/2006/main">
              <a:ext uri="{FF2B5EF4-FFF2-40B4-BE49-F238E27FC236}">
                <a16:creationId xmlns:a16="http://schemas.microsoft.com/office/drawing/2014/main" id="{9E2A4AD7-C26D-424F-B101-DDABA3FCEF00}"/>
              </a:ext>
            </a:extLst>
          </p:cNvPr>
          <p:cNvSpPr>
            <a:spLocks xmlns:a="http://schemas.openxmlformats.org/drawingml/2006/main" noGrp="1"/>
          </p:cNvSpPr>
          <p:nvPr/>
        </p:nvSpPr>
        <p:spPr>
          <a:xfrm xmlns:a="http://schemas.openxmlformats.org/drawingml/2006/main">
            <a:off x="2190750" y="60102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ctr">
              <a:defRPr sz="1275" b="1">
                <a:solidFill>
                  <a:srgbClr val="123F38"/>
                </a:solidFill>
                <a:latin typeface="Helvetica Neue"/>
                <a:ea typeface="Helvetica Neue"/>
                <a:cs typeface="Helvetica Neue"/>
              </a:defRPr>
            </a:pPr>
            <a:r>
              <a:rPr sz="1275" b="1">
                <a:solidFill>
                  <a:srgbClr val="123F38"/>
                </a:solidFill>
                <a:latin typeface="Helvetica Neue"/>
                <a:ea typeface="Helvetica Neue"/>
                <a:cs typeface="Helvetica Neue"/>
              </a:rPr>
              <a:t>Proof point: the owner page changes while no one presses Refresh</a:t>
            </a:r>
          </a:p>
        </p:txBody>
      </p:sp>
    </p:spTree>
    <p:extLst>
      <p:ext uri="{BB962C8B-B14F-4D97-AF65-F5344CB8AC3E}">
        <p14:creationId xmlns:p14="http://schemas.microsoft.com/office/powerpoint/2010/main" val="2017271471"/>
      </p:ext>
    </p:extLst>
  </p:cSld>
</p:sld>
</file>

<file path=ppt/slides/slide10.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56682C9-E35E-41EB-AACA-9E19600CDC9F}"/>
              </a:ext>
            </a:extLst>
          </p:cNvPr>
          <p:cNvSpPr>
            <a:spLocks xmlns:a="http://schemas.openxmlformats.org/drawingml/2006/main" noGrp="1"/>
          </p:cNvSpPr>
          <p:nvPr/>
        </p:nvSpPr>
        <p:spPr>
          <a:xfrm xmlns:a="http://schemas.openxmlformats.org/drawingml/2006/main">
            <a:off x="952500" y="12382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603AEF9F-FB1F-438B-89B8-D8CE6F536749}"/>
              </a:ext>
            </a:extLst>
          </p:cNvPr>
          <p:cNvSpPr>
            <a:spLocks xmlns:a="http://schemas.openxmlformats.org/drawingml/2006/main" noGrp="1"/>
          </p:cNvSpPr>
          <p:nvPr/>
        </p:nvSpPr>
        <p:spPr>
          <a:xfrm xmlns:a="http://schemas.openxmlformats.org/drawingml/2006/main">
            <a:off x="1714500" y="223837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Real-time queue visibility for pet owners and clinic staff</a:t>
            </a:r>
          </a:p>
        </p:txBody>
      </p:sp>
      <p:sp>
        <p:nvSpPr>
          <p:cNvPr id="3" name="">
            <a:extLst xmlns:a="http://schemas.openxmlformats.org/drawingml/2006/main">
              <a:ext uri="{FF2B5EF4-FFF2-40B4-BE49-F238E27FC236}">
                <a16:creationId xmlns:a16="http://schemas.microsoft.com/office/drawing/2014/main" id="{C7CCDFC3-2582-4202-BA38-9DDA17B4F987}"/>
              </a:ext>
            </a:extLst>
          </p:cNvPr>
          <p:cNvSpPr>
            <a:spLocks xmlns:a="http://schemas.openxmlformats.org/drawingml/2006/main" noGrp="1"/>
          </p:cNvSpPr>
          <p:nvPr/>
        </p:nvSpPr>
        <p:spPr>
          <a:xfrm xmlns:a="http://schemas.openxmlformats.org/drawingml/2006/main">
            <a:off x="4000500" y="3028950"/>
            <a:ext cx="4191000"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4" name="">
            <a:extLst xmlns:a="http://schemas.openxmlformats.org/drawingml/2006/main">
              <a:ext uri="{FF2B5EF4-FFF2-40B4-BE49-F238E27FC236}">
                <a16:creationId xmlns:a16="http://schemas.microsoft.com/office/drawing/2014/main" id="{17947B6E-5245-43FC-85A1-D41326FAB87A}"/>
              </a:ext>
            </a:extLst>
          </p:cNvPr>
          <p:cNvSpPr>
            <a:spLocks xmlns:a="http://schemas.openxmlformats.org/drawingml/2006/main" noGrp="1"/>
          </p:cNvSpPr>
          <p:nvPr/>
        </p:nvSpPr>
        <p:spPr>
          <a:xfrm xmlns:a="http://schemas.openxmlformats.org/drawingml/2006/main">
            <a:off x="2505075" y="3638550"/>
            <a:ext cx="590550" cy="5905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E168585F-8C02-4FC2-B678-7E1E7C4E71CC}"/>
              </a:ext>
            </a:extLst>
          </p:cNvPr>
          <p:cNvSpPr>
            <a:spLocks xmlns:a="http://schemas.openxmlformats.org/drawingml/2006/main" noGrp="1"/>
          </p:cNvSpPr>
          <p:nvPr/>
        </p:nvSpPr>
        <p:spPr>
          <a:xfrm xmlns:a="http://schemas.openxmlformats.org/drawingml/2006/main">
            <a:off x="14763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PostgreSQL</a:t>
            </a:r>
          </a:p>
        </p:txBody>
      </p:sp>
      <p:sp>
        <p:nvSpPr>
          <p:cNvPr id="6" name="">
            <a:extLst xmlns:a="http://schemas.openxmlformats.org/drawingml/2006/main">
              <a:ext uri="{FF2B5EF4-FFF2-40B4-BE49-F238E27FC236}">
                <a16:creationId xmlns:a16="http://schemas.microsoft.com/office/drawing/2014/main" id="{8B5728DE-C50D-4B5A-8BA0-8D483338F359}"/>
              </a:ext>
            </a:extLst>
          </p:cNvPr>
          <p:cNvSpPr>
            <a:spLocks xmlns:a="http://schemas.openxmlformats.org/drawingml/2006/main" noGrp="1"/>
          </p:cNvSpPr>
          <p:nvPr/>
        </p:nvSpPr>
        <p:spPr>
          <a:xfrm xmlns:a="http://schemas.openxmlformats.org/drawingml/2006/main">
            <a:off x="14763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stores the queue state</a:t>
            </a:r>
          </a:p>
        </p:txBody>
      </p:sp>
      <p:sp>
        <p:nvSpPr>
          <p:cNvPr id="7" name="">
            <a:extLst xmlns:a="http://schemas.openxmlformats.org/drawingml/2006/main">
              <a:ext uri="{FF2B5EF4-FFF2-40B4-BE49-F238E27FC236}">
                <a16:creationId xmlns:a16="http://schemas.microsoft.com/office/drawing/2014/main" id="{0060E928-68C0-4B07-8326-F80409CED1C4}"/>
              </a:ext>
            </a:extLst>
          </p:cNvPr>
          <p:cNvSpPr>
            <a:spLocks xmlns:a="http://schemas.openxmlformats.org/drawingml/2006/main" noGrp="1"/>
          </p:cNvSpPr>
          <p:nvPr/>
        </p:nvSpPr>
        <p:spPr>
          <a:xfrm xmlns:a="http://schemas.openxmlformats.org/drawingml/2006/main">
            <a:off x="5648325" y="3638550"/>
            <a:ext cx="590550" cy="590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A32254EF-313F-4F93-92DB-04507304F3C7}"/>
              </a:ext>
            </a:extLst>
          </p:cNvPr>
          <p:cNvSpPr>
            <a:spLocks xmlns:a="http://schemas.openxmlformats.org/drawingml/2006/main" noGrp="1"/>
          </p:cNvSpPr>
          <p:nvPr/>
        </p:nvSpPr>
        <p:spPr>
          <a:xfrm xmlns:a="http://schemas.openxmlformats.org/drawingml/2006/main">
            <a:off x="461962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REST API</a:t>
            </a:r>
          </a:p>
        </p:txBody>
      </p:sp>
      <p:sp>
        <p:nvSpPr>
          <p:cNvPr id="9" name="">
            <a:extLst xmlns:a="http://schemas.openxmlformats.org/drawingml/2006/main">
              <a:ext uri="{FF2B5EF4-FFF2-40B4-BE49-F238E27FC236}">
                <a16:creationId xmlns:a16="http://schemas.microsoft.com/office/drawing/2014/main" id="{1B8708FE-9DD8-43F5-B1DD-2FA6F41EC8DC}"/>
              </a:ext>
            </a:extLst>
          </p:cNvPr>
          <p:cNvSpPr>
            <a:spLocks xmlns:a="http://schemas.openxmlformats.org/drawingml/2006/main" noGrp="1"/>
          </p:cNvSpPr>
          <p:nvPr/>
        </p:nvSpPr>
        <p:spPr>
          <a:xfrm xmlns:a="http://schemas.openxmlformats.org/drawingml/2006/main">
            <a:off x="461962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applies each queue action</a:t>
            </a:r>
          </a:p>
        </p:txBody>
      </p:sp>
      <p:sp>
        <p:nvSpPr>
          <p:cNvPr id="10" name="">
            <a:extLst xmlns:a="http://schemas.openxmlformats.org/drawingml/2006/main">
              <a:ext uri="{FF2B5EF4-FFF2-40B4-BE49-F238E27FC236}">
                <a16:creationId xmlns:a16="http://schemas.microsoft.com/office/drawing/2014/main" id="{BE92014D-7590-4724-A369-A1B938BD1A38}"/>
              </a:ext>
            </a:extLst>
          </p:cNvPr>
          <p:cNvSpPr>
            <a:spLocks xmlns:a="http://schemas.openxmlformats.org/drawingml/2006/main" noGrp="1"/>
          </p:cNvSpPr>
          <p:nvPr/>
        </p:nvSpPr>
        <p:spPr>
          <a:xfrm xmlns:a="http://schemas.openxmlformats.org/drawingml/2006/main">
            <a:off x="8791575" y="3638550"/>
            <a:ext cx="590550" cy="5905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FCA21FA6-F783-45D3-AF16-9D6CF30000C1}"/>
              </a:ext>
            </a:extLst>
          </p:cNvPr>
          <p:cNvSpPr>
            <a:spLocks xmlns:a="http://schemas.openxmlformats.org/drawingml/2006/main" noGrp="1"/>
          </p:cNvSpPr>
          <p:nvPr/>
        </p:nvSpPr>
        <p:spPr>
          <a:xfrm xmlns:a="http://schemas.openxmlformats.org/drawingml/2006/main">
            <a:off x="77628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Socket.IO</a:t>
            </a:r>
          </a:p>
        </p:txBody>
      </p:sp>
      <p:sp>
        <p:nvSpPr>
          <p:cNvPr id="12" name="">
            <a:extLst xmlns:a="http://schemas.openxmlformats.org/drawingml/2006/main">
              <a:ext uri="{FF2B5EF4-FFF2-40B4-BE49-F238E27FC236}">
                <a16:creationId xmlns:a16="http://schemas.microsoft.com/office/drawing/2014/main" id="{152E8088-9C0B-4A07-B135-EBAA471A160A}"/>
              </a:ext>
            </a:extLst>
          </p:cNvPr>
          <p:cNvSpPr>
            <a:spLocks xmlns:a="http://schemas.openxmlformats.org/drawingml/2006/main" noGrp="1"/>
          </p:cNvSpPr>
          <p:nvPr/>
        </p:nvSpPr>
        <p:spPr>
          <a:xfrm xmlns:a="http://schemas.openxmlformats.org/drawingml/2006/main">
            <a:off x="77628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announces every accepted change</a:t>
            </a:r>
          </a:p>
        </p:txBody>
      </p:sp>
      <p:sp>
        <p:nvSpPr>
          <p:cNvPr id="13" name="">
            <a:extLst xmlns:a="http://schemas.openxmlformats.org/drawingml/2006/main">
              <a:ext uri="{FF2B5EF4-FFF2-40B4-BE49-F238E27FC236}">
                <a16:creationId xmlns:a16="http://schemas.microsoft.com/office/drawing/2014/main" id="{94E866AB-4319-45B5-82D6-3186EB1A638F}"/>
              </a:ext>
            </a:extLst>
          </p:cNvPr>
          <p:cNvSpPr>
            <a:spLocks xmlns:a="http://schemas.openxmlformats.org/drawingml/2006/main" noGrp="1"/>
          </p:cNvSpPr>
          <p:nvPr/>
        </p:nvSpPr>
        <p:spPr>
          <a:xfrm xmlns:a="http://schemas.openxmlformats.org/drawingml/2006/main">
            <a:off x="952500" y="6000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8EE0C8"/>
                </a:solidFill>
                <a:latin typeface="Helvetica Neue"/>
                <a:ea typeface="Helvetica Neue"/>
                <a:cs typeface="Helvetica Neue"/>
              </a:defRPr>
            </a:pPr>
            <a:r>
              <a:rPr sz="2025" b="1">
                <a:solidFill>
                  <a:srgbClr val="8EE0C8"/>
                </a:solidFill>
                <a:latin typeface="Helvetica Neue"/>
                <a:ea typeface="Helvetica Neue"/>
                <a:cs typeface="Helvetica Neue"/>
              </a:rPr>
              <a:t>Questions?</a:t>
            </a:r>
          </a:p>
        </p:txBody>
      </p:sp>
    </p:spTree>
    <p:extLst>
      <p:ext uri="{BB962C8B-B14F-4D97-AF65-F5344CB8AC3E}">
        <p14:creationId xmlns:p14="http://schemas.microsoft.com/office/powerpoint/2010/main" val="250449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2026-09-22T13:15:20.8290000Z</dcterms:created>
  <dcterms:modified xsi:type="dcterms:W3CDTF">2026-09-22T13:15:20.8290000Z</dcterms:modified>
</coreProperties>
</file>