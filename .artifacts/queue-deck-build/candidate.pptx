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ac4fb539e54421" /><Relationship Type="http://schemas.openxmlformats.org/officeDocument/2006/relationships/extended-properties" Target="/docProps/app.xml" Id="Rc472104374e74b54" /><Relationship Type="http://schemas.openxmlformats.org/officeDocument/2006/relationships/officeDocument" Target="/ppt/presentation.xml" Id="R26e54748957f467a" /></Relationships>
</file>

<file path=ppt/presentation.xml><?xml version="1.0" encoding="utf-8"?>
<p:presentation xmlns:p="http://schemas.openxmlformats.org/presentationml/2006/main">
  <p:sldMasterIdLst>
    <p:sldMasterId xmlns:r="http://schemas.openxmlformats.org/officeDocument/2006/relationships" id="2147483648" r:id="Racd9898540124e4c"/>
  </p:sldMasterIdLst>
  <p:notesMasterIdLst>
    <p:notesMasterId xmlns:r="http://schemas.openxmlformats.org/officeDocument/2006/relationships" r:id="Rd07812c24b314385"/>
  </p:notesMasterIdLst>
  <p:sldIdLst>
    <p:sldId xmlns:r="http://schemas.openxmlformats.org/officeDocument/2006/relationships" id="256" r:id="R65db93a5dd2c4d53"/>
    <p:sldId xmlns:r="http://schemas.openxmlformats.org/officeDocument/2006/relationships" id="257" r:id="R1f60dd54e3bf4d56"/>
    <p:sldId xmlns:r="http://schemas.openxmlformats.org/officeDocument/2006/relationships" id="258" r:id="R5e0b76c0332b48b8"/>
    <p:sldId xmlns:r="http://schemas.openxmlformats.org/officeDocument/2006/relationships" id="259" r:id="R686b88aa1d5e4aa2"/>
    <p:sldId xmlns:r="http://schemas.openxmlformats.org/officeDocument/2006/relationships" id="260" r:id="R729dd2aa07274283"/>
    <p:sldId xmlns:r="http://schemas.openxmlformats.org/officeDocument/2006/relationships" id="261" r:id="R3b7fe61842f04236"/>
    <p:sldId xmlns:r="http://schemas.openxmlformats.org/officeDocument/2006/relationships" id="262" r:id="R48585e155f3e48cd"/>
    <p:sldId xmlns:r="http://schemas.openxmlformats.org/officeDocument/2006/relationships" id="263" r:id="R70821c69ea4b461e"/>
    <p:sldId xmlns:r="http://schemas.openxmlformats.org/officeDocument/2006/relationships" id="264" r:id="Rd0f767949ed6471a"/>
    <p:sldId xmlns:r="http://schemas.openxmlformats.org/officeDocument/2006/relationships" id="265" r:id="R6c963adb8b8846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93733283314568" /><Relationship Type="http://schemas.openxmlformats.org/officeDocument/2006/relationships/slideMaster" Target="/ppt/slideMasters/slideMaster1.xml" Id="Racd9898540124e4c" /><Relationship Type="http://schemas.openxmlformats.org/officeDocument/2006/relationships/notesMaster" Target="/ppt/notesMasters/notesMaster1.xml" Id="Rd07812c24b314385" /><Relationship Type="http://schemas.openxmlformats.org/officeDocument/2006/relationships/presProps" Target="/ppt/presProps.xml" Id="Rfe2202e377404d36" /><Relationship Type="http://schemas.openxmlformats.org/officeDocument/2006/relationships/tableStyles" Target="/ppt/tableStyles.xml" Id="Rcf02be551c2d4fac" /><Relationship Type="http://schemas.openxmlformats.org/officeDocument/2006/relationships/slide" Target="/ppt/slides/slide1.xml" Id="R65db93a5dd2c4d53" /><Relationship Type="http://schemas.openxmlformats.org/officeDocument/2006/relationships/slide" Target="/ppt/slides/slide2.xml" Id="R1f60dd54e3bf4d56" /><Relationship Type="http://schemas.openxmlformats.org/officeDocument/2006/relationships/slide" Target="/ppt/slides/slide3.xml" Id="R5e0b76c0332b48b8" /><Relationship Type="http://schemas.openxmlformats.org/officeDocument/2006/relationships/slide" Target="/ppt/slides/slide4.xml" Id="R686b88aa1d5e4aa2" /><Relationship Type="http://schemas.openxmlformats.org/officeDocument/2006/relationships/slide" Target="/ppt/slides/slide5.xml" Id="R729dd2aa07274283" /><Relationship Type="http://schemas.openxmlformats.org/officeDocument/2006/relationships/slide" Target="/ppt/slides/slide6.xml" Id="R3b7fe61842f04236" /><Relationship Type="http://schemas.openxmlformats.org/officeDocument/2006/relationships/slide" Target="/ppt/slides/slide7.xml" Id="R48585e155f3e48cd" /><Relationship Type="http://schemas.openxmlformats.org/officeDocument/2006/relationships/slide" Target="/ppt/slides/slide8.xml" Id="R70821c69ea4b461e" /><Relationship Type="http://schemas.openxmlformats.org/officeDocument/2006/relationships/slide" Target="/ppt/slides/slide9.xml" Id="Rd0f767949ed6471a" /><Relationship Type="http://schemas.openxmlformats.org/officeDocument/2006/relationships/slide" Target="/ppt/slides/slide10.xml" Id="R6c963adb8b8846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e6745e0a9f4d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
          <a:effectLst>
            <a:outerShdw blurRad="114300" dist="39273" dir="4557825">
              <a:srgbClr val="18302B">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030e16c2404ec2" /><Relationship Type="http://schemas.openxmlformats.org/officeDocument/2006/relationships/notesMaster" Target="/ppt/notesMasters/notesMaster1.xml" Id="R3371b72f4f0f47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cf3a6b51bf4afc" /><Relationship Type="http://schemas.openxmlformats.org/officeDocument/2006/relationships/notesMaster" Target="/ppt/notesMasters/notesMaster1.xml" Id="R9c39b9fe3ed84d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39d8b84e7c4949" /><Relationship Type="http://schemas.openxmlformats.org/officeDocument/2006/relationships/notesMaster" Target="/ppt/notesMasters/notesMaster1.xml" Id="R7f1d56ac5d5743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bb2fc7a4464981" /><Relationship Type="http://schemas.openxmlformats.org/officeDocument/2006/relationships/notesMaster" Target="/ppt/notesMasters/notesMaster1.xml" Id="R06db1779e49c4f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c45ca27a004ce8" /><Relationship Type="http://schemas.openxmlformats.org/officeDocument/2006/relationships/notesMaster" Target="/ppt/notesMasters/notesMaster1.xml" Id="R7f2bdd0864714c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abe45a4a484695" /><Relationship Type="http://schemas.openxmlformats.org/officeDocument/2006/relationships/notesMaster" Target="/ppt/notesMasters/notesMaster1.xml" Id="R46ea1b38591445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23ac1c52db444e" /><Relationship Type="http://schemas.openxmlformats.org/officeDocument/2006/relationships/notesMaster" Target="/ppt/notesMasters/notesMaster1.xml" Id="R9b6650392eb049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f5b00bc55d44d7" /><Relationship Type="http://schemas.openxmlformats.org/officeDocument/2006/relationships/notesMaster" Target="/ppt/notesMasters/notesMaster1.xml" Id="R6a89c8f9a31942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922b1c7a514023" /><Relationship Type="http://schemas.openxmlformats.org/officeDocument/2006/relationships/notesMaster" Target="/ppt/notesMasters/notesMaster1.xml" Id="Rde0f2736e6da49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36e9cf1ca548f8" /><Relationship Type="http://schemas.openxmlformats.org/officeDocument/2006/relationships/notesMaster" Target="/ppt/notesMasters/notesMaster1.xml" Id="Rc1ec614c896047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Today I will present our proposal for a real-time veterinary clinic queue management system. In the current queue experience, pet owners must refresh the page or ask staff for updates. Our proposed change uses WebSocket and Socket.IO so queue changes reach connected owner screens immediately. I will explain the problem, the proposed solution, the technical design, the implementation plan, and then show a short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queue gives pet owners a number after check-in, but the information does not update automatically. Owners need to know which number staff are serving, how many patients are ahead, whether their turn is approaching, and whether staff have called their appointment. Today they must repeatedly refresh or ask clinic staff. This creates uncertainty, unnecessary waiting, and repeated questions that interrupt clinic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proposed solution adds a continuous real-time channel. The owner checks in and receives a queue number. When staff click Call Next Patient, the application updates the queue on the server. Socket.IO immediately broadcasts the new queue state to connected owner screens. The interface then shows the current number, patients ahead, and whether the pet has been called. The owner does not press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WebSocket provides continuous two-way communication between a client and server. The connection stays open, so the server can send a queue change as soon as it happens. Socket.IO simplifies this work. It provides real-time events, automatic connection handling, broadcasting to multiple users, rooms that can separate clinic departments, and reconnection support. Our first proof can use one shared queue room. Department-specific rooms are part of the proposed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flow begins when staff click Call Next Patient. The browser sends the action to the application API. The server validates the staff account, completes the previous turn, and advances the next waiting entry. PostgreSQL saves the new state. Socket.IO then broadcasts a queue update. Every connected owner screen handles that event and updates the displayed current number, patient count, and status without a manual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begins with three users: pet owners, doctors, and clinic staff. Each role uses a dedicated client portal. The portals send requests to one application API, which validates the request and coordinates clinic operations. Accounts and pet data, consultations and medical records, billing, and the visit queue sit inside the clinic services layer. When clinic staff change the visit queue, the server saves the new state in the clinic database. The live queue update channel then notifies connected pet-owner screens so their queue status changes without a manual refresh. Socket.IO provides that persistent channel and can broadcast each queue event to every client in the relevant clinic or department 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proposed event contract. The event can include the department, current queue number, patients ahead, status, and update time. The server sends it after check-in, call-next, or cancellation. It broadcasts to the appropriate room, excludes unnecessary personal details, reconnects after network loss, and emits only after the database update succeeds. Our runnable prototype currently sends a smaller queue updated signal and then fetches a fresh REST snapshot. That prototype proves the live channel while the proposal defines the richer final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plan starts with reliable queue states, then attaches Socket.IO, defines the event contract, and updates the owner interface. The current runnable proof already demonstrates the key behavior: check-in, call-next, cancellation, automatic reconnection, and screen updates without a manual refresh. The next proposal step is to include the richer queue payload and introduce rooms for separate clinics or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demonstration, I will open the pet-owner and staff pages in separate windows. The owner checks in a registered pet and receives a queue number. I leave that screen open without pressing Refresh. On the staff page, I confirm the waiting entry and click Call Next Patient. The owner screen changes automatically to show the new current number and status. I can briefly disconnect and reconnect to show Socket.IO recovery, then check in another pet and cancel it. The main proof is visible: a staff action changes every connected owner screen without manual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our proposal connects one staff action to every relevant pet-owner screen. The server updates the queue, Socket.IO broadcasts the change, and the owner interface changes without a refresh. This reduces uncertainty for owners and repeated questions for clinic staff. Thank you. I am happy to answer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fef502968948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9c6296dc7b42d1" /><Relationship Type="http://schemas.openxmlformats.org/officeDocument/2006/relationships/slideLayout" Target="/ppt/slideLayouts/slideLayout1.xml" Id="R94cbd229b39e4c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cbd229b39e4c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
          <a:effectLst>
            <a:outerShdw blurRad="114300" dist="39273" dir="4557825">
              <a:srgbClr val="18302B">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6f9afaaa8c4718" /><Relationship Type="http://schemas.openxmlformats.org/officeDocument/2006/relationships/notesSlide" Target="/ppt/notesSlides/notesSlide1.xml" Id="R625fc817bcfd46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0100d6dcc14c9f" /><Relationship Type="http://schemas.openxmlformats.org/officeDocument/2006/relationships/image" Target="/ppt/media/image.png" Id="R464af6ea07b14c2e" /><Relationship Type="http://schemas.openxmlformats.org/officeDocument/2006/relationships/notesSlide" Target="/ppt/notesSlides/notesSlide2.xml" Id="R7390bac9bb374e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8b8b5e4a274945" /><Relationship Type="http://schemas.openxmlformats.org/officeDocument/2006/relationships/notesSlide" Target="/ppt/notesSlides/notesSlide3.xml" Id="Rf13d72e993734c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33b8ebb6b045f9" /><Relationship Type="http://schemas.openxmlformats.org/officeDocument/2006/relationships/notesSlide" Target="/ppt/notesSlides/notesSlide4.xml" Id="Rdb6ca604f06147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c1fb23a3e5447a" /><Relationship Type="http://schemas.openxmlformats.org/officeDocument/2006/relationships/notesSlide" Target="/ppt/notesSlides/notesSlide5.xml" Id="Rb0bb07cb4b5848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651391ec994aff" /><Relationship Type="http://schemas.openxmlformats.org/officeDocument/2006/relationships/image" Target="/ppt/media/image2.png" Id="Rdb7e017717754b68" /><Relationship Type="http://schemas.openxmlformats.org/officeDocument/2006/relationships/notesSlide" Target="/ppt/notesSlides/notesSlide6.xml" Id="R32edd6af84bf47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1c8e4345b04eda" /><Relationship Type="http://schemas.openxmlformats.org/officeDocument/2006/relationships/notesSlide" Target="/ppt/notesSlides/notesSlide7.xml" Id="R763d9fb0643c40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22a99b25584b37" /><Relationship Type="http://schemas.openxmlformats.org/officeDocument/2006/relationships/notesSlide" Target="/ppt/notesSlides/notesSlide8.xml" Id="R8f5f352406034e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877d0fbfeae45c9" /><Relationship Type="http://schemas.openxmlformats.org/officeDocument/2006/relationships/notesSlide" Target="/ppt/notesSlides/notesSlide9.xml" Id="Ree0fde6f518a4f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3883a8e647436b" /><Relationship Type="http://schemas.openxmlformats.org/officeDocument/2006/relationships/notesSlide" Target="/ppt/notesSlides/notesSlide10.xml" Id="Rcd1c7a0ebe5c40b2" /></Relationships>
</file>

<file path=ppt/slides/slide1.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B889EDB-E6A4-41A1-A60D-3DCD6B5161E0}"/>
              </a:ext>
            </a:extLst>
          </p:cNvPr>
          <p:cNvSpPr>
            <a:spLocks xmlns:a="http://schemas.openxmlformats.org/drawingml/2006/main" noGrp="1"/>
          </p:cNvSpPr>
          <p:nvPr/>
        </p:nvSpPr>
        <p:spPr>
          <a:xfrm xmlns:a="http://schemas.openxmlformats.org/drawingml/2006/main">
            <a:off x="8477250" y="-1619250"/>
            <a:ext cx="5334000" cy="5334000"/>
          </a:xfrm>
          <a:prstGeom xmlns:a="http://schemas.openxmlformats.org/drawingml/2006/main" prst="ellipse">
            <a:avLst/>
          </a:prstGeom>
          <a:solidFill xmlns:a="http://schemas.openxmlformats.org/drawingml/2006/main">
            <a:srgbClr val="1E5B5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47B813-4A33-473C-A78B-C28FCE26648C}"/>
              </a:ext>
            </a:extLst>
          </p:cNvPr>
          <p:cNvSpPr>
            <a:spLocks xmlns:a="http://schemas.openxmlformats.org/drawingml/2006/main" noGrp="1"/>
          </p:cNvSpPr>
          <p:nvPr/>
        </p:nvSpPr>
        <p:spPr>
          <a:xfrm xmlns:a="http://schemas.openxmlformats.org/drawingml/2006/main">
            <a:off x="9525000" y="3333750"/>
            <a:ext cx="3619500" cy="3619500"/>
          </a:xfrm>
          <a:prstGeom xmlns:a="http://schemas.openxmlformats.org/drawingml/2006/main" prst="ellipse">
            <a:avLst/>
          </a:prstGeom>
          <a:solidFill xmlns:a="http://schemas.openxmlformats.org/drawingml/2006/main">
            <a:srgbClr val="0E332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558B34-AAAC-41EE-B61F-352C92CDF7E2}"/>
              </a:ext>
            </a:extLst>
          </p:cNvPr>
          <p:cNvSpPr>
            <a:spLocks xmlns:a="http://schemas.openxmlformats.org/drawingml/2006/main" noGrp="1"/>
          </p:cNvSpPr>
          <p:nvPr/>
        </p:nvSpPr>
        <p:spPr>
          <a:xfrm xmlns:a="http://schemas.openxmlformats.org/drawingml/2006/main">
            <a:off x="666750" y="904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8EE0C8"/>
                </a:solidFill>
                <a:latin typeface="Helvetica Neue"/>
                <a:ea typeface="Helvetica Neue"/>
                <a:cs typeface="Helvetica Neue"/>
              </a:defRPr>
            </a:pPr>
            <a:r>
              <a:rPr sz="1950" b="1">
                <a:solidFill>
                  <a:srgbClr val="8EE0C8"/>
                </a:solidFill>
                <a:latin typeface="Helvetica Neue"/>
                <a:ea typeface="Helvetica Neue"/>
                <a:cs typeface="Helvetica Neue"/>
              </a:rPr>
              <a:t>REAL-TIME</a:t>
            </a:r>
          </a:p>
        </p:txBody>
      </p:sp>
      <p:sp>
        <p:nvSpPr>
          <p:cNvPr id="4" name="">
            <a:extLst xmlns:a="http://schemas.openxmlformats.org/drawingml/2006/main">
              <a:ext uri="{FF2B5EF4-FFF2-40B4-BE49-F238E27FC236}">
                <a16:creationId xmlns:a16="http://schemas.microsoft.com/office/drawing/2014/main" id="{AF509F68-7531-4701-93F3-E47B03A44534}"/>
              </a:ext>
            </a:extLst>
          </p:cNvPr>
          <p:cNvSpPr>
            <a:spLocks xmlns:a="http://schemas.openxmlformats.org/drawingml/2006/main" noGrp="1"/>
          </p:cNvSpPr>
          <p:nvPr/>
        </p:nvSpPr>
        <p:spPr>
          <a:xfrm xmlns:a="http://schemas.openxmlformats.org/drawingml/2006/main">
            <a:off x="666750" y="1409700"/>
            <a:ext cx="723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Veterinary Clinic</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Queue Management</a:t>
            </a:r>
          </a:p>
        </p:txBody>
      </p:sp>
      <p:sp>
        <p:nvSpPr>
          <p:cNvPr id="5" name="">
            <a:extLst xmlns:a="http://schemas.openxmlformats.org/drawingml/2006/main">
              <a:ext uri="{FF2B5EF4-FFF2-40B4-BE49-F238E27FC236}">
                <a16:creationId xmlns:a16="http://schemas.microsoft.com/office/drawing/2014/main" id="{E1EFFEDD-EA74-4464-A912-EC5BDFD7747C}"/>
              </a:ext>
            </a:extLst>
          </p:cNvPr>
          <p:cNvSpPr>
            <a:spLocks xmlns:a="http://schemas.openxmlformats.org/drawingml/2006/main" noGrp="1"/>
          </p:cNvSpPr>
          <p:nvPr/>
        </p:nvSpPr>
        <p:spPr>
          <a:xfrm xmlns:a="http://schemas.openxmlformats.org/drawingml/2006/main">
            <a:off x="704850" y="31146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WebSocket and Socket.IO</a:t>
            </a:r>
          </a:p>
        </p:txBody>
      </p:sp>
      <p:sp>
        <p:nvSpPr>
          <p:cNvPr id="6" name="">
            <a:extLst xmlns:a="http://schemas.openxmlformats.org/drawingml/2006/main">
              <a:ext uri="{FF2B5EF4-FFF2-40B4-BE49-F238E27FC236}">
                <a16:creationId xmlns:a16="http://schemas.microsoft.com/office/drawing/2014/main" id="{B82B3156-3CCE-4754-B576-B15A59976B86}"/>
              </a:ext>
            </a:extLst>
          </p:cNvPr>
          <p:cNvSpPr>
            <a:spLocks xmlns:a="http://schemas.openxmlformats.org/drawingml/2006/main" noGrp="1"/>
          </p:cNvSpPr>
          <p:nvPr/>
        </p:nvSpPr>
        <p:spPr>
          <a:xfrm xmlns:a="http://schemas.openxmlformats.org/drawingml/2006/main">
            <a:off x="704850" y="3876675"/>
            <a:ext cx="5000625"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7" name="">
            <a:extLst xmlns:a="http://schemas.openxmlformats.org/drawingml/2006/main">
              <a:ext uri="{FF2B5EF4-FFF2-40B4-BE49-F238E27FC236}">
                <a16:creationId xmlns:a16="http://schemas.microsoft.com/office/drawing/2014/main" id="{29729C86-AE1F-474C-9CA9-CE1863FEB378}"/>
              </a:ext>
            </a:extLst>
          </p:cNvPr>
          <p:cNvSpPr>
            <a:spLocks xmlns:a="http://schemas.openxmlformats.org/drawingml/2006/main" noGrp="1"/>
          </p:cNvSpPr>
          <p:nvPr/>
        </p:nvSpPr>
        <p:spPr>
          <a:xfrm xmlns:a="http://schemas.openxmlformats.org/drawingml/2006/main">
            <a:off x="704850" y="409575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A live queue that keeps pet owners and clinic staff in sync</a:t>
            </a:r>
          </a:p>
        </p:txBody>
      </p:sp>
      <p:sp>
        <p:nvSpPr>
          <p:cNvPr id="8" name="">
            <a:extLst xmlns:a="http://schemas.openxmlformats.org/drawingml/2006/main">
              <a:ext uri="{FF2B5EF4-FFF2-40B4-BE49-F238E27FC236}">
                <a16:creationId xmlns:a16="http://schemas.microsoft.com/office/drawing/2014/main" id="{F9B8C2EE-66DB-4920-8627-7C0AE0EFE2F8}"/>
              </a:ext>
            </a:extLst>
          </p:cNvPr>
          <p:cNvSpPr>
            <a:spLocks xmlns:a="http://schemas.openxmlformats.org/drawingml/2006/main" noGrp="1"/>
          </p:cNvSpPr>
          <p:nvPr/>
        </p:nvSpPr>
        <p:spPr>
          <a:xfrm xmlns:a="http://schemas.openxmlformats.org/drawingml/2006/main">
            <a:off x="8239125" y="2381250"/>
            <a:ext cx="1123950" cy="1123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A001</a:t>
            </a:r>
          </a:p>
        </p:txBody>
      </p:sp>
      <p:sp>
        <p:nvSpPr>
          <p:cNvPr id="9" name="">
            <a:extLst xmlns:a="http://schemas.openxmlformats.org/drawingml/2006/main">
              <a:ext uri="{FF2B5EF4-FFF2-40B4-BE49-F238E27FC236}">
                <a16:creationId xmlns:a16="http://schemas.microsoft.com/office/drawing/2014/main" id="{716F1AE5-1B1A-4E4D-9E5A-40FB292752A2}"/>
              </a:ext>
            </a:extLst>
          </p:cNvPr>
          <p:cNvSpPr>
            <a:spLocks xmlns:a="http://schemas.openxmlformats.org/drawingml/2006/main" noGrp="1"/>
          </p:cNvSpPr>
          <p:nvPr/>
        </p:nvSpPr>
        <p:spPr>
          <a:xfrm xmlns:a="http://schemas.openxmlformats.org/drawingml/2006/main">
            <a:off x="9477375" y="3362325"/>
            <a:ext cx="971550" cy="971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A002</a:t>
            </a:r>
          </a:p>
        </p:txBody>
      </p:sp>
      <p:sp>
        <p:nvSpPr>
          <p:cNvPr id="10" name="">
            <a:extLst xmlns:a="http://schemas.openxmlformats.org/drawingml/2006/main">
              <a:ext uri="{FF2B5EF4-FFF2-40B4-BE49-F238E27FC236}">
                <a16:creationId xmlns:a16="http://schemas.microsoft.com/office/drawing/2014/main" id="{1D4D33CE-358C-4738-A781-8016AAE2E147}"/>
              </a:ext>
            </a:extLst>
          </p:cNvPr>
          <p:cNvSpPr>
            <a:spLocks xmlns:a="http://schemas.openxmlformats.org/drawingml/2006/main" noGrp="1"/>
          </p:cNvSpPr>
          <p:nvPr/>
        </p:nvSpPr>
        <p:spPr>
          <a:xfrm xmlns:a="http://schemas.openxmlformats.org/drawingml/2006/main">
            <a:off x="10287000" y="1762125"/>
            <a:ext cx="876300" cy="8763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A003</a:t>
            </a:r>
          </a:p>
        </p:txBody>
      </p:sp>
      <p:sp>
        <p:nvSpPr>
          <p:cNvPr id="11" name="">
            <a:extLst xmlns:a="http://schemas.openxmlformats.org/drawingml/2006/main">
              <a:ext uri="{FF2B5EF4-FFF2-40B4-BE49-F238E27FC236}">
                <a16:creationId xmlns:a16="http://schemas.microsoft.com/office/drawing/2014/main" id="{2BF3DD80-5363-4C8B-A6C4-08ECB07C2ADB}"/>
              </a:ext>
            </a:extLst>
          </p:cNvPr>
          <p:cNvSpPr>
            <a:spLocks xmlns:a="http://schemas.openxmlformats.org/drawingml/2006/main" noGrp="1"/>
          </p:cNvSpPr>
          <p:nvPr/>
        </p:nvSpPr>
        <p:spPr>
          <a:xfrm xmlns:a="http://schemas.openxmlformats.org/drawingml/2006/main">
            <a:off x="704850" y="6019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D8CC"/>
                </a:solidFill>
                <a:latin typeface="Helvetica Neue"/>
                <a:ea typeface="Helvetica Neue"/>
                <a:cs typeface="Helvetica Neue"/>
              </a:defRPr>
            </a:pPr>
            <a:r>
              <a:rPr sz="1200" b="0">
                <a:solidFill>
                  <a:srgbClr val="A9D8CC"/>
                </a:solidFill>
                <a:latin typeface="Helvetica Neue"/>
                <a:ea typeface="Helvetica Neue"/>
                <a:cs typeface="Helvetica Neue"/>
              </a:rPr>
              <a:t>10-minute presentation and live demo</a:t>
            </a:r>
          </a:p>
        </p:txBody>
      </p:sp>
    </p:spTree>
    <p:extLst>
      <p:ext uri="{BB962C8B-B14F-4D97-AF65-F5344CB8AC3E}">
        <p14:creationId xmlns:p14="http://schemas.microsoft.com/office/powerpoint/2010/main" val="1474534319"/>
      </p:ext>
    </p:extLst>
  </p:cSld>
</p:sld>
</file>

<file path=ppt/slides/slide2.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C4144C6-720D-4534-B367-081801EEE2B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90A3D30A-9060-41A5-A50D-5D7C9F0AA069}"/>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33332F3D-CDE8-4954-AD6A-A44DAB69AB93}"/>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Clinic queue problem</a:t>
            </a:r>
          </a:p>
        </p:txBody>
      </p:sp>
      <p:sp>
        <p:nvSpPr>
          <p:cNvPr id="4" name="">
            <a:extLst xmlns:a="http://schemas.openxmlformats.org/drawingml/2006/main">
              <a:ext uri="{FF2B5EF4-FFF2-40B4-BE49-F238E27FC236}">
                <a16:creationId xmlns:a16="http://schemas.microsoft.com/office/drawing/2014/main" id="{E87F9707-EB4F-40F6-BD62-342DB7ECDB9C}"/>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current queue page does not update automatically</a:t>
            </a:r>
          </a:p>
        </p:txBody>
      </p:sp>
      <p:sp>
        <p:nvSpPr>
          <p:cNvPr id="5" name="">
            <a:extLst xmlns:a="http://schemas.openxmlformats.org/drawingml/2006/main">
              <a:ext uri="{FF2B5EF4-FFF2-40B4-BE49-F238E27FC236}">
                <a16:creationId xmlns:a16="http://schemas.microsoft.com/office/drawing/2014/main" id="{411A20DC-DE41-45DF-BF46-B9F3B3927B22}"/>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3BDB7D2C-A61D-404F-A58B-74A45D8673FB}"/>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084193B6-DC64-4B7D-BAA9-CB2A6EEFF75C}"/>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2</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64af6ea07b14c2e"/>
          <a:srcRect xmlns:a="http://schemas.openxmlformats.org/drawingml/2006/main" l="2620" t="0" r="2620" b="0"/>
          <a:stretch xmlns:a="http://schemas.openxmlformats.org/drawingml/2006/main">
            <a:fillRect l="0" t="0" r="0" b="0"/>
          </a:stretch>
        </p:blipFill>
        <p:spPr>
          <a:xfrm xmlns:a="http://schemas.openxmlformats.org/drawingml/2006/main">
            <a:off x="6381750" y="1885950"/>
            <a:ext cx="4953000" cy="3143250"/>
          </a:xfrm>
          <a:prstGeom xmlns:a="http://schemas.openxmlformats.org/drawingml/2006/main" prst="roundRect">
            <a:avLst>
              <a:gd name="adj" fmla="val 4848"/>
            </a:avLst>
          </a:prstGeom>
        </p:spPr>
      </p:pic>
      <p:sp>
        <p:nvSpPr>
          <p:cNvPr id="9" name="">
            <a:extLst xmlns:a="http://schemas.openxmlformats.org/drawingml/2006/main">
              <a:ext uri="{FF2B5EF4-FFF2-40B4-BE49-F238E27FC236}">
                <a16:creationId xmlns:a16="http://schemas.microsoft.com/office/drawing/2014/main" id="{016F14EA-49E6-492C-8346-0E679F3A4BE8}"/>
              </a:ext>
            </a:extLst>
          </p:cNvPr>
          <p:cNvSpPr>
            <a:spLocks xmlns:a="http://schemas.openxmlformats.org/drawingml/2006/main" noGrp="1"/>
          </p:cNvSpPr>
          <p:nvPr/>
        </p:nvSpPr>
        <p:spPr>
          <a:xfrm xmlns:a="http://schemas.openxmlformats.org/drawingml/2006/main">
            <a:off x="666750" y="19526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Owners need four answers</a:t>
            </a:r>
          </a:p>
        </p:txBody>
      </p:sp>
      <p:sp>
        <p:nvSpPr>
          <p:cNvPr id="10" name="">
            <a:extLst xmlns:a="http://schemas.openxmlformats.org/drawingml/2006/main">
              <a:ext uri="{FF2B5EF4-FFF2-40B4-BE49-F238E27FC236}">
                <a16:creationId xmlns:a16="http://schemas.microsoft.com/office/drawing/2014/main" id="{62A22D79-BDCF-4D7D-85DB-BCA918B7C22A}"/>
              </a:ext>
            </a:extLst>
          </p:cNvPr>
          <p:cNvSpPr>
            <a:spLocks xmlns:a="http://schemas.openxmlformats.org/drawingml/2006/main" noGrp="1"/>
          </p:cNvSpPr>
          <p:nvPr/>
        </p:nvSpPr>
        <p:spPr>
          <a:xfrm xmlns:a="http://schemas.openxmlformats.org/drawingml/2006/main">
            <a:off x="666750" y="2362200"/>
            <a:ext cx="485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Which number is being served?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How many patients are ahead?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Is their turn approaching?</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Has their appointment been called?</a:t>
            </a:r>
          </a:p>
        </p:txBody>
      </p:sp>
      <p:sp>
        <p:nvSpPr>
          <p:cNvPr id="11" name="">
            <a:extLst xmlns:a="http://schemas.openxmlformats.org/drawingml/2006/main">
              <a:ext uri="{FF2B5EF4-FFF2-40B4-BE49-F238E27FC236}">
                <a16:creationId xmlns:a16="http://schemas.microsoft.com/office/drawing/2014/main" id="{A9FD6972-2209-478D-BEEC-CDCB0CB8225E}"/>
              </a:ext>
            </a:extLst>
          </p:cNvPr>
          <p:cNvSpPr>
            <a:spLocks xmlns:a="http://schemas.openxmlformats.org/drawingml/2006/main" noGrp="1"/>
          </p:cNvSpPr>
          <p:nvPr/>
        </p:nvSpPr>
        <p:spPr>
          <a:xfrm xmlns:a="http://schemas.openxmlformats.org/drawingml/2006/main">
            <a:off x="666750" y="4286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Current workaround</a:t>
            </a:r>
          </a:p>
        </p:txBody>
      </p:sp>
      <p:sp>
        <p:nvSpPr>
          <p:cNvPr id="12" name="">
            <a:extLst xmlns:a="http://schemas.openxmlformats.org/drawingml/2006/main">
              <a:ext uri="{FF2B5EF4-FFF2-40B4-BE49-F238E27FC236}">
                <a16:creationId xmlns:a16="http://schemas.microsoft.com/office/drawing/2014/main" id="{53DE3765-8E26-4256-94A1-724388F58545}"/>
              </a:ext>
            </a:extLst>
          </p:cNvPr>
          <p:cNvSpPr>
            <a:spLocks xmlns:a="http://schemas.openxmlformats.org/drawingml/2006/main" noGrp="1"/>
          </p:cNvSpPr>
          <p:nvPr/>
        </p:nvSpPr>
        <p:spPr>
          <a:xfrm xmlns:a="http://schemas.openxmlformats.org/drawingml/2006/main">
            <a:off x="666750" y="46958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Refresh the page repeatedly or ask clinic staff for an update.</a:t>
            </a:r>
          </a:p>
        </p:txBody>
      </p:sp>
      <p:sp>
        <p:nvSpPr>
          <p:cNvPr id="13" name="">
            <a:extLst xmlns:a="http://schemas.openxmlformats.org/drawingml/2006/main">
              <a:ext uri="{FF2B5EF4-FFF2-40B4-BE49-F238E27FC236}">
                <a16:creationId xmlns:a16="http://schemas.microsoft.com/office/drawing/2014/main" id="{BB8723E6-C39B-4C75-9E14-18A99F0D3E0E}"/>
              </a:ext>
            </a:extLst>
          </p:cNvPr>
          <p:cNvSpPr>
            <a:spLocks xmlns:a="http://schemas.openxmlformats.org/drawingml/2006/main" noGrp="1"/>
          </p:cNvSpPr>
          <p:nvPr/>
        </p:nvSpPr>
        <p:spPr>
          <a:xfrm xmlns:a="http://schemas.openxmlformats.org/drawingml/2006/main">
            <a:off x="6381750" y="5238750"/>
            <a:ext cx="4953000" cy="742950"/>
          </a:xfrm>
          <a:prstGeom xmlns:a="http://schemas.openxmlformats.org/drawingml/2006/main" prst="roundRect">
            <a:avLst>
              <a:gd name="adj" fmla="val 20513"/>
            </a:avLst>
          </a:prstGeom>
          <a:solidFill xmlns:a="http://schemas.openxmlformats.org/drawingml/2006/main">
            <a:srgbClr val="F8E2DF"/>
          </a:solidFill>
          <a:ln xmlns:a="http://schemas.openxmlformats.org/drawingml/2006/main" w="14288">
            <a:solidFill>
              <a:srgbClr val="C85B55"/>
            </a:solidFill>
            <a:prstDash val="solid"/>
          </a:ln>
        </p:spPr>
      </p:sp>
      <p:sp>
        <p:nvSpPr>
          <p:cNvPr id="14" name="">
            <a:extLst xmlns:a="http://schemas.openxmlformats.org/drawingml/2006/main">
              <a:ext uri="{FF2B5EF4-FFF2-40B4-BE49-F238E27FC236}">
                <a16:creationId xmlns:a16="http://schemas.microsoft.com/office/drawing/2014/main" id="{EAF1390A-DA26-40F2-90DF-7CF03EE42405}"/>
              </a:ext>
            </a:extLst>
          </p:cNvPr>
          <p:cNvSpPr>
            <a:spLocks xmlns:a="http://schemas.openxmlformats.org/drawingml/2006/main" noGrp="1"/>
          </p:cNvSpPr>
          <p:nvPr/>
        </p:nvSpPr>
        <p:spPr>
          <a:xfrm xmlns:a="http://schemas.openxmlformats.org/drawingml/2006/main">
            <a:off x="6619875" y="53721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96"/>
          </a:bodyPr>
          <a:lstStyle xmlns:a="http://schemas.openxmlformats.org/drawingml/2006/main"/>
          <a:p xmlns:a="http://schemas.openxmlformats.org/drawingml/2006/main">
            <a:pPr algn="ctr">
              <a:defRPr sz="1425" b="1">
                <a:solidFill>
                  <a:srgbClr val="C85B55"/>
                </a:solidFill>
                <a:latin typeface="Helvetica Neue"/>
                <a:ea typeface="Helvetica Neue"/>
                <a:cs typeface="Helvetica Neue"/>
              </a:defRPr>
            </a:pPr>
            <a:r>
              <a:rPr sz="1425" b="1">
                <a:solidFill>
                  <a:srgbClr val="C85B55"/>
                </a:solidFill>
                <a:latin typeface="Helvetica Neue"/>
                <a:ea typeface="Helvetica Neue"/>
                <a:cs typeface="Helvetica Neue"/>
              </a:rPr>
              <a:t>Result: uncertainty, unnecessary waiting, and repeated questions for staff</a:t>
            </a:r>
          </a:p>
        </p:txBody>
      </p:sp>
    </p:spTree>
    <p:extLst>
      <p:ext uri="{BB962C8B-B14F-4D97-AF65-F5344CB8AC3E}">
        <p14:creationId xmlns:p14="http://schemas.microsoft.com/office/powerpoint/2010/main" val="1653753104"/>
      </p:ext>
    </p:extLst>
  </p:cSld>
</p:sld>
</file>

<file path=ppt/slides/slide3.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224DC95-2223-4652-915B-25766F8BFA2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B57776B3-D09E-4367-B95E-1AADCA9BEB05}"/>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E11EC408-5169-45D7-86AC-69F5D46A9169}"/>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Proposed solution</a:t>
            </a:r>
          </a:p>
        </p:txBody>
      </p:sp>
      <p:sp>
        <p:nvSpPr>
          <p:cNvPr id="4" name="">
            <a:extLst xmlns:a="http://schemas.openxmlformats.org/drawingml/2006/main">
              <a:ext uri="{FF2B5EF4-FFF2-40B4-BE49-F238E27FC236}">
                <a16:creationId xmlns:a16="http://schemas.microsoft.com/office/drawing/2014/main" id="{EA7B38EE-FB38-4AAA-A25F-0B8EEEC8FAFE}"/>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Staff action triggers an immediate update on every connected owner screen</a:t>
            </a:r>
          </a:p>
        </p:txBody>
      </p:sp>
      <p:sp>
        <p:nvSpPr>
          <p:cNvPr id="5" name="">
            <a:extLst xmlns:a="http://schemas.openxmlformats.org/drawingml/2006/main">
              <a:ext uri="{FF2B5EF4-FFF2-40B4-BE49-F238E27FC236}">
                <a16:creationId xmlns:a16="http://schemas.microsoft.com/office/drawing/2014/main" id="{AFE56004-4F5B-47AE-8B78-E93EE4FF9C9B}"/>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A230BE07-CB74-4929-BCCA-B8C45A03C70E}"/>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E6201C69-3CD4-449A-BAAB-EDDBB4197A28}"/>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4CE4487D-5D65-44AC-A589-7D278D84D390}"/>
              </a:ext>
            </a:extLst>
          </p:cNvPr>
          <p:cNvSpPr>
            <a:spLocks xmlns:a="http://schemas.openxmlformats.org/drawingml/2006/main" noGrp="1"/>
          </p:cNvSpPr>
          <p:nvPr/>
        </p:nvSpPr>
        <p:spPr>
          <a:xfrm xmlns:a="http://schemas.openxmlformats.org/drawingml/2006/main">
            <a:off x="1352550" y="1952625"/>
            <a:ext cx="609600" cy="60960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56B4A21F-A65B-4FD5-9D67-31425C0B39E3}"/>
              </a:ext>
            </a:extLst>
          </p:cNvPr>
          <p:cNvSpPr>
            <a:spLocks xmlns:a="http://schemas.openxmlformats.org/drawingml/2006/main" noGrp="1"/>
          </p:cNvSpPr>
          <p:nvPr/>
        </p:nvSpPr>
        <p:spPr>
          <a:xfrm xmlns:a="http://schemas.openxmlformats.org/drawingml/2006/main">
            <a:off x="609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Owner checks in</a:t>
            </a:r>
          </a:p>
        </p:txBody>
      </p:sp>
      <p:sp>
        <p:nvSpPr>
          <p:cNvPr id="10" name="">
            <a:extLst xmlns:a="http://schemas.openxmlformats.org/drawingml/2006/main">
              <a:ext uri="{FF2B5EF4-FFF2-40B4-BE49-F238E27FC236}">
                <a16:creationId xmlns:a16="http://schemas.microsoft.com/office/drawing/2014/main" id="{6F92D1B3-305A-4986-BB72-5C4BCEAF8810}"/>
              </a:ext>
            </a:extLst>
          </p:cNvPr>
          <p:cNvSpPr>
            <a:spLocks xmlns:a="http://schemas.openxmlformats.org/drawingml/2006/main" noGrp="1"/>
          </p:cNvSpPr>
          <p:nvPr/>
        </p:nvSpPr>
        <p:spPr>
          <a:xfrm xmlns:a="http://schemas.openxmlformats.org/drawingml/2006/main">
            <a:off x="609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System assigns a queue number</a:t>
            </a:r>
          </a:p>
        </p:txBody>
      </p:sp>
      <p:sp>
        <p:nvSpPr>
          <p:cNvPr id="11" name="">
            <a:extLst xmlns:a="http://schemas.openxmlformats.org/drawingml/2006/main">
              <a:ext uri="{FF2B5EF4-FFF2-40B4-BE49-F238E27FC236}">
                <a16:creationId xmlns:a16="http://schemas.microsoft.com/office/drawing/2014/main" id="{486D571F-0069-4ECA-B7B9-A0C5E4FCF1BA}"/>
              </a:ext>
            </a:extLst>
          </p:cNvPr>
          <p:cNvSpPr>
            <a:spLocks xmlns:a="http://schemas.openxmlformats.org/drawingml/2006/main" noGrp="1"/>
          </p:cNvSpPr>
          <p:nvPr/>
        </p:nvSpPr>
        <p:spPr>
          <a:xfrm xmlns:a="http://schemas.openxmlformats.org/drawingml/2006/main">
            <a:off x="2752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2" name="">
            <a:extLst xmlns:a="http://schemas.openxmlformats.org/drawingml/2006/main">
              <a:ext uri="{FF2B5EF4-FFF2-40B4-BE49-F238E27FC236}">
                <a16:creationId xmlns:a16="http://schemas.microsoft.com/office/drawing/2014/main" id="{A356D183-24E0-4FFA-90C4-EB385683C11F}"/>
              </a:ext>
            </a:extLst>
          </p:cNvPr>
          <p:cNvSpPr>
            <a:spLocks xmlns:a="http://schemas.openxmlformats.org/drawingml/2006/main" noGrp="1"/>
          </p:cNvSpPr>
          <p:nvPr/>
        </p:nvSpPr>
        <p:spPr>
          <a:xfrm xmlns:a="http://schemas.openxmlformats.org/drawingml/2006/main">
            <a:off x="4210050" y="1952625"/>
            <a:ext cx="609600" cy="6096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992D2B8A-F0BF-47CF-8976-29844ADCA6D6}"/>
              </a:ext>
            </a:extLst>
          </p:cNvPr>
          <p:cNvSpPr>
            <a:spLocks xmlns:a="http://schemas.openxmlformats.org/drawingml/2006/main" noGrp="1"/>
          </p:cNvSpPr>
          <p:nvPr/>
        </p:nvSpPr>
        <p:spPr>
          <a:xfrm xmlns:a="http://schemas.openxmlformats.org/drawingml/2006/main">
            <a:off x="3467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Staff calls next</a:t>
            </a:r>
          </a:p>
        </p:txBody>
      </p:sp>
      <p:sp>
        <p:nvSpPr>
          <p:cNvPr id="14" name="">
            <a:extLst xmlns:a="http://schemas.openxmlformats.org/drawingml/2006/main">
              <a:ext uri="{FF2B5EF4-FFF2-40B4-BE49-F238E27FC236}">
                <a16:creationId xmlns:a16="http://schemas.microsoft.com/office/drawing/2014/main" id="{D3F79649-8381-4535-B50B-6FE642577A7F}"/>
              </a:ext>
            </a:extLst>
          </p:cNvPr>
          <p:cNvSpPr>
            <a:spLocks xmlns:a="http://schemas.openxmlformats.org/drawingml/2006/main" noGrp="1"/>
          </p:cNvSpPr>
          <p:nvPr/>
        </p:nvSpPr>
        <p:spPr>
          <a:xfrm xmlns:a="http://schemas.openxmlformats.org/drawingml/2006/main">
            <a:off x="3467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Queue state changes on the server</a:t>
            </a:r>
          </a:p>
        </p:txBody>
      </p:sp>
      <p:sp>
        <p:nvSpPr>
          <p:cNvPr id="15" name="">
            <a:extLst xmlns:a="http://schemas.openxmlformats.org/drawingml/2006/main">
              <a:ext uri="{FF2B5EF4-FFF2-40B4-BE49-F238E27FC236}">
                <a16:creationId xmlns:a16="http://schemas.microsoft.com/office/drawing/2014/main" id="{783DDBEF-F406-4470-A1FC-7017D1118C2C}"/>
              </a:ext>
            </a:extLst>
          </p:cNvPr>
          <p:cNvSpPr>
            <a:spLocks xmlns:a="http://schemas.openxmlformats.org/drawingml/2006/main" noGrp="1"/>
          </p:cNvSpPr>
          <p:nvPr/>
        </p:nvSpPr>
        <p:spPr>
          <a:xfrm xmlns:a="http://schemas.openxmlformats.org/drawingml/2006/main">
            <a:off x="56102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6" name="">
            <a:extLst xmlns:a="http://schemas.openxmlformats.org/drawingml/2006/main">
              <a:ext uri="{FF2B5EF4-FFF2-40B4-BE49-F238E27FC236}">
                <a16:creationId xmlns:a16="http://schemas.microsoft.com/office/drawing/2014/main" id="{03B8BDE0-4193-44C8-8DE7-EAEE71C3D6DC}"/>
              </a:ext>
            </a:extLst>
          </p:cNvPr>
          <p:cNvSpPr>
            <a:spLocks xmlns:a="http://schemas.openxmlformats.org/drawingml/2006/main" noGrp="1"/>
          </p:cNvSpPr>
          <p:nvPr/>
        </p:nvSpPr>
        <p:spPr>
          <a:xfrm xmlns:a="http://schemas.openxmlformats.org/drawingml/2006/main">
            <a:off x="7067550" y="1952625"/>
            <a:ext cx="609600" cy="60960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63DE3235-8C41-4F3B-B88E-69821D2CE91D}"/>
              </a:ext>
            </a:extLst>
          </p:cNvPr>
          <p:cNvSpPr>
            <a:spLocks xmlns:a="http://schemas.openxmlformats.org/drawingml/2006/main" noGrp="1"/>
          </p:cNvSpPr>
          <p:nvPr/>
        </p:nvSpPr>
        <p:spPr>
          <a:xfrm xmlns:a="http://schemas.openxmlformats.org/drawingml/2006/main">
            <a:off x="6324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Server broadcasts</a:t>
            </a:r>
          </a:p>
        </p:txBody>
      </p:sp>
      <p:sp>
        <p:nvSpPr>
          <p:cNvPr id="18" name="">
            <a:extLst xmlns:a="http://schemas.openxmlformats.org/drawingml/2006/main">
              <a:ext uri="{FF2B5EF4-FFF2-40B4-BE49-F238E27FC236}">
                <a16:creationId xmlns:a16="http://schemas.microsoft.com/office/drawing/2014/main" id="{A63967C5-D7C3-4265-A906-7D59B00C9925}"/>
              </a:ext>
            </a:extLst>
          </p:cNvPr>
          <p:cNvSpPr>
            <a:spLocks xmlns:a="http://schemas.openxmlformats.org/drawingml/2006/main" noGrp="1"/>
          </p:cNvSpPr>
          <p:nvPr/>
        </p:nvSpPr>
        <p:spPr>
          <a:xfrm xmlns:a="http://schemas.openxmlformats.org/drawingml/2006/main">
            <a:off x="6324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sends the update</a:t>
            </a:r>
          </a:p>
        </p:txBody>
      </p:sp>
      <p:sp>
        <p:nvSpPr>
          <p:cNvPr id="19" name="">
            <a:extLst xmlns:a="http://schemas.openxmlformats.org/drawingml/2006/main">
              <a:ext uri="{FF2B5EF4-FFF2-40B4-BE49-F238E27FC236}">
                <a16:creationId xmlns:a16="http://schemas.microsoft.com/office/drawing/2014/main" id="{CB0F6130-A557-45A6-A6EF-30F888D471C8}"/>
              </a:ext>
            </a:extLst>
          </p:cNvPr>
          <p:cNvSpPr>
            <a:spLocks xmlns:a="http://schemas.openxmlformats.org/drawingml/2006/main" noGrp="1"/>
          </p:cNvSpPr>
          <p:nvPr/>
        </p:nvSpPr>
        <p:spPr>
          <a:xfrm xmlns:a="http://schemas.openxmlformats.org/drawingml/2006/main">
            <a:off x="8467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CBD5950D-48F6-4AE4-9F50-EE934FFBCD9D}"/>
              </a:ext>
            </a:extLst>
          </p:cNvPr>
          <p:cNvSpPr>
            <a:spLocks xmlns:a="http://schemas.openxmlformats.org/drawingml/2006/main" noGrp="1"/>
          </p:cNvSpPr>
          <p:nvPr/>
        </p:nvSpPr>
        <p:spPr>
          <a:xfrm xmlns:a="http://schemas.openxmlformats.org/drawingml/2006/main">
            <a:off x="9925050" y="1952625"/>
            <a:ext cx="609600" cy="60960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A1D57892-C5FC-4382-A1E7-C4C2DC37BDA0}"/>
              </a:ext>
            </a:extLst>
          </p:cNvPr>
          <p:cNvSpPr>
            <a:spLocks xmlns:a="http://schemas.openxmlformats.org/drawingml/2006/main" noGrp="1"/>
          </p:cNvSpPr>
          <p:nvPr/>
        </p:nvSpPr>
        <p:spPr>
          <a:xfrm xmlns:a="http://schemas.openxmlformats.org/drawingml/2006/main">
            <a:off x="9182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Screen changes</a:t>
            </a:r>
          </a:p>
        </p:txBody>
      </p:sp>
      <p:sp>
        <p:nvSpPr>
          <p:cNvPr id="22" name="">
            <a:extLst xmlns:a="http://schemas.openxmlformats.org/drawingml/2006/main">
              <a:ext uri="{FF2B5EF4-FFF2-40B4-BE49-F238E27FC236}">
                <a16:creationId xmlns:a16="http://schemas.microsoft.com/office/drawing/2014/main" id="{CB157275-94B9-45CA-821B-B1C505636E41}"/>
              </a:ext>
            </a:extLst>
          </p:cNvPr>
          <p:cNvSpPr>
            <a:spLocks xmlns:a="http://schemas.openxmlformats.org/drawingml/2006/main" noGrp="1"/>
          </p:cNvSpPr>
          <p:nvPr/>
        </p:nvSpPr>
        <p:spPr>
          <a:xfrm xmlns:a="http://schemas.openxmlformats.org/drawingml/2006/main">
            <a:off x="9182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Owners see the new state instantly</a:t>
            </a:r>
          </a:p>
        </p:txBody>
      </p:sp>
      <p:sp>
        <p:nvSpPr>
          <p:cNvPr id="23" name="">
            <a:extLst xmlns:a="http://schemas.openxmlformats.org/drawingml/2006/main">
              <a:ext uri="{FF2B5EF4-FFF2-40B4-BE49-F238E27FC236}">
                <a16:creationId xmlns:a16="http://schemas.microsoft.com/office/drawing/2014/main" id="{BE19CBA4-9AA2-4D12-B05E-F7EBDE707BD0}"/>
              </a:ext>
            </a:extLst>
          </p:cNvPr>
          <p:cNvSpPr>
            <a:spLocks xmlns:a="http://schemas.openxmlformats.org/drawingml/2006/main" noGrp="1"/>
          </p:cNvSpPr>
          <p:nvPr/>
        </p:nvSpPr>
        <p:spPr>
          <a:xfrm xmlns:a="http://schemas.openxmlformats.org/drawingml/2006/main">
            <a:off x="1333500" y="4333875"/>
            <a:ext cx="9525000" cy="1190625"/>
          </a:xfrm>
          <a:prstGeom xmlns:a="http://schemas.openxmlformats.org/drawingml/2006/main" prst="roundRect">
            <a:avLst>
              <a:gd name="adj" fmla="val 17600"/>
            </a:avLst>
          </a:prstGeom>
          <a:solidFill xmlns:a="http://schemas.openxmlformats.org/drawingml/2006/main">
            <a:srgbClr val="DCF4EC"/>
          </a:solidFill>
          <a:ln xmlns:a="http://schemas.openxmlformats.org/drawingml/2006/main" w="14288">
            <a:solidFill>
              <a:srgbClr val="8ACDBA"/>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9BD6DBA5-D650-48A2-92F0-4CD4130ABAE0}"/>
              </a:ext>
            </a:extLst>
          </p:cNvPr>
          <p:cNvSpPr>
            <a:spLocks xmlns:a="http://schemas.openxmlformats.org/drawingml/2006/main" noGrp="1"/>
          </p:cNvSpPr>
          <p:nvPr/>
        </p:nvSpPr>
        <p:spPr>
          <a:xfrm xmlns:a="http://schemas.openxmlformats.org/drawingml/2006/main">
            <a:off x="171450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C85B55"/>
                </a:solidFill>
                <a:latin typeface="Helvetica Neue"/>
                <a:ea typeface="Helvetica Neue"/>
                <a:cs typeface="Helvetica Neue"/>
              </a:defRPr>
            </a:pPr>
            <a:r>
              <a:rPr sz="1650" b="1">
                <a:solidFill>
                  <a:srgbClr val="C85B55"/>
                </a:solidFill>
                <a:latin typeface="Helvetica Neue"/>
                <a:ea typeface="Helvetica Neue"/>
                <a:cs typeface="Helvetica Neue"/>
              </a:rPr>
              <a:t>Before</a:t>
            </a:r>
          </a:p>
        </p:txBody>
      </p:sp>
      <p:sp>
        <p:nvSpPr>
          <p:cNvPr id="25" name="">
            <a:extLst xmlns:a="http://schemas.openxmlformats.org/drawingml/2006/main">
              <a:ext uri="{FF2B5EF4-FFF2-40B4-BE49-F238E27FC236}">
                <a16:creationId xmlns:a16="http://schemas.microsoft.com/office/drawing/2014/main" id="{860EBE42-F0CB-4F28-B1EF-262045F01292}"/>
              </a:ext>
            </a:extLst>
          </p:cNvPr>
          <p:cNvSpPr>
            <a:spLocks xmlns:a="http://schemas.openxmlformats.org/drawingml/2006/main" noGrp="1"/>
          </p:cNvSpPr>
          <p:nvPr/>
        </p:nvSpPr>
        <p:spPr>
          <a:xfrm xmlns:a="http://schemas.openxmlformats.org/drawingml/2006/main">
            <a:off x="1571625"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Refresh page or ask staff</a:t>
            </a:r>
          </a:p>
        </p:txBody>
      </p:sp>
      <p:sp>
        <p:nvSpPr>
          <p:cNvPr id="26" name="">
            <a:extLst xmlns:a="http://schemas.openxmlformats.org/drawingml/2006/main">
              <a:ext uri="{FF2B5EF4-FFF2-40B4-BE49-F238E27FC236}">
                <a16:creationId xmlns:a16="http://schemas.microsoft.com/office/drawing/2014/main" id="{8D192E01-FE2B-4340-9C9F-966A8A90FA5E}"/>
              </a:ext>
            </a:extLst>
          </p:cNvPr>
          <p:cNvSpPr>
            <a:spLocks xmlns:a="http://schemas.openxmlformats.org/drawingml/2006/main" noGrp="1"/>
          </p:cNvSpPr>
          <p:nvPr/>
        </p:nvSpPr>
        <p:spPr>
          <a:xfrm xmlns:a="http://schemas.openxmlformats.org/drawingml/2006/main">
            <a:off x="4762500" y="463867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6A085"/>
                </a:solidFill>
                <a:latin typeface="Helvetica Neue"/>
                <a:ea typeface="Helvetica Neue"/>
                <a:cs typeface="Helvetica Neue"/>
              </a:defRPr>
            </a:pPr>
            <a:r>
              <a:rPr sz="1950" b="1">
                <a:solidFill>
                  <a:srgbClr val="16A085"/>
                </a:solidFill>
                <a:latin typeface="Helvetica Neue"/>
                <a:ea typeface="Helvetica Neue"/>
                <a:cs typeface="Helvetica Neue"/>
              </a:rPr>
              <a:t>No manual refresh</a:t>
            </a:r>
          </a:p>
        </p:txBody>
      </p:sp>
      <p:sp>
        <p:nvSpPr>
          <p:cNvPr id="27" name="">
            <a:extLst xmlns:a="http://schemas.openxmlformats.org/drawingml/2006/main">
              <a:ext uri="{FF2B5EF4-FFF2-40B4-BE49-F238E27FC236}">
                <a16:creationId xmlns:a16="http://schemas.microsoft.com/office/drawing/2014/main" id="{EC59EAEC-434F-40F8-9E71-3DCCC7255842}"/>
              </a:ext>
            </a:extLst>
          </p:cNvPr>
          <p:cNvSpPr>
            <a:spLocks xmlns:a="http://schemas.openxmlformats.org/drawingml/2006/main" noGrp="1"/>
          </p:cNvSpPr>
          <p:nvPr/>
        </p:nvSpPr>
        <p:spPr>
          <a:xfrm xmlns:a="http://schemas.openxmlformats.org/drawingml/2006/main">
            <a:off x="809625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16A085"/>
                </a:solidFill>
                <a:latin typeface="Helvetica Neue"/>
                <a:ea typeface="Helvetica Neue"/>
                <a:cs typeface="Helvetica Neue"/>
              </a:defRPr>
            </a:pPr>
            <a:r>
              <a:rPr sz="1650" b="1">
                <a:solidFill>
                  <a:srgbClr val="16A085"/>
                </a:solidFill>
                <a:latin typeface="Helvetica Neue"/>
                <a:ea typeface="Helvetica Neue"/>
                <a:cs typeface="Helvetica Neue"/>
              </a:rPr>
              <a:t>After</a:t>
            </a:r>
          </a:p>
        </p:txBody>
      </p:sp>
      <p:sp>
        <p:nvSpPr>
          <p:cNvPr id="28" name="">
            <a:extLst xmlns:a="http://schemas.openxmlformats.org/drawingml/2006/main">
              <a:ext uri="{FF2B5EF4-FFF2-40B4-BE49-F238E27FC236}">
                <a16:creationId xmlns:a16="http://schemas.microsoft.com/office/drawing/2014/main" id="{8AC5A97B-626F-467F-80EE-ADA845FBE850}"/>
              </a:ext>
            </a:extLst>
          </p:cNvPr>
          <p:cNvSpPr>
            <a:spLocks xmlns:a="http://schemas.openxmlformats.org/drawingml/2006/main" noGrp="1"/>
          </p:cNvSpPr>
          <p:nvPr/>
        </p:nvSpPr>
        <p:spPr>
          <a:xfrm xmlns:a="http://schemas.openxmlformats.org/drawingml/2006/main">
            <a:off x="7810500" y="4857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Current number, patients ahead, and call status update automatically</a:t>
            </a:r>
          </a:p>
        </p:txBody>
      </p:sp>
    </p:spTree>
    <p:extLst>
      <p:ext uri="{BB962C8B-B14F-4D97-AF65-F5344CB8AC3E}">
        <p14:creationId xmlns:p14="http://schemas.microsoft.com/office/powerpoint/2010/main" val="472993618"/>
      </p:ext>
    </p:extLst>
  </p:cSld>
</p:sld>
</file>

<file path=ppt/slides/slide4.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3ADF80-1FFF-4337-BA3A-11A39F2D553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A389C290-5BB7-4568-B568-59ADD446FB5A}"/>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2FA2689-B5D4-409A-9DA2-3968EC4D546D}"/>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Technology of interest</a:t>
            </a:r>
          </a:p>
        </p:txBody>
      </p:sp>
      <p:sp>
        <p:nvSpPr>
          <p:cNvPr id="4" name="">
            <a:extLst xmlns:a="http://schemas.openxmlformats.org/drawingml/2006/main">
              <a:ext uri="{FF2B5EF4-FFF2-40B4-BE49-F238E27FC236}">
                <a16:creationId xmlns:a16="http://schemas.microsoft.com/office/drawing/2014/main" id="{A6F089C5-020A-4B58-A8EC-C6274EC41DFD}"/>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manages a persistent real-time channel between browser and server</a:t>
            </a:r>
          </a:p>
        </p:txBody>
      </p:sp>
      <p:sp>
        <p:nvSpPr>
          <p:cNvPr id="5" name="">
            <a:extLst xmlns:a="http://schemas.openxmlformats.org/drawingml/2006/main">
              <a:ext uri="{FF2B5EF4-FFF2-40B4-BE49-F238E27FC236}">
                <a16:creationId xmlns:a16="http://schemas.microsoft.com/office/drawing/2014/main" id="{842895AF-20FD-4B06-876E-47009F7A7B23}"/>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D17923C4-EBBF-4F19-9358-BE46ECF64F16}"/>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9850421D-7087-4424-BADB-E3562EE34619}"/>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4</a:t>
            </a:r>
          </a:p>
        </p:txBody>
      </p:sp>
      <p:sp>
        <p:nvSpPr>
          <p:cNvPr id="8" name="">
            <a:extLst xmlns:a="http://schemas.openxmlformats.org/drawingml/2006/main">
              <a:ext uri="{FF2B5EF4-FFF2-40B4-BE49-F238E27FC236}">
                <a16:creationId xmlns:a16="http://schemas.microsoft.com/office/drawing/2014/main" id="{EE6C8E3E-4391-4B10-B006-DB898CE2B321}"/>
              </a:ext>
            </a:extLst>
          </p:cNvPr>
          <p:cNvSpPr>
            <a:spLocks xmlns:a="http://schemas.openxmlformats.org/drawingml/2006/main" noGrp="1"/>
          </p:cNvSpPr>
          <p:nvPr/>
        </p:nvSpPr>
        <p:spPr>
          <a:xfrm xmlns:a="http://schemas.openxmlformats.org/drawingml/2006/main">
            <a:off x="704850" y="1952625"/>
            <a:ext cx="4762500" cy="3333750"/>
          </a:xfrm>
          <a:prstGeom xmlns:a="http://schemas.openxmlformats.org/drawingml/2006/main" prst="roundRect">
            <a:avLst>
              <a:gd name="adj" fmla="val 6286"/>
            </a:avLst>
          </a:prstGeom>
          <a:solidFill xmlns:a="http://schemas.openxmlformats.org/drawingml/2006/main">
            <a:srgbClr val="E5F0F8"/>
          </a:solidFill>
          <a:ln xmlns:a="http://schemas.openxmlformats.org/drawingml/2006/main" w="14288">
            <a:solidFill>
              <a:srgbClr val="99BCD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220D0F6-0EEA-4A87-A53E-5DA170C34964}"/>
              </a:ext>
            </a:extLst>
          </p:cNvPr>
          <p:cNvSpPr>
            <a:spLocks xmlns:a="http://schemas.openxmlformats.org/drawingml/2006/main" noGrp="1"/>
          </p:cNvSpPr>
          <p:nvPr/>
        </p:nvSpPr>
        <p:spPr>
          <a:xfrm xmlns:a="http://schemas.openxmlformats.org/drawingml/2006/main">
            <a:off x="9906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2E6F95"/>
                </a:solidFill>
                <a:latin typeface="Helvetica Neue"/>
                <a:ea typeface="Helvetica Neue"/>
                <a:cs typeface="Helvetica Neue"/>
              </a:defRPr>
            </a:pPr>
            <a:r>
              <a:rPr sz="2250" b="1">
                <a:solidFill>
                  <a:srgbClr val="2E6F95"/>
                </a:solidFill>
                <a:latin typeface="Helvetica Neue"/>
                <a:ea typeface="Helvetica Neue"/>
                <a:cs typeface="Helvetica Neue"/>
              </a:rPr>
              <a:t>WebSocket</a:t>
            </a:r>
          </a:p>
        </p:txBody>
      </p:sp>
      <p:sp>
        <p:nvSpPr>
          <p:cNvPr id="10" name="">
            <a:extLst xmlns:a="http://schemas.openxmlformats.org/drawingml/2006/main">
              <a:ext uri="{FF2B5EF4-FFF2-40B4-BE49-F238E27FC236}">
                <a16:creationId xmlns:a16="http://schemas.microsoft.com/office/drawing/2014/main" id="{8534A83B-8E2A-4AB9-AA3B-7EA674AB8ED7}"/>
              </a:ext>
            </a:extLst>
          </p:cNvPr>
          <p:cNvSpPr>
            <a:spLocks xmlns:a="http://schemas.openxmlformats.org/drawingml/2006/main" noGrp="1"/>
          </p:cNvSpPr>
          <p:nvPr/>
        </p:nvSpPr>
        <p:spPr>
          <a:xfrm xmlns:a="http://schemas.openxmlformats.org/drawingml/2006/main">
            <a:off x="10953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A persistent, full-duplex connection</a:t>
            </a:r>
          </a:p>
        </p:txBody>
      </p:sp>
      <p:sp>
        <p:nvSpPr>
          <p:cNvPr id="11" name="">
            <a:extLst xmlns:a="http://schemas.openxmlformats.org/drawingml/2006/main">
              <a:ext uri="{FF2B5EF4-FFF2-40B4-BE49-F238E27FC236}">
                <a16:creationId xmlns:a16="http://schemas.microsoft.com/office/drawing/2014/main" id="{82A7B5D0-A910-4EF7-88FA-FA445D80110A}"/>
              </a:ext>
            </a:extLst>
          </p:cNvPr>
          <p:cNvSpPr>
            <a:spLocks xmlns:a="http://schemas.openxmlformats.org/drawingml/2006/main" noGrp="1"/>
          </p:cNvSpPr>
          <p:nvPr/>
        </p:nvSpPr>
        <p:spPr>
          <a:xfrm xmlns:a="http://schemas.openxmlformats.org/drawingml/2006/main">
            <a:off x="1428750" y="3619500"/>
            <a:ext cx="3333750" cy="0"/>
          </a:xfrm>
          <a:prstGeom xmlns:a="http://schemas.openxmlformats.org/drawingml/2006/main" prst="line">
            <a:avLst/>
          </a:prstGeom>
          <a:noFill xmlns:a="http://schemas.openxmlformats.org/drawingml/2006/main"/>
          <a:ln xmlns:a="http://schemas.openxmlformats.org/drawingml/2006/main" w="47625">
            <a:solidFill>
              <a:srgbClr val="2E6F95"/>
            </a:solidFill>
            <a:prstDash val="solid"/>
          </a:ln>
        </p:spPr>
      </p:sp>
      <p:sp>
        <p:nvSpPr>
          <p:cNvPr id="12" name="">
            <a:extLst xmlns:a="http://schemas.openxmlformats.org/drawingml/2006/main">
              <a:ext uri="{FF2B5EF4-FFF2-40B4-BE49-F238E27FC236}">
                <a16:creationId xmlns:a16="http://schemas.microsoft.com/office/drawing/2014/main" id="{87AE5CA8-C353-4B98-ADFF-B530873ACF5A}"/>
              </a:ext>
            </a:extLst>
          </p:cNvPr>
          <p:cNvSpPr>
            <a:spLocks xmlns:a="http://schemas.openxmlformats.org/drawingml/2006/main" noGrp="1"/>
          </p:cNvSpPr>
          <p:nvPr/>
        </p:nvSpPr>
        <p:spPr>
          <a:xfrm xmlns:a="http://schemas.openxmlformats.org/drawingml/2006/main">
            <a:off x="1095375" y="3914775"/>
            <a:ext cx="400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66736F"/>
                </a:solidFill>
                <a:latin typeface="Helvetica Neue"/>
                <a:ea typeface="Helvetica Neue"/>
                <a:cs typeface="Helvetica Neue"/>
              </a:defRPr>
            </a:pPr>
            <a:r>
              <a:rPr sz="1425" b="0">
                <a:solidFill>
                  <a:srgbClr val="66736F"/>
                </a:solidFill>
                <a:latin typeface="Helvetica Neue"/>
                <a:ea typeface="Helvetica Neue"/>
                <a:cs typeface="Helvetica Neue"/>
              </a:rPr>
              <a:t>Browser and server can exchange messages without creating a new HTTP request for every update.</a:t>
            </a:r>
          </a:p>
        </p:txBody>
      </p:sp>
      <p:sp>
        <p:nvSpPr>
          <p:cNvPr id="13" name="">
            <a:extLst xmlns:a="http://schemas.openxmlformats.org/drawingml/2006/main">
              <a:ext uri="{FF2B5EF4-FFF2-40B4-BE49-F238E27FC236}">
                <a16:creationId xmlns:a16="http://schemas.microsoft.com/office/drawing/2014/main" id="{80CD9A83-9E46-4CB3-99AC-3192666F03FE}"/>
              </a:ext>
            </a:extLst>
          </p:cNvPr>
          <p:cNvSpPr>
            <a:spLocks xmlns:a="http://schemas.openxmlformats.org/drawingml/2006/main" noGrp="1"/>
          </p:cNvSpPr>
          <p:nvPr/>
        </p:nvSpPr>
        <p:spPr>
          <a:xfrm xmlns:a="http://schemas.openxmlformats.org/drawingml/2006/main">
            <a:off x="6724650" y="1952625"/>
            <a:ext cx="4762500" cy="3333750"/>
          </a:xfrm>
          <a:prstGeom xmlns:a="http://schemas.openxmlformats.org/drawingml/2006/main" prst="roundRect">
            <a:avLst>
              <a:gd name="adj" fmla="val 6286"/>
            </a:avLst>
          </a:prstGeom>
          <a:solidFill xmlns:a="http://schemas.openxmlformats.org/drawingml/2006/main">
            <a:srgbClr val="DCF4EC"/>
          </a:solidFill>
          <a:ln xmlns:a="http://schemas.openxmlformats.org/drawingml/2006/main" w="14288">
            <a:solidFill>
              <a:srgbClr val="86CBB8"/>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BDDEB42-A6F8-4C87-8897-4CB5205376CC}"/>
              </a:ext>
            </a:extLst>
          </p:cNvPr>
          <p:cNvSpPr>
            <a:spLocks xmlns:a="http://schemas.openxmlformats.org/drawingml/2006/main" noGrp="1"/>
          </p:cNvSpPr>
          <p:nvPr/>
        </p:nvSpPr>
        <p:spPr>
          <a:xfrm xmlns:a="http://schemas.openxmlformats.org/drawingml/2006/main">
            <a:off x="70104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6A085"/>
                </a:solidFill>
                <a:latin typeface="Helvetica Neue"/>
                <a:ea typeface="Helvetica Neue"/>
                <a:cs typeface="Helvetica Neue"/>
              </a:defRPr>
            </a:pPr>
            <a:r>
              <a:rPr sz="2250" b="1">
                <a:solidFill>
                  <a:srgbClr val="16A085"/>
                </a:solidFill>
                <a:latin typeface="Helvetica Neue"/>
                <a:ea typeface="Helvetica Neue"/>
                <a:cs typeface="Helvetica Neue"/>
              </a:rPr>
              <a:t>Socket.IO</a:t>
            </a:r>
          </a:p>
        </p:txBody>
      </p:sp>
      <p:sp>
        <p:nvSpPr>
          <p:cNvPr id="15" name="">
            <a:extLst xmlns:a="http://schemas.openxmlformats.org/drawingml/2006/main">
              <a:ext uri="{FF2B5EF4-FFF2-40B4-BE49-F238E27FC236}">
                <a16:creationId xmlns:a16="http://schemas.microsoft.com/office/drawing/2014/main" id="{53894757-9B76-49E0-94F7-633683CE4052}"/>
              </a:ext>
            </a:extLst>
          </p:cNvPr>
          <p:cNvSpPr>
            <a:spLocks xmlns:a="http://schemas.openxmlformats.org/drawingml/2006/main" noGrp="1"/>
          </p:cNvSpPr>
          <p:nvPr/>
        </p:nvSpPr>
        <p:spPr>
          <a:xfrm xmlns:a="http://schemas.openxmlformats.org/drawingml/2006/main">
            <a:off x="71151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The real-time library used by PawEver</a:t>
            </a:r>
          </a:p>
        </p:txBody>
      </p:sp>
      <p:sp>
        <p:nvSpPr>
          <p:cNvPr id="16" name="">
            <a:extLst xmlns:a="http://schemas.openxmlformats.org/drawingml/2006/main">
              <a:ext uri="{FF2B5EF4-FFF2-40B4-BE49-F238E27FC236}">
                <a16:creationId xmlns:a16="http://schemas.microsoft.com/office/drawing/2014/main" id="{DDB24F86-223E-4989-80F7-52C20D13C89D}"/>
              </a:ext>
            </a:extLst>
          </p:cNvPr>
          <p:cNvSpPr>
            <a:spLocks xmlns:a="http://schemas.openxmlformats.org/drawingml/2006/main" noGrp="1"/>
          </p:cNvSpPr>
          <p:nvPr/>
        </p:nvSpPr>
        <p:spPr>
          <a:xfrm xmlns:a="http://schemas.openxmlformats.org/drawingml/2006/main">
            <a:off x="7334250" y="3352800"/>
            <a:ext cx="3571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Real-time event communication</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Automatic connection handling</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Broadcasting to many users</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Rooms for clinic departments</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Reconnection support</a:t>
            </a:r>
          </a:p>
        </p:txBody>
      </p:sp>
      <p:sp>
        <p:nvSpPr>
          <p:cNvPr id="17" name="">
            <a:extLst xmlns:a="http://schemas.openxmlformats.org/drawingml/2006/main">
              <a:ext uri="{FF2B5EF4-FFF2-40B4-BE49-F238E27FC236}">
                <a16:creationId xmlns:a16="http://schemas.microsoft.com/office/drawing/2014/main" id="{90211E96-2786-486C-8C48-96B3995BF074}"/>
              </a:ext>
            </a:extLst>
          </p:cNvPr>
          <p:cNvSpPr>
            <a:spLocks xmlns:a="http://schemas.openxmlformats.org/drawingml/2006/main" noGrp="1"/>
          </p:cNvSpPr>
          <p:nvPr/>
        </p:nvSpPr>
        <p:spPr>
          <a:xfrm xmlns:a="http://schemas.openxmlformats.org/drawingml/2006/main">
            <a:off x="5657850" y="3314700"/>
            <a:ext cx="876300" cy="304800"/>
          </a:xfrm>
          <a:prstGeom xmlns:a="http://schemas.openxmlformats.org/drawingml/2006/main" prst="rightArrow">
            <a:avLst/>
          </a:prstGeom>
          <a:solidFill xmlns:a="http://schemas.openxmlformats.org/drawingml/2006/main">
            <a:srgbClr val="C98A3D"/>
          </a:solidFill>
          <a:ln xmlns:a="http://schemas.openxmlformats.org/drawingml/2006/main" w="0">
            <a:solidFill>
              <a:srgbClr val="C98A3D"/>
            </a:solidFill>
          </a:ln>
        </p:spPr>
      </p:sp>
      <p:sp>
        <p:nvSpPr>
          <p:cNvPr id="18" name="">
            <a:extLst xmlns:a="http://schemas.openxmlformats.org/drawingml/2006/main">
              <a:ext uri="{FF2B5EF4-FFF2-40B4-BE49-F238E27FC236}">
                <a16:creationId xmlns:a16="http://schemas.microsoft.com/office/drawing/2014/main" id="{4ABC9448-3B8A-4108-8E7F-ED0DC23FBA1B}"/>
              </a:ext>
            </a:extLst>
          </p:cNvPr>
          <p:cNvSpPr>
            <a:spLocks xmlns:a="http://schemas.openxmlformats.org/drawingml/2006/main" noGrp="1"/>
          </p:cNvSpPr>
          <p:nvPr/>
        </p:nvSpPr>
        <p:spPr>
          <a:xfrm xmlns:a="http://schemas.openxmlformats.org/drawingml/2006/main">
            <a:off x="5800725" y="2952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1">
                <a:solidFill>
                  <a:srgbClr val="C98A3D"/>
                </a:solidFill>
                <a:latin typeface="Helvetica Neue"/>
                <a:ea typeface="Helvetica Neue"/>
                <a:cs typeface="Helvetica Neue"/>
              </a:defRPr>
            </a:pPr>
            <a:r>
              <a:rPr sz="1200" b="1">
                <a:solidFill>
                  <a:srgbClr val="C98A3D"/>
                </a:solidFill>
                <a:latin typeface="Helvetica Neue"/>
                <a:ea typeface="Helvetica Neue"/>
                <a:cs typeface="Helvetica Neue"/>
              </a:rPr>
              <a:t>uses</a:t>
            </a:r>
          </a:p>
        </p:txBody>
      </p:sp>
    </p:spTree>
    <p:extLst>
      <p:ext uri="{BB962C8B-B14F-4D97-AF65-F5344CB8AC3E}">
        <p14:creationId xmlns:p14="http://schemas.microsoft.com/office/powerpoint/2010/main" val="792943523"/>
      </p:ext>
    </p:extLst>
  </p:cSld>
</p:sld>
</file>

<file path=ppt/slides/slide5.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9086887-D402-40BD-90CF-5F609089DA6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D4F812D4-A7A1-411B-A10D-38C355EB86AB}"/>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5617488C-21DD-4EF3-8388-A3460EA2C684}"/>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Queue update flow</a:t>
            </a:r>
          </a:p>
        </p:txBody>
      </p:sp>
      <p:sp>
        <p:nvSpPr>
          <p:cNvPr id="4" name="">
            <a:extLst xmlns:a="http://schemas.openxmlformats.org/drawingml/2006/main">
              <a:ext uri="{FF2B5EF4-FFF2-40B4-BE49-F238E27FC236}">
                <a16:creationId xmlns:a16="http://schemas.microsoft.com/office/drawing/2014/main" id="{869AE7A1-5B2F-48DC-B28A-8C400A4437E6}"/>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One staff action reaches every connected pet-owner screen</a:t>
            </a:r>
          </a:p>
        </p:txBody>
      </p:sp>
      <p:sp>
        <p:nvSpPr>
          <p:cNvPr id="5" name="">
            <a:extLst xmlns:a="http://schemas.openxmlformats.org/drawingml/2006/main">
              <a:ext uri="{FF2B5EF4-FFF2-40B4-BE49-F238E27FC236}">
                <a16:creationId xmlns:a16="http://schemas.microsoft.com/office/drawing/2014/main" id="{244CD754-73B2-4BDC-AD44-A4C444F36EE9}"/>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DFC5CE41-1F17-496B-B8E1-60DFD1A81ED3}"/>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06B30285-C5B9-4322-BAE9-022DFA958E92}"/>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5</a:t>
            </a:r>
          </a:p>
        </p:txBody>
      </p:sp>
      <p:sp>
        <p:nvSpPr>
          <p:cNvPr id="8" name="">
            <a:extLst xmlns:a="http://schemas.openxmlformats.org/drawingml/2006/main">
              <a:ext uri="{FF2B5EF4-FFF2-40B4-BE49-F238E27FC236}">
                <a16:creationId xmlns:a16="http://schemas.microsoft.com/office/drawing/2014/main" id="{F6982D10-4A17-4BBE-9442-29EE2B5963E4}"/>
              </a:ext>
            </a:extLst>
          </p:cNvPr>
          <p:cNvSpPr>
            <a:spLocks xmlns:a="http://schemas.openxmlformats.org/drawingml/2006/main" noGrp="1"/>
          </p:cNvSpPr>
          <p:nvPr/>
        </p:nvSpPr>
        <p:spPr>
          <a:xfrm xmlns:a="http://schemas.openxmlformats.org/drawingml/2006/main">
            <a:off x="666750" y="1952625"/>
            <a:ext cx="1809750" cy="685800"/>
          </a:xfrm>
          <a:prstGeom xmlns:a="http://schemas.openxmlformats.org/drawingml/2006/main" prst="roundRect">
            <a:avLst>
              <a:gd name="adj" fmla="val 20833"/>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D8E044E5-7179-4C3C-B74C-25FB953A13D1}"/>
              </a:ext>
            </a:extLst>
          </p:cNvPr>
          <p:cNvSpPr>
            <a:spLocks xmlns:a="http://schemas.openxmlformats.org/drawingml/2006/main" noGrp="1"/>
          </p:cNvSpPr>
          <p:nvPr/>
        </p:nvSpPr>
        <p:spPr>
          <a:xfrm xmlns:a="http://schemas.openxmlformats.org/drawingml/2006/main">
            <a:off x="76200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Clinic staff</a:t>
            </a:r>
          </a:p>
        </p:txBody>
      </p:sp>
      <p:sp>
        <p:nvSpPr>
          <p:cNvPr id="10" name="">
            <a:extLst xmlns:a="http://schemas.openxmlformats.org/drawingml/2006/main">
              <a:ext uri="{FF2B5EF4-FFF2-40B4-BE49-F238E27FC236}">
                <a16:creationId xmlns:a16="http://schemas.microsoft.com/office/drawing/2014/main" id="{409E7E7C-60CF-4694-85BB-DBCA52C07F89}"/>
              </a:ext>
            </a:extLst>
          </p:cNvPr>
          <p:cNvSpPr>
            <a:spLocks xmlns:a="http://schemas.openxmlformats.org/drawingml/2006/main" noGrp="1"/>
          </p:cNvSpPr>
          <p:nvPr/>
        </p:nvSpPr>
        <p:spPr>
          <a:xfrm xmlns:a="http://schemas.openxmlformats.org/drawingml/2006/main">
            <a:off x="251460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1" name="">
            <a:extLst xmlns:a="http://schemas.openxmlformats.org/drawingml/2006/main">
              <a:ext uri="{FF2B5EF4-FFF2-40B4-BE49-F238E27FC236}">
                <a16:creationId xmlns:a16="http://schemas.microsoft.com/office/drawing/2014/main" id="{B9CD59D0-A54F-4893-B618-A08657B10C0D}"/>
              </a:ext>
            </a:extLst>
          </p:cNvPr>
          <p:cNvSpPr>
            <a:spLocks xmlns:a="http://schemas.openxmlformats.org/drawingml/2006/main" noGrp="1"/>
          </p:cNvSpPr>
          <p:nvPr/>
        </p:nvSpPr>
        <p:spPr>
          <a:xfrm xmlns:a="http://schemas.openxmlformats.org/drawingml/2006/main">
            <a:off x="2857500" y="1952625"/>
            <a:ext cx="1809750" cy="685800"/>
          </a:xfrm>
          <a:prstGeom xmlns:a="http://schemas.openxmlformats.org/drawingml/2006/main" prst="roundRect">
            <a:avLst>
              <a:gd name="adj" fmla="val 20833"/>
            </a:avLst>
          </a:prstGeom>
          <a:solidFill xmlns:a="http://schemas.openxmlformats.org/drawingml/2006/main">
            <a:srgbClr val="E5F0F8"/>
          </a:solidFill>
          <a:ln xmlns:a="http://schemas.openxmlformats.org/drawingml/2006/main" w="14288">
            <a:solidFill>
              <a:srgbClr val="2E6F95"/>
            </a:solidFill>
            <a:prstDash val="solid"/>
          </a:ln>
        </p:spPr>
      </p:sp>
      <p:sp>
        <p:nvSpPr>
          <p:cNvPr id="12" name="">
            <a:extLst xmlns:a="http://schemas.openxmlformats.org/drawingml/2006/main">
              <a:ext uri="{FF2B5EF4-FFF2-40B4-BE49-F238E27FC236}">
                <a16:creationId xmlns:a16="http://schemas.microsoft.com/office/drawing/2014/main" id="{DE5C59B8-4B68-4269-9D4B-4E0474B50F85}"/>
              </a:ext>
            </a:extLst>
          </p:cNvPr>
          <p:cNvSpPr>
            <a:spLocks xmlns:a="http://schemas.openxmlformats.org/drawingml/2006/main" noGrp="1"/>
          </p:cNvSpPr>
          <p:nvPr/>
        </p:nvSpPr>
        <p:spPr>
          <a:xfrm xmlns:a="http://schemas.openxmlformats.org/drawingml/2006/main">
            <a:off x="2952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Application API</a:t>
            </a:r>
          </a:p>
        </p:txBody>
      </p:sp>
      <p:sp>
        <p:nvSpPr>
          <p:cNvPr id="13" name="">
            <a:extLst xmlns:a="http://schemas.openxmlformats.org/drawingml/2006/main">
              <a:ext uri="{FF2B5EF4-FFF2-40B4-BE49-F238E27FC236}">
                <a16:creationId xmlns:a16="http://schemas.microsoft.com/office/drawing/2014/main" id="{32AA2E57-F94D-4295-8E76-009E894126FE}"/>
              </a:ext>
            </a:extLst>
          </p:cNvPr>
          <p:cNvSpPr>
            <a:spLocks xmlns:a="http://schemas.openxmlformats.org/drawingml/2006/main" noGrp="1"/>
          </p:cNvSpPr>
          <p:nvPr/>
        </p:nvSpPr>
        <p:spPr>
          <a:xfrm xmlns:a="http://schemas.openxmlformats.org/drawingml/2006/main">
            <a:off x="4705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4" name="">
            <a:extLst xmlns:a="http://schemas.openxmlformats.org/drawingml/2006/main">
              <a:ext uri="{FF2B5EF4-FFF2-40B4-BE49-F238E27FC236}">
                <a16:creationId xmlns:a16="http://schemas.microsoft.com/office/drawing/2014/main" id="{D88744F9-751B-4A28-A962-AEB5A53B8E74}"/>
              </a:ext>
            </a:extLst>
          </p:cNvPr>
          <p:cNvSpPr>
            <a:spLocks xmlns:a="http://schemas.openxmlformats.org/drawingml/2006/main" noGrp="1"/>
          </p:cNvSpPr>
          <p:nvPr/>
        </p:nvSpPr>
        <p:spPr>
          <a:xfrm xmlns:a="http://schemas.openxmlformats.org/drawingml/2006/main">
            <a:off x="5095875" y="1952625"/>
            <a:ext cx="1809750" cy="685800"/>
          </a:xfrm>
          <a:prstGeom xmlns:a="http://schemas.openxmlformats.org/drawingml/2006/main" prst="roundRect">
            <a:avLst>
              <a:gd name="adj" fmla="val 20833"/>
            </a:avLst>
          </a:prstGeom>
          <a:solidFill xmlns:a="http://schemas.openxmlformats.org/drawingml/2006/main">
            <a:srgbClr val="DCF4EC"/>
          </a:solidFill>
          <a:ln xmlns:a="http://schemas.openxmlformats.org/drawingml/2006/main" w="14288">
            <a:solidFill>
              <a:srgbClr val="16A085"/>
            </a:solidFill>
            <a:prstDash val="solid"/>
          </a:ln>
        </p:spPr>
      </p:sp>
      <p:sp>
        <p:nvSpPr>
          <p:cNvPr id="15" name="">
            <a:extLst xmlns:a="http://schemas.openxmlformats.org/drawingml/2006/main">
              <a:ext uri="{FF2B5EF4-FFF2-40B4-BE49-F238E27FC236}">
                <a16:creationId xmlns:a16="http://schemas.microsoft.com/office/drawing/2014/main" id="{A11D70E6-352A-4CFE-9A8E-EA9918B18BFF}"/>
              </a:ext>
            </a:extLst>
          </p:cNvPr>
          <p:cNvSpPr>
            <a:spLocks xmlns:a="http://schemas.openxmlformats.org/drawingml/2006/main" noGrp="1"/>
          </p:cNvSpPr>
          <p:nvPr/>
        </p:nvSpPr>
        <p:spPr>
          <a:xfrm xmlns:a="http://schemas.openxmlformats.org/drawingml/2006/main">
            <a:off x="5191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PostgreSQL</a:t>
            </a:r>
          </a:p>
        </p:txBody>
      </p:sp>
      <p:sp>
        <p:nvSpPr>
          <p:cNvPr id="16" name="">
            <a:extLst xmlns:a="http://schemas.openxmlformats.org/drawingml/2006/main">
              <a:ext uri="{FF2B5EF4-FFF2-40B4-BE49-F238E27FC236}">
                <a16:creationId xmlns:a16="http://schemas.microsoft.com/office/drawing/2014/main" id="{EED315AB-72CC-406C-87B6-650612ACA752}"/>
              </a:ext>
            </a:extLst>
          </p:cNvPr>
          <p:cNvSpPr>
            <a:spLocks xmlns:a="http://schemas.openxmlformats.org/drawingml/2006/main" noGrp="1"/>
          </p:cNvSpPr>
          <p:nvPr/>
        </p:nvSpPr>
        <p:spPr>
          <a:xfrm xmlns:a="http://schemas.openxmlformats.org/drawingml/2006/main">
            <a:off x="6943725"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7" name="">
            <a:extLst xmlns:a="http://schemas.openxmlformats.org/drawingml/2006/main">
              <a:ext uri="{FF2B5EF4-FFF2-40B4-BE49-F238E27FC236}">
                <a16:creationId xmlns:a16="http://schemas.microsoft.com/office/drawing/2014/main" id="{A1E76CF3-45D0-413E-902B-686BD7A5FE00}"/>
              </a:ext>
            </a:extLst>
          </p:cNvPr>
          <p:cNvSpPr>
            <a:spLocks xmlns:a="http://schemas.openxmlformats.org/drawingml/2006/main" noGrp="1"/>
          </p:cNvSpPr>
          <p:nvPr/>
        </p:nvSpPr>
        <p:spPr>
          <a:xfrm xmlns:a="http://schemas.openxmlformats.org/drawingml/2006/main">
            <a:off x="7429500" y="1952625"/>
            <a:ext cx="1809750" cy="6858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8" name="">
            <a:extLst xmlns:a="http://schemas.openxmlformats.org/drawingml/2006/main">
              <a:ext uri="{FF2B5EF4-FFF2-40B4-BE49-F238E27FC236}">
                <a16:creationId xmlns:a16="http://schemas.microsoft.com/office/drawing/2014/main" id="{95DD58AE-D2F8-411C-9836-B3F059C0A83A}"/>
              </a:ext>
            </a:extLst>
          </p:cNvPr>
          <p:cNvSpPr>
            <a:spLocks xmlns:a="http://schemas.openxmlformats.org/drawingml/2006/main" noGrp="1"/>
          </p:cNvSpPr>
          <p:nvPr/>
        </p:nvSpPr>
        <p:spPr>
          <a:xfrm xmlns:a="http://schemas.openxmlformats.org/drawingml/2006/main">
            <a:off x="7524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Socket.IO</a:t>
            </a:r>
          </a:p>
        </p:txBody>
      </p:sp>
      <p:sp>
        <p:nvSpPr>
          <p:cNvPr id="19" name="">
            <a:extLst xmlns:a="http://schemas.openxmlformats.org/drawingml/2006/main">
              <a:ext uri="{FF2B5EF4-FFF2-40B4-BE49-F238E27FC236}">
                <a16:creationId xmlns:a16="http://schemas.microsoft.com/office/drawing/2014/main" id="{2AE9A80A-7130-405F-811C-89AC8A6DCAC2}"/>
              </a:ext>
            </a:extLst>
          </p:cNvPr>
          <p:cNvSpPr>
            <a:spLocks xmlns:a="http://schemas.openxmlformats.org/drawingml/2006/main" noGrp="1"/>
          </p:cNvSpPr>
          <p:nvPr/>
        </p:nvSpPr>
        <p:spPr>
          <a:xfrm xmlns:a="http://schemas.openxmlformats.org/drawingml/2006/main">
            <a:off x="9277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0A85BDC0-3A1D-47EB-B4ED-A9E0E5701239}"/>
              </a:ext>
            </a:extLst>
          </p:cNvPr>
          <p:cNvSpPr>
            <a:spLocks xmlns:a="http://schemas.openxmlformats.org/drawingml/2006/main" noGrp="1"/>
          </p:cNvSpPr>
          <p:nvPr/>
        </p:nvSpPr>
        <p:spPr>
          <a:xfrm xmlns:a="http://schemas.openxmlformats.org/drawingml/2006/main">
            <a:off x="9667875" y="1952625"/>
            <a:ext cx="1809750" cy="685800"/>
          </a:xfrm>
          <a:prstGeom xmlns:a="http://schemas.openxmlformats.org/drawingml/2006/main" prst="roundRect">
            <a:avLst>
              <a:gd name="adj" fmla="val 20833"/>
            </a:avLst>
          </a:prstGeom>
          <a:solidFill xmlns:a="http://schemas.openxmlformats.org/drawingml/2006/main">
            <a:srgbClr val="DDF4F5"/>
          </a:solidFill>
          <a:ln xmlns:a="http://schemas.openxmlformats.org/drawingml/2006/main" w="14288">
            <a:solidFill>
              <a:srgbClr val="4FA7A8"/>
            </a:solidFill>
            <a:prstDash val="solid"/>
          </a:ln>
        </p:spPr>
      </p:sp>
      <p:sp>
        <p:nvSpPr>
          <p:cNvPr id="21" name="">
            <a:extLst xmlns:a="http://schemas.openxmlformats.org/drawingml/2006/main">
              <a:ext uri="{FF2B5EF4-FFF2-40B4-BE49-F238E27FC236}">
                <a16:creationId xmlns:a16="http://schemas.microsoft.com/office/drawing/2014/main" id="{7F713BFE-DE4B-42A9-91AE-B22EA0CD18DE}"/>
              </a:ext>
            </a:extLst>
          </p:cNvPr>
          <p:cNvSpPr>
            <a:spLocks xmlns:a="http://schemas.openxmlformats.org/drawingml/2006/main" noGrp="1"/>
          </p:cNvSpPr>
          <p:nvPr/>
        </p:nvSpPr>
        <p:spPr>
          <a:xfrm xmlns:a="http://schemas.openxmlformats.org/drawingml/2006/main">
            <a:off x="9763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Owner screens</a:t>
            </a:r>
          </a:p>
        </p:txBody>
      </p:sp>
      <p:sp>
        <p:nvSpPr>
          <p:cNvPr id="22" name="">
            <a:extLst xmlns:a="http://schemas.openxmlformats.org/drawingml/2006/main">
              <a:ext uri="{FF2B5EF4-FFF2-40B4-BE49-F238E27FC236}">
                <a16:creationId xmlns:a16="http://schemas.microsoft.com/office/drawing/2014/main" id="{882C9E80-EEE2-4318-BDFF-E01E38A190FF}"/>
              </a:ext>
            </a:extLst>
          </p:cNvPr>
          <p:cNvSpPr>
            <a:spLocks xmlns:a="http://schemas.openxmlformats.org/drawingml/2006/main" noGrp="1"/>
          </p:cNvSpPr>
          <p:nvPr/>
        </p:nvSpPr>
        <p:spPr>
          <a:xfrm xmlns:a="http://schemas.openxmlformats.org/drawingml/2006/main">
            <a:off x="714375" y="30956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691AE0F2-A877-43C6-B483-51AF7106FA98}"/>
              </a:ext>
            </a:extLst>
          </p:cNvPr>
          <p:cNvSpPr>
            <a:spLocks xmlns:a="http://schemas.openxmlformats.org/drawingml/2006/main" noGrp="1"/>
          </p:cNvSpPr>
          <p:nvPr/>
        </p:nvSpPr>
        <p:spPr>
          <a:xfrm xmlns:a="http://schemas.openxmlformats.org/drawingml/2006/main">
            <a:off x="1238250" y="30765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Click Call Next Patient</a:t>
            </a:r>
          </a:p>
        </p:txBody>
      </p:sp>
      <p:sp>
        <p:nvSpPr>
          <p:cNvPr id="24" name="">
            <a:extLst xmlns:a="http://schemas.openxmlformats.org/drawingml/2006/main">
              <a:ext uri="{FF2B5EF4-FFF2-40B4-BE49-F238E27FC236}">
                <a16:creationId xmlns:a16="http://schemas.microsoft.com/office/drawing/2014/main" id="{5A351C72-89B5-4DA3-83BD-4269EA1DF9C0}"/>
              </a:ext>
            </a:extLst>
          </p:cNvPr>
          <p:cNvSpPr>
            <a:spLocks xmlns:a="http://schemas.openxmlformats.org/drawingml/2006/main" noGrp="1"/>
          </p:cNvSpPr>
          <p:nvPr/>
        </p:nvSpPr>
        <p:spPr>
          <a:xfrm xmlns:a="http://schemas.openxmlformats.org/drawingml/2006/main">
            <a:off x="4381500" y="30765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Staff sends an HTTP request</a:t>
            </a:r>
          </a:p>
        </p:txBody>
      </p:sp>
      <p:sp>
        <p:nvSpPr>
          <p:cNvPr id="25" name="">
            <a:extLst xmlns:a="http://schemas.openxmlformats.org/drawingml/2006/main">
              <a:ext uri="{FF2B5EF4-FFF2-40B4-BE49-F238E27FC236}">
                <a16:creationId xmlns:a16="http://schemas.microsoft.com/office/drawing/2014/main" id="{EBE1B66F-1A68-4207-B49E-02C16ECD3CB0}"/>
              </a:ext>
            </a:extLst>
          </p:cNvPr>
          <p:cNvSpPr>
            <a:spLocks xmlns:a="http://schemas.openxmlformats.org/drawingml/2006/main" noGrp="1"/>
          </p:cNvSpPr>
          <p:nvPr/>
        </p:nvSpPr>
        <p:spPr>
          <a:xfrm xmlns:a="http://schemas.openxmlformats.org/drawingml/2006/main">
            <a:off x="714375" y="364807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FC15D59A-A6D4-449C-AF48-3A818140A360}"/>
              </a:ext>
            </a:extLst>
          </p:cNvPr>
          <p:cNvSpPr>
            <a:spLocks xmlns:a="http://schemas.openxmlformats.org/drawingml/2006/main" noGrp="1"/>
          </p:cNvSpPr>
          <p:nvPr/>
        </p:nvSpPr>
        <p:spPr>
          <a:xfrm xmlns:a="http://schemas.openxmlformats.org/drawingml/2006/main">
            <a:off x="1238250" y="36290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Validate and advance</a:t>
            </a:r>
          </a:p>
        </p:txBody>
      </p:sp>
      <p:sp>
        <p:nvSpPr>
          <p:cNvPr id="27" name="">
            <a:extLst xmlns:a="http://schemas.openxmlformats.org/drawingml/2006/main">
              <a:ext uri="{FF2B5EF4-FFF2-40B4-BE49-F238E27FC236}">
                <a16:creationId xmlns:a16="http://schemas.microsoft.com/office/drawing/2014/main" id="{B499E48D-6A95-4306-9785-FF43BD149B97}"/>
              </a:ext>
            </a:extLst>
          </p:cNvPr>
          <p:cNvSpPr>
            <a:spLocks xmlns:a="http://schemas.openxmlformats.org/drawingml/2006/main" noGrp="1"/>
          </p:cNvSpPr>
          <p:nvPr/>
        </p:nvSpPr>
        <p:spPr>
          <a:xfrm xmlns:a="http://schemas.openxmlformats.org/drawingml/2006/main">
            <a:off x="4381500" y="36290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Server completes the old turn and calls the next</a:t>
            </a:r>
          </a:p>
        </p:txBody>
      </p:sp>
      <p:sp>
        <p:nvSpPr>
          <p:cNvPr id="28" name="">
            <a:extLst xmlns:a="http://schemas.openxmlformats.org/drawingml/2006/main">
              <a:ext uri="{FF2B5EF4-FFF2-40B4-BE49-F238E27FC236}">
                <a16:creationId xmlns:a16="http://schemas.microsoft.com/office/drawing/2014/main" id="{63A16376-B772-4C8B-A27A-E7CC6CDB1310}"/>
              </a:ext>
            </a:extLst>
          </p:cNvPr>
          <p:cNvSpPr>
            <a:spLocks xmlns:a="http://schemas.openxmlformats.org/drawingml/2006/main" noGrp="1"/>
          </p:cNvSpPr>
          <p:nvPr/>
        </p:nvSpPr>
        <p:spPr>
          <a:xfrm xmlns:a="http://schemas.openxmlformats.org/drawingml/2006/main">
            <a:off x="714375" y="42005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19E03F92-9A0B-4644-998A-15CA3DB95103}"/>
              </a:ext>
            </a:extLst>
          </p:cNvPr>
          <p:cNvSpPr>
            <a:spLocks xmlns:a="http://schemas.openxmlformats.org/drawingml/2006/main" noGrp="1"/>
          </p:cNvSpPr>
          <p:nvPr/>
        </p:nvSpPr>
        <p:spPr>
          <a:xfrm xmlns:a="http://schemas.openxmlformats.org/drawingml/2006/main">
            <a:off x="1238250" y="41814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Save new queue state</a:t>
            </a:r>
          </a:p>
        </p:txBody>
      </p:sp>
      <p:sp>
        <p:nvSpPr>
          <p:cNvPr id="30" name="">
            <a:extLst xmlns:a="http://schemas.openxmlformats.org/drawingml/2006/main">
              <a:ext uri="{FF2B5EF4-FFF2-40B4-BE49-F238E27FC236}">
                <a16:creationId xmlns:a16="http://schemas.microsoft.com/office/drawing/2014/main" id="{F5606B36-C720-4952-BF36-790EB97EBFE5}"/>
              </a:ext>
            </a:extLst>
          </p:cNvPr>
          <p:cNvSpPr>
            <a:spLocks xmlns:a="http://schemas.openxmlformats.org/drawingml/2006/main" noGrp="1"/>
          </p:cNvSpPr>
          <p:nvPr/>
        </p:nvSpPr>
        <p:spPr>
          <a:xfrm xmlns:a="http://schemas.openxmlformats.org/drawingml/2006/main">
            <a:off x="4381500" y="41814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Database stores current number and statuses</a:t>
            </a:r>
          </a:p>
        </p:txBody>
      </p:sp>
      <p:sp>
        <p:nvSpPr>
          <p:cNvPr id="31" name="">
            <a:extLst xmlns:a="http://schemas.openxmlformats.org/drawingml/2006/main">
              <a:ext uri="{FF2B5EF4-FFF2-40B4-BE49-F238E27FC236}">
                <a16:creationId xmlns:a16="http://schemas.microsoft.com/office/drawing/2014/main" id="{BF111B86-FF56-4B97-B1F2-F11F4A948064}"/>
              </a:ext>
            </a:extLst>
          </p:cNvPr>
          <p:cNvSpPr>
            <a:spLocks xmlns:a="http://schemas.openxmlformats.org/drawingml/2006/main" noGrp="1"/>
          </p:cNvSpPr>
          <p:nvPr/>
        </p:nvSpPr>
        <p:spPr>
          <a:xfrm xmlns:a="http://schemas.openxmlformats.org/drawingml/2006/main">
            <a:off x="714375" y="4752975"/>
            <a:ext cx="361950" cy="361950"/>
          </a:xfrm>
          <a:prstGeom xmlns:a="http://schemas.openxmlformats.org/drawingml/2006/main" prst="ellipse">
            <a:avLst/>
          </a:prstGeom>
          <a:solidFill xmlns:a="http://schemas.openxmlformats.org/drawingml/2006/main">
            <a:srgbClr val="8067A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07C36B0E-DFE8-4074-BB26-BB6BB705DE48}"/>
              </a:ext>
            </a:extLst>
          </p:cNvPr>
          <p:cNvSpPr>
            <a:spLocks xmlns:a="http://schemas.openxmlformats.org/drawingml/2006/main" noGrp="1"/>
          </p:cNvSpPr>
          <p:nvPr/>
        </p:nvSpPr>
        <p:spPr>
          <a:xfrm xmlns:a="http://schemas.openxmlformats.org/drawingml/2006/main">
            <a:off x="1238250" y="47339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Broadcast queue update</a:t>
            </a:r>
          </a:p>
        </p:txBody>
      </p:sp>
      <p:sp>
        <p:nvSpPr>
          <p:cNvPr id="33" name="">
            <a:extLst xmlns:a="http://schemas.openxmlformats.org/drawingml/2006/main">
              <a:ext uri="{FF2B5EF4-FFF2-40B4-BE49-F238E27FC236}">
                <a16:creationId xmlns:a16="http://schemas.microsoft.com/office/drawing/2014/main" id="{E8E0B5C7-789E-4567-9AB7-891F4E3BBBF5}"/>
              </a:ext>
            </a:extLst>
          </p:cNvPr>
          <p:cNvSpPr>
            <a:spLocks xmlns:a="http://schemas.openxmlformats.org/drawingml/2006/main" noGrp="1"/>
          </p:cNvSpPr>
          <p:nvPr/>
        </p:nvSpPr>
        <p:spPr>
          <a:xfrm xmlns:a="http://schemas.openxmlformats.org/drawingml/2006/main">
            <a:off x="4381500" y="47339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Socket.IO sends an event to connected clients</a:t>
            </a:r>
          </a:p>
        </p:txBody>
      </p:sp>
      <p:sp>
        <p:nvSpPr>
          <p:cNvPr id="34" name="">
            <a:extLst xmlns:a="http://schemas.openxmlformats.org/drawingml/2006/main">
              <a:ext uri="{FF2B5EF4-FFF2-40B4-BE49-F238E27FC236}">
                <a16:creationId xmlns:a16="http://schemas.microsoft.com/office/drawing/2014/main" id="{D88B0BDB-D9F9-4DFA-A0C3-B911EFF72476}"/>
              </a:ext>
            </a:extLst>
          </p:cNvPr>
          <p:cNvSpPr>
            <a:spLocks xmlns:a="http://schemas.openxmlformats.org/drawingml/2006/main" noGrp="1"/>
          </p:cNvSpPr>
          <p:nvPr/>
        </p:nvSpPr>
        <p:spPr>
          <a:xfrm xmlns:a="http://schemas.openxmlformats.org/drawingml/2006/main">
            <a:off x="714375" y="53054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5</a:t>
            </a:r>
          </a:p>
        </p:txBody>
      </p:sp>
      <p:sp>
        <p:nvSpPr>
          <p:cNvPr id="35" name="">
            <a:extLst xmlns:a="http://schemas.openxmlformats.org/drawingml/2006/main">
              <a:ext uri="{FF2B5EF4-FFF2-40B4-BE49-F238E27FC236}">
                <a16:creationId xmlns:a16="http://schemas.microsoft.com/office/drawing/2014/main" id="{008C1F53-0826-4FD8-8937-A877310A7351}"/>
              </a:ext>
            </a:extLst>
          </p:cNvPr>
          <p:cNvSpPr>
            <a:spLocks xmlns:a="http://schemas.openxmlformats.org/drawingml/2006/main" noGrp="1"/>
          </p:cNvSpPr>
          <p:nvPr/>
        </p:nvSpPr>
        <p:spPr>
          <a:xfrm xmlns:a="http://schemas.openxmlformats.org/drawingml/2006/main">
            <a:off x="1238250" y="52863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Update the interface</a:t>
            </a:r>
          </a:p>
        </p:txBody>
      </p:sp>
      <p:sp>
        <p:nvSpPr>
          <p:cNvPr id="36" name="">
            <a:extLst xmlns:a="http://schemas.openxmlformats.org/drawingml/2006/main">
              <a:ext uri="{FF2B5EF4-FFF2-40B4-BE49-F238E27FC236}">
                <a16:creationId xmlns:a16="http://schemas.microsoft.com/office/drawing/2014/main" id="{7B897BB3-C5E2-43A3-AB37-EDEB8DB7E102}"/>
              </a:ext>
            </a:extLst>
          </p:cNvPr>
          <p:cNvSpPr>
            <a:spLocks xmlns:a="http://schemas.openxmlformats.org/drawingml/2006/main" noGrp="1"/>
          </p:cNvSpPr>
          <p:nvPr/>
        </p:nvSpPr>
        <p:spPr>
          <a:xfrm xmlns:a="http://schemas.openxmlformats.org/drawingml/2006/main">
            <a:off x="4381500" y="52863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Each owner screen displays the new information</a:t>
            </a:r>
          </a:p>
        </p:txBody>
      </p:sp>
    </p:spTree>
    <p:extLst>
      <p:ext uri="{BB962C8B-B14F-4D97-AF65-F5344CB8AC3E}">
        <p14:creationId xmlns:p14="http://schemas.microsoft.com/office/powerpoint/2010/main" val="682234679"/>
      </p:ext>
    </p:extLst>
  </p:cSld>
</p:sld>
</file>

<file path=ppt/slides/slide6.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152CE4E-00E0-4080-86CE-C718C3F5A2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A374F68E-94E9-40AF-93A2-BA6F3363CA2E}"/>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890F20BE-189F-4739-ADFB-B20797DE6399}"/>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System architecture</a:t>
            </a:r>
          </a:p>
        </p:txBody>
      </p:sp>
      <p:sp>
        <p:nvSpPr>
          <p:cNvPr id="4" name="">
            <a:extLst xmlns:a="http://schemas.openxmlformats.org/drawingml/2006/main">
              <a:ext uri="{FF2B5EF4-FFF2-40B4-BE49-F238E27FC236}">
                <a16:creationId xmlns:a16="http://schemas.microsoft.com/office/drawing/2014/main" id="{7A0D917B-82CA-4515-8ACC-2E032E6E5A98}"/>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Users, client portals, clinic services, live queue updates, and persistent storage</a:t>
            </a:r>
          </a:p>
        </p:txBody>
      </p:sp>
      <p:sp>
        <p:nvSpPr>
          <p:cNvPr id="5" name="">
            <a:extLst xmlns:a="http://schemas.openxmlformats.org/drawingml/2006/main">
              <a:ext uri="{FF2B5EF4-FFF2-40B4-BE49-F238E27FC236}">
                <a16:creationId xmlns:a16="http://schemas.microsoft.com/office/drawing/2014/main" id="{B059CF54-0E52-44AF-ACDC-6D584A60C132}"/>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18E1C0AE-5520-4637-8F3F-4408F00E779D}"/>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B12D57E2-595C-4C7A-9765-DE6D95D26965}"/>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054DA703-DFB7-4726-8484-79275509A3FC}"/>
              </a:ext>
            </a:extLst>
          </p:cNvPr>
          <p:cNvSpPr>
            <a:spLocks xmlns:a="http://schemas.openxmlformats.org/drawingml/2006/main" noGrp="1"/>
          </p:cNvSpPr>
          <p:nvPr/>
        </p:nvSpPr>
        <p:spPr>
          <a:xfrm xmlns:a="http://schemas.openxmlformats.org/drawingml/2006/main">
            <a:off x="495300" y="1809750"/>
            <a:ext cx="11201400" cy="3143250"/>
          </a:xfrm>
          <a:prstGeom xmlns:a="http://schemas.openxmlformats.org/drawingml/2006/main" prst="rect">
            <a:avLst/>
          </a:prstGeom>
          <a:solidFill xmlns:a="http://schemas.openxmlformats.org/drawingml/2006/main">
            <a:srgbClr val="FFFFFF"/>
          </a:solidFill>
          <a:ln xmlns:a="http://schemas.openxmlformats.org/drawingml/2006/main" w="14288">
            <a:solidFill>
              <a:srgbClr val="B6D8CE"/>
            </a:solidFill>
            <a:prstDash val="solid"/>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b7e017717754b68"/>
          <a:stretch xmlns:a="http://schemas.openxmlformats.org/drawingml/2006/main"/>
        </p:blipFill>
        <p:spPr>
          <a:xfrm xmlns:a="http://schemas.openxmlformats.org/drawingml/2006/main">
            <a:off x="665686" y="1885950"/>
            <a:ext cx="10860628" cy="29908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CD1A6FE-2308-4CBE-861F-93AA3E3B7062}"/>
              </a:ext>
            </a:extLst>
          </p:cNvPr>
          <p:cNvSpPr>
            <a:spLocks xmlns:a="http://schemas.openxmlformats.org/drawingml/2006/main" noGrp="1"/>
          </p:cNvSpPr>
          <p:nvPr/>
        </p:nvSpPr>
        <p:spPr>
          <a:xfrm xmlns:a="http://schemas.openxmlformats.org/drawingml/2006/main">
            <a:off x="1476375" y="5295900"/>
            <a:ext cx="9239250" cy="0"/>
          </a:xfrm>
          <a:prstGeom xmlns:a="http://schemas.openxmlformats.org/drawingml/2006/main" prst="line">
            <a:avLst/>
          </a:prstGeom>
          <a:noFill xmlns:a="http://schemas.openxmlformats.org/drawingml/2006/main"/>
          <a:ln xmlns:a="http://schemas.openxmlformats.org/drawingml/2006/main" w="28575">
            <a:solidFill>
              <a:srgbClr val="16A085"/>
            </a:solidFill>
            <a:prstDash val="solid"/>
          </a:ln>
        </p:spPr>
      </p:sp>
      <p:sp>
        <p:nvSpPr>
          <p:cNvPr id="11" name="">
            <a:extLst xmlns:a="http://schemas.openxmlformats.org/drawingml/2006/main">
              <a:ext uri="{FF2B5EF4-FFF2-40B4-BE49-F238E27FC236}">
                <a16:creationId xmlns:a16="http://schemas.microsoft.com/office/drawing/2014/main" id="{317C4FB1-069A-4F83-908F-719EB04133A4}"/>
              </a:ext>
            </a:extLst>
          </p:cNvPr>
          <p:cNvSpPr>
            <a:spLocks xmlns:a="http://schemas.openxmlformats.org/drawingml/2006/main" noGrp="1"/>
          </p:cNvSpPr>
          <p:nvPr/>
        </p:nvSpPr>
        <p:spPr>
          <a:xfrm xmlns:a="http://schemas.openxmlformats.org/drawingml/2006/main">
            <a:off x="1238250" y="5429250"/>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ctr">
              <a:defRPr sz="1500" b="1">
                <a:solidFill>
                  <a:srgbClr val="123F38"/>
                </a:solidFill>
                <a:latin typeface="Helvetica Neue"/>
                <a:ea typeface="Helvetica Neue"/>
                <a:cs typeface="Helvetica Neue"/>
              </a:defRPr>
            </a:pPr>
            <a:r>
              <a:rPr sz="1500" b="1">
                <a:solidFill>
                  <a:srgbClr val="123F38"/>
                </a:solidFill>
                <a:latin typeface="Helvetica Neue"/>
                <a:ea typeface="Helvetica Neue"/>
                <a:cs typeface="Helvetica Neue"/>
              </a:rPr>
              <a:t>Pet owners, doctors, and clinic staff use dedicated portals connected to one application API.</a:t>
            </a:r>
          </a:p>
        </p:txBody>
      </p:sp>
      <p:sp>
        <p:nvSpPr>
          <p:cNvPr id="12" name="">
            <a:extLst xmlns:a="http://schemas.openxmlformats.org/drawingml/2006/main">
              <a:ext uri="{FF2B5EF4-FFF2-40B4-BE49-F238E27FC236}">
                <a16:creationId xmlns:a16="http://schemas.microsoft.com/office/drawing/2014/main" id="{E7F7A4D2-DD85-463C-B966-F5D6321F9EC2}"/>
              </a:ext>
            </a:extLst>
          </p:cNvPr>
          <p:cNvSpPr>
            <a:spLocks xmlns:a="http://schemas.openxmlformats.org/drawingml/2006/main" noGrp="1"/>
          </p:cNvSpPr>
          <p:nvPr/>
        </p:nvSpPr>
        <p:spPr>
          <a:xfrm xmlns:a="http://schemas.openxmlformats.org/drawingml/2006/main">
            <a:off x="1095375" y="579120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68"/>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Queue changes pass through clinic services, update the database, and reach connected owner screens through the live queue channel.</a:t>
            </a:r>
          </a:p>
        </p:txBody>
      </p:sp>
    </p:spTree>
    <p:extLst>
      <p:ext uri="{BB962C8B-B14F-4D97-AF65-F5344CB8AC3E}">
        <p14:creationId xmlns:p14="http://schemas.microsoft.com/office/powerpoint/2010/main" val="1066681200"/>
      </p:ext>
    </p:extLst>
  </p:cSld>
</p:sld>
</file>

<file path=ppt/slides/slide7.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8D988BE-1324-4F20-8F78-DAAF8032709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F70B37D5-5262-4F5B-AAAE-91E00275E17F}"/>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8215772-9FC4-4B56-AA02-921EDCB8BB2B}"/>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Socket.IO event design</a:t>
            </a:r>
          </a:p>
        </p:txBody>
      </p:sp>
      <p:sp>
        <p:nvSpPr>
          <p:cNvPr id="4" name="">
            <a:extLst xmlns:a="http://schemas.openxmlformats.org/drawingml/2006/main">
              <a:ext uri="{FF2B5EF4-FFF2-40B4-BE49-F238E27FC236}">
                <a16:creationId xmlns:a16="http://schemas.microsoft.com/office/drawing/2014/main" id="{FE0B8D9B-94B1-4229-9628-F9D635AF57B6}"/>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proposed event carries the queue information needed by the owner screen</a:t>
            </a:r>
          </a:p>
        </p:txBody>
      </p:sp>
      <p:sp>
        <p:nvSpPr>
          <p:cNvPr id="5" name="">
            <a:extLst xmlns:a="http://schemas.openxmlformats.org/drawingml/2006/main">
              <a:ext uri="{FF2B5EF4-FFF2-40B4-BE49-F238E27FC236}">
                <a16:creationId xmlns:a16="http://schemas.microsoft.com/office/drawing/2014/main" id="{B2043F5D-05FF-47C7-9856-73C8D14AE939}"/>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FB981A33-4D78-45D9-834D-EB813EF51DD6}"/>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B8EA8713-FF29-45DC-93A4-D9F1574C2395}"/>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7</a:t>
            </a:r>
          </a:p>
        </p:txBody>
      </p:sp>
      <p:sp>
        <p:nvSpPr>
          <p:cNvPr id="8" name="">
            <a:extLst xmlns:a="http://schemas.openxmlformats.org/drawingml/2006/main">
              <a:ext uri="{FF2B5EF4-FFF2-40B4-BE49-F238E27FC236}">
                <a16:creationId xmlns:a16="http://schemas.microsoft.com/office/drawing/2014/main" id="{45BDB8B2-B835-4AA3-A5AF-0A436F5AB71F}"/>
              </a:ext>
            </a:extLst>
          </p:cNvPr>
          <p:cNvSpPr>
            <a:spLocks xmlns:a="http://schemas.openxmlformats.org/drawingml/2006/main" noGrp="1"/>
          </p:cNvSpPr>
          <p:nvPr/>
        </p:nvSpPr>
        <p:spPr>
          <a:xfrm xmlns:a="http://schemas.openxmlformats.org/drawingml/2006/main">
            <a:off x="666750" y="1952625"/>
            <a:ext cx="5143500" cy="3381375"/>
          </a:xfrm>
          <a:prstGeom xmlns:a="http://schemas.openxmlformats.org/drawingml/2006/main" prst="roundRect">
            <a:avLst>
              <a:gd name="adj" fmla="val 5634"/>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A6E3CC4-C612-4560-AEF5-B42CF79715D4}"/>
              </a:ext>
            </a:extLst>
          </p:cNvPr>
          <p:cNvSpPr>
            <a:spLocks xmlns:a="http://schemas.openxmlformats.org/drawingml/2006/main" noGrp="1"/>
          </p:cNvSpPr>
          <p:nvPr/>
        </p:nvSpPr>
        <p:spPr>
          <a:xfrm xmlns:a="http://schemas.openxmlformats.org/drawingml/2006/main">
            <a:off x="952500" y="21526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83DEC5"/>
                </a:solidFill>
                <a:latin typeface="Helvetica Neue"/>
                <a:ea typeface="Helvetica Neue"/>
                <a:cs typeface="Helvetica Neue"/>
              </a:defRPr>
            </a:pPr>
            <a:r>
              <a:rPr sz="1725" b="1">
                <a:solidFill>
                  <a:srgbClr val="83DEC5"/>
                </a:solidFill>
                <a:latin typeface="Helvetica Neue"/>
                <a:ea typeface="Helvetica Neue"/>
                <a:cs typeface="Helvetica Neue"/>
              </a:rPr>
              <a:t>queue:update</a:t>
            </a:r>
          </a:p>
        </p:txBody>
      </p:sp>
      <p:sp>
        <p:nvSpPr>
          <p:cNvPr id="10" name="">
            <a:extLst xmlns:a="http://schemas.openxmlformats.org/drawingml/2006/main">
              <a:ext uri="{FF2B5EF4-FFF2-40B4-BE49-F238E27FC236}">
                <a16:creationId xmlns:a16="http://schemas.microsoft.com/office/drawing/2014/main" id="{3D2038CD-F575-4858-8BD9-FBAE84DA3832}"/>
              </a:ext>
            </a:extLst>
          </p:cNvPr>
          <p:cNvSpPr>
            <a:spLocks xmlns:a="http://schemas.openxmlformats.org/drawingml/2006/main" noGrp="1"/>
          </p:cNvSpPr>
          <p:nvPr/>
        </p:nvSpPr>
        <p:spPr>
          <a:xfrm xmlns:a="http://schemas.openxmlformats.org/drawingml/2006/main">
            <a:off x="1000125" y="2619375"/>
            <a:ext cx="4381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"department": "general",</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"currentQueueNumber": "A014",</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"patientsAhead": 2,</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"status": "WAITING",</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"updatedAt": "..."</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5981BB26-9FED-4645-90DA-4E9B77EF9910}"/>
              </a:ext>
            </a:extLst>
          </p:cNvPr>
          <p:cNvSpPr>
            <a:spLocks xmlns:a="http://schemas.openxmlformats.org/drawingml/2006/main" noGrp="1"/>
          </p:cNvSpPr>
          <p:nvPr/>
        </p:nvSpPr>
        <p:spPr>
          <a:xfrm xmlns:a="http://schemas.openxmlformats.org/drawingml/2006/main">
            <a:off x="1000125" y="48577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C8BF"/>
                </a:solidFill>
                <a:latin typeface="Helvetica Neue"/>
                <a:ea typeface="Helvetica Neue"/>
                <a:cs typeface="Helvetica Neue"/>
              </a:defRPr>
            </a:pPr>
            <a:r>
              <a:rPr sz="1200" b="0">
                <a:solidFill>
                  <a:srgbClr val="A9C8BF"/>
                </a:solidFill>
                <a:latin typeface="Helvetica Neue"/>
                <a:ea typeface="Helvetica Neue"/>
                <a:cs typeface="Helvetica Neue"/>
              </a:rPr>
              <a:t>Sent after check-in, call-next, or cancellation</a:t>
            </a:r>
          </a:p>
        </p:txBody>
      </p:sp>
      <p:sp>
        <p:nvSpPr>
          <p:cNvPr id="12" name="">
            <a:extLst xmlns:a="http://schemas.openxmlformats.org/drawingml/2006/main">
              <a:ext uri="{FF2B5EF4-FFF2-40B4-BE49-F238E27FC236}">
                <a16:creationId xmlns:a16="http://schemas.microsoft.com/office/drawing/2014/main" id="{1B0C0A99-2791-4694-A364-CADF50364F68}"/>
              </a:ext>
            </a:extLst>
          </p:cNvPr>
          <p:cNvSpPr>
            <a:spLocks xmlns:a="http://schemas.openxmlformats.org/drawingml/2006/main" noGrp="1"/>
          </p:cNvSpPr>
          <p:nvPr/>
        </p:nvSpPr>
        <p:spPr>
          <a:xfrm xmlns:a="http://schemas.openxmlformats.org/drawingml/2006/main">
            <a:off x="6572250" y="19526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123F38"/>
                </a:solidFill>
                <a:latin typeface="Helvetica Neue"/>
                <a:ea typeface="Helvetica Neue"/>
                <a:cs typeface="Helvetica Neue"/>
              </a:defRPr>
            </a:pPr>
            <a:r>
              <a:rPr sz="2025" b="1">
                <a:solidFill>
                  <a:srgbClr val="123F38"/>
                </a:solidFill>
                <a:latin typeface="Helvetica Neue"/>
                <a:ea typeface="Helvetica Neue"/>
                <a:cs typeface="Helvetica Neue"/>
              </a:rPr>
              <a:t>Design decisions</a:t>
            </a:r>
          </a:p>
        </p:txBody>
      </p:sp>
      <p:sp>
        <p:nvSpPr>
          <p:cNvPr id="13" name="">
            <a:extLst xmlns:a="http://schemas.openxmlformats.org/drawingml/2006/main">
              <a:ext uri="{FF2B5EF4-FFF2-40B4-BE49-F238E27FC236}">
                <a16:creationId xmlns:a16="http://schemas.microsoft.com/office/drawing/2014/main" id="{49C837AA-89D0-4877-9332-853271FA9EEA}"/>
              </a:ext>
            </a:extLst>
          </p:cNvPr>
          <p:cNvSpPr>
            <a:spLocks xmlns:a="http://schemas.openxmlformats.org/drawingml/2006/main" noGrp="1"/>
          </p:cNvSpPr>
          <p:nvPr/>
        </p:nvSpPr>
        <p:spPr>
          <a:xfrm xmlns:a="http://schemas.openxmlformats.org/drawingml/2006/main">
            <a:off x="6572250" y="2571750"/>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2D319678-BC6A-47CB-A143-6F89F5E79123}"/>
              </a:ext>
            </a:extLst>
          </p:cNvPr>
          <p:cNvSpPr>
            <a:spLocks xmlns:a="http://schemas.openxmlformats.org/drawingml/2006/main" noGrp="1"/>
          </p:cNvSpPr>
          <p:nvPr/>
        </p:nvSpPr>
        <p:spPr>
          <a:xfrm xmlns:a="http://schemas.openxmlformats.org/drawingml/2006/main">
            <a:off x="7096125" y="25241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Broadcast</a:t>
            </a:r>
          </a:p>
        </p:txBody>
      </p:sp>
      <p:sp>
        <p:nvSpPr>
          <p:cNvPr id="15" name="">
            <a:extLst xmlns:a="http://schemas.openxmlformats.org/drawingml/2006/main">
              <a:ext uri="{FF2B5EF4-FFF2-40B4-BE49-F238E27FC236}">
                <a16:creationId xmlns:a16="http://schemas.microsoft.com/office/drawing/2014/main" id="{43961700-08C2-47F9-93A0-820B5D0AB9B2}"/>
              </a:ext>
            </a:extLst>
          </p:cNvPr>
          <p:cNvSpPr>
            <a:spLocks xmlns:a="http://schemas.openxmlformats.org/drawingml/2006/main" noGrp="1"/>
          </p:cNvSpPr>
          <p:nvPr/>
        </p:nvSpPr>
        <p:spPr>
          <a:xfrm xmlns:a="http://schemas.openxmlformats.org/drawingml/2006/main">
            <a:off x="7096125" y="28003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Send to all clients in the correct room</a:t>
            </a:r>
          </a:p>
        </p:txBody>
      </p:sp>
      <p:sp>
        <p:nvSpPr>
          <p:cNvPr id="16" name="">
            <a:extLst xmlns:a="http://schemas.openxmlformats.org/drawingml/2006/main">
              <a:ext uri="{FF2B5EF4-FFF2-40B4-BE49-F238E27FC236}">
                <a16:creationId xmlns:a16="http://schemas.microsoft.com/office/drawing/2014/main" id="{605338D3-C87E-4228-B802-736F06DE1AA8}"/>
              </a:ext>
            </a:extLst>
          </p:cNvPr>
          <p:cNvSpPr>
            <a:spLocks xmlns:a="http://schemas.openxmlformats.org/drawingml/2006/main" noGrp="1"/>
          </p:cNvSpPr>
          <p:nvPr/>
        </p:nvSpPr>
        <p:spPr>
          <a:xfrm xmlns:a="http://schemas.openxmlformats.org/drawingml/2006/main">
            <a:off x="6572250" y="3352800"/>
            <a:ext cx="361950" cy="3619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50E82925-2B85-4071-B3AB-5E4DC580C342}"/>
              </a:ext>
            </a:extLst>
          </p:cNvPr>
          <p:cNvSpPr>
            <a:spLocks xmlns:a="http://schemas.openxmlformats.org/drawingml/2006/main" noGrp="1"/>
          </p:cNvSpPr>
          <p:nvPr/>
        </p:nvSpPr>
        <p:spPr>
          <a:xfrm xmlns:a="http://schemas.openxmlformats.org/drawingml/2006/main">
            <a:off x="7096125" y="33051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Privacy</a:t>
            </a:r>
          </a:p>
        </p:txBody>
      </p:sp>
      <p:sp>
        <p:nvSpPr>
          <p:cNvPr id="18" name="">
            <a:extLst xmlns:a="http://schemas.openxmlformats.org/drawingml/2006/main">
              <a:ext uri="{FF2B5EF4-FFF2-40B4-BE49-F238E27FC236}">
                <a16:creationId xmlns:a16="http://schemas.microsoft.com/office/drawing/2014/main" id="{D0D79B38-DDF7-4C94-B215-93847848AF75}"/>
              </a:ext>
            </a:extLst>
          </p:cNvPr>
          <p:cNvSpPr>
            <a:spLocks xmlns:a="http://schemas.openxmlformats.org/drawingml/2006/main" noGrp="1"/>
          </p:cNvSpPr>
          <p:nvPr/>
        </p:nvSpPr>
        <p:spPr>
          <a:xfrm xmlns:a="http://schemas.openxmlformats.org/drawingml/2006/main">
            <a:off x="7096125" y="35814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Exclude unnecessary owner and pet details</a:t>
            </a:r>
          </a:p>
        </p:txBody>
      </p:sp>
      <p:sp>
        <p:nvSpPr>
          <p:cNvPr id="19" name="">
            <a:extLst xmlns:a="http://schemas.openxmlformats.org/drawingml/2006/main">
              <a:ext uri="{FF2B5EF4-FFF2-40B4-BE49-F238E27FC236}">
                <a16:creationId xmlns:a16="http://schemas.microsoft.com/office/drawing/2014/main" id="{DAE48DF2-3F37-4359-B591-6405A3DAE29A}"/>
              </a:ext>
            </a:extLst>
          </p:cNvPr>
          <p:cNvSpPr>
            <a:spLocks xmlns:a="http://schemas.openxmlformats.org/drawingml/2006/main" noGrp="1"/>
          </p:cNvSpPr>
          <p:nvPr/>
        </p:nvSpPr>
        <p:spPr>
          <a:xfrm xmlns:a="http://schemas.openxmlformats.org/drawingml/2006/main">
            <a:off x="6572250" y="4133850"/>
            <a:ext cx="361950" cy="3619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9B7E84EC-A705-418B-8DC0-9DE540BE251B}"/>
              </a:ext>
            </a:extLst>
          </p:cNvPr>
          <p:cNvSpPr>
            <a:spLocks xmlns:a="http://schemas.openxmlformats.org/drawingml/2006/main" noGrp="1"/>
          </p:cNvSpPr>
          <p:nvPr/>
        </p:nvSpPr>
        <p:spPr>
          <a:xfrm xmlns:a="http://schemas.openxmlformats.org/drawingml/2006/main">
            <a:off x="7096125" y="40862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Recovery</a:t>
            </a:r>
          </a:p>
        </p:txBody>
      </p:sp>
      <p:sp>
        <p:nvSpPr>
          <p:cNvPr id="21" name="">
            <a:extLst xmlns:a="http://schemas.openxmlformats.org/drawingml/2006/main">
              <a:ext uri="{FF2B5EF4-FFF2-40B4-BE49-F238E27FC236}">
                <a16:creationId xmlns:a16="http://schemas.microsoft.com/office/drawing/2014/main" id="{A822217D-1D2C-4C4B-A920-B0455F5E2DBA}"/>
              </a:ext>
            </a:extLst>
          </p:cNvPr>
          <p:cNvSpPr>
            <a:spLocks xmlns:a="http://schemas.openxmlformats.org/drawingml/2006/main" noGrp="1"/>
          </p:cNvSpPr>
          <p:nvPr/>
        </p:nvSpPr>
        <p:spPr>
          <a:xfrm xmlns:a="http://schemas.openxmlformats.org/drawingml/2006/main">
            <a:off x="7096125" y="43624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Reconnect and resynchronize after disconnection</a:t>
            </a:r>
          </a:p>
        </p:txBody>
      </p:sp>
      <p:sp>
        <p:nvSpPr>
          <p:cNvPr id="22" name="">
            <a:extLst xmlns:a="http://schemas.openxmlformats.org/drawingml/2006/main">
              <a:ext uri="{FF2B5EF4-FFF2-40B4-BE49-F238E27FC236}">
                <a16:creationId xmlns:a16="http://schemas.microsoft.com/office/drawing/2014/main" id="{79E5B9DE-050D-42C4-8B46-FF15C5A4BF9F}"/>
              </a:ext>
            </a:extLst>
          </p:cNvPr>
          <p:cNvSpPr>
            <a:spLocks xmlns:a="http://schemas.openxmlformats.org/drawingml/2006/main" noGrp="1"/>
          </p:cNvSpPr>
          <p:nvPr/>
        </p:nvSpPr>
        <p:spPr>
          <a:xfrm xmlns:a="http://schemas.openxmlformats.org/drawingml/2006/main">
            <a:off x="6572250" y="4914900"/>
            <a:ext cx="361950" cy="36195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7E818E37-D5B5-4999-9BC3-9F96B2D4E323}"/>
              </a:ext>
            </a:extLst>
          </p:cNvPr>
          <p:cNvSpPr>
            <a:spLocks xmlns:a="http://schemas.openxmlformats.org/drawingml/2006/main" noGrp="1"/>
          </p:cNvSpPr>
          <p:nvPr/>
        </p:nvSpPr>
        <p:spPr>
          <a:xfrm xmlns:a="http://schemas.openxmlformats.org/drawingml/2006/main">
            <a:off x="7096125" y="48672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Consistency</a:t>
            </a:r>
          </a:p>
        </p:txBody>
      </p:sp>
      <p:sp>
        <p:nvSpPr>
          <p:cNvPr id="24" name="">
            <a:extLst xmlns:a="http://schemas.openxmlformats.org/drawingml/2006/main">
              <a:ext uri="{FF2B5EF4-FFF2-40B4-BE49-F238E27FC236}">
                <a16:creationId xmlns:a16="http://schemas.microsoft.com/office/drawing/2014/main" id="{DB81E307-00A8-421E-91F3-7CC5D55F3A49}"/>
              </a:ext>
            </a:extLst>
          </p:cNvPr>
          <p:cNvSpPr>
            <a:spLocks xmlns:a="http://schemas.openxmlformats.org/drawingml/2006/main" noGrp="1"/>
          </p:cNvSpPr>
          <p:nvPr/>
        </p:nvSpPr>
        <p:spPr>
          <a:xfrm xmlns:a="http://schemas.openxmlformats.org/drawingml/2006/main">
            <a:off x="7096125" y="514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Emit only after the database update succeeds</a:t>
            </a:r>
          </a:p>
        </p:txBody>
      </p:sp>
      <p:sp>
        <p:nvSpPr>
          <p:cNvPr id="25" name="">
            <a:extLst xmlns:a="http://schemas.openxmlformats.org/drawingml/2006/main">
              <a:ext uri="{FF2B5EF4-FFF2-40B4-BE49-F238E27FC236}">
                <a16:creationId xmlns:a16="http://schemas.microsoft.com/office/drawing/2014/main" id="{78F891A7-EB74-4625-9190-773ECF28A864}"/>
              </a:ext>
            </a:extLst>
          </p:cNvPr>
          <p:cNvSpPr>
            <a:spLocks xmlns:a="http://schemas.openxmlformats.org/drawingml/2006/main" noGrp="1"/>
          </p:cNvSpPr>
          <p:nvPr/>
        </p:nvSpPr>
        <p:spPr>
          <a:xfrm xmlns:a="http://schemas.openxmlformats.org/drawingml/2006/main">
            <a:off x="6572250" y="5810250"/>
            <a:ext cx="4524375" cy="400050"/>
          </a:xfrm>
          <a:prstGeom xmlns:a="http://schemas.openxmlformats.org/drawingml/2006/main" prst="roundRect">
            <a:avLst>
              <a:gd name="adj" fmla="val 28571"/>
            </a:avLst>
          </a:prstGeom>
          <a:solidFill xmlns:a="http://schemas.openxmlformats.org/drawingml/2006/main">
            <a:srgbClr val="DCF4EC"/>
          </a:solidFill>
          <a:ln xmlns:a="http://schemas.openxmlformats.org/drawingml/2006/main" w="14288">
            <a:solidFill>
              <a:srgbClr val="8ACDBA"/>
            </a:solidFill>
            <a:prstDash val="solid"/>
          </a:ln>
        </p:spPr>
      </p:sp>
      <p:sp>
        <p:nvSpPr>
          <p:cNvPr id="26" name="">
            <a:extLst xmlns:a="http://schemas.openxmlformats.org/drawingml/2006/main">
              <a:ext uri="{FF2B5EF4-FFF2-40B4-BE49-F238E27FC236}">
                <a16:creationId xmlns:a16="http://schemas.microsoft.com/office/drawing/2014/main" id="{172AD489-204C-4DB5-8BE7-D8BB8F2C87F9}"/>
              </a:ext>
            </a:extLst>
          </p:cNvPr>
          <p:cNvSpPr>
            <a:spLocks xmlns:a="http://schemas.openxmlformats.org/drawingml/2006/main" noGrp="1"/>
          </p:cNvSpPr>
          <p:nvPr/>
        </p:nvSpPr>
        <p:spPr>
          <a:xfrm xmlns:a="http://schemas.openxmlformats.org/drawingml/2006/main">
            <a:off x="6715125" y="5857875"/>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054"/>
          </a:bodyPr>
          <a:lstStyle xmlns:a="http://schemas.openxmlformats.org/drawingml/2006/main"/>
          <a:p xmlns:a="http://schemas.openxmlformats.org/drawingml/2006/main">
            <a:pPr algn="ctr">
              <a:defRPr sz="1050" b="1">
                <a:solidFill>
                  <a:srgbClr val="123F38"/>
                </a:solidFill>
                <a:latin typeface="Helvetica Neue"/>
                <a:ea typeface="Helvetica Neue"/>
                <a:cs typeface="Helvetica Neue"/>
              </a:defRPr>
            </a:pPr>
            <a:r>
              <a:rPr sz="1050" b="1">
                <a:solidFill>
                  <a:srgbClr val="123F38"/>
                </a:solidFill>
                <a:latin typeface="Helvetica Neue"/>
                <a:ea typeface="Helvetica Neue"/>
                <a:cs typeface="Helvetica Neue"/>
              </a:rPr>
              <a:t>Prototype today: queue:updated signal followed by a fresh REST snapshot</a:t>
            </a:r>
          </a:p>
        </p:txBody>
      </p:sp>
    </p:spTree>
    <p:extLst>
      <p:ext uri="{BB962C8B-B14F-4D97-AF65-F5344CB8AC3E}">
        <p14:creationId xmlns:p14="http://schemas.microsoft.com/office/powerpoint/2010/main" val="213602358"/>
      </p:ext>
    </p:extLst>
  </p:cSld>
</p:sld>
</file>

<file path=ppt/slides/slide8.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1CEED65-6BA6-4307-8A6A-2E9D9D41833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9F07D80F-3DC8-4CA5-A251-72B33D2A4054}"/>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1C4FD6C4-BEE8-435C-A08F-DD3F986C0544}"/>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Implementation plan and runnable proof</a:t>
            </a:r>
          </a:p>
        </p:txBody>
      </p:sp>
      <p:sp>
        <p:nvSpPr>
          <p:cNvPr id="4" name="">
            <a:extLst xmlns:a="http://schemas.openxmlformats.org/drawingml/2006/main">
              <a:ext uri="{FF2B5EF4-FFF2-40B4-BE49-F238E27FC236}">
                <a16:creationId xmlns:a16="http://schemas.microsoft.com/office/drawing/2014/main" id="{98BA2EFF-C280-42FE-896F-8308AC46C9E6}"/>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prototype proves live delivery; the proposal adds richer events and department rooms</a:t>
            </a:r>
          </a:p>
        </p:txBody>
      </p:sp>
      <p:sp>
        <p:nvSpPr>
          <p:cNvPr id="5" name="">
            <a:extLst xmlns:a="http://schemas.openxmlformats.org/drawingml/2006/main">
              <a:ext uri="{FF2B5EF4-FFF2-40B4-BE49-F238E27FC236}">
                <a16:creationId xmlns:a16="http://schemas.microsoft.com/office/drawing/2014/main" id="{0F877C83-F88E-4871-9ECC-549C1B575DA4}"/>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EFF320F8-6E0A-4A75-9CC6-090EF2D68218}"/>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2ADC31B7-4087-4759-98C8-E5AF8B28D383}"/>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8</a:t>
            </a:r>
          </a:p>
        </p:txBody>
      </p:sp>
      <p:sp>
        <p:nvSpPr>
          <p:cNvPr id="8" name="">
            <a:extLst xmlns:a="http://schemas.openxmlformats.org/drawingml/2006/main">
              <a:ext uri="{FF2B5EF4-FFF2-40B4-BE49-F238E27FC236}">
                <a16:creationId xmlns:a16="http://schemas.microsoft.com/office/drawing/2014/main" id="{D63F45D7-A274-40DC-A1C7-DF3E3CD29330}"/>
              </a:ext>
            </a:extLst>
          </p:cNvPr>
          <p:cNvSpPr>
            <a:spLocks xmlns:a="http://schemas.openxmlformats.org/drawingml/2006/main" noGrp="1"/>
          </p:cNvSpPr>
          <p:nvPr/>
        </p:nvSpPr>
        <p:spPr>
          <a:xfrm xmlns:a="http://schemas.openxmlformats.org/drawingml/2006/main">
            <a:off x="685800" y="19526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E2CE9C62-2BA6-46DD-8AFA-90C93D2F4D15}"/>
              </a:ext>
            </a:extLst>
          </p:cNvPr>
          <p:cNvSpPr>
            <a:spLocks xmlns:a="http://schemas.openxmlformats.org/drawingml/2006/main" noGrp="1"/>
          </p:cNvSpPr>
          <p:nvPr/>
        </p:nvSpPr>
        <p:spPr>
          <a:xfrm xmlns:a="http://schemas.openxmlformats.org/drawingml/2006/main">
            <a:off x="1257300" y="21240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0" name="">
            <a:extLst xmlns:a="http://schemas.openxmlformats.org/drawingml/2006/main">
              <a:ext uri="{FF2B5EF4-FFF2-40B4-BE49-F238E27FC236}">
                <a16:creationId xmlns:a16="http://schemas.microsoft.com/office/drawing/2014/main" id="{0FE4BC69-6ED9-48FA-BDFD-6F6B98D668CB}"/>
              </a:ext>
            </a:extLst>
          </p:cNvPr>
          <p:cNvSpPr>
            <a:spLocks xmlns:a="http://schemas.openxmlformats.org/drawingml/2006/main" noGrp="1"/>
          </p:cNvSpPr>
          <p:nvPr/>
        </p:nvSpPr>
        <p:spPr>
          <a:xfrm xmlns:a="http://schemas.openxmlformats.org/drawingml/2006/main">
            <a:off x="1924050" y="19526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Queue state</a:t>
            </a:r>
          </a:p>
        </p:txBody>
      </p:sp>
      <p:sp>
        <p:nvSpPr>
          <p:cNvPr id="11" name="">
            <a:extLst xmlns:a="http://schemas.openxmlformats.org/drawingml/2006/main">
              <a:ext uri="{FF2B5EF4-FFF2-40B4-BE49-F238E27FC236}">
                <a16:creationId xmlns:a16="http://schemas.microsoft.com/office/drawing/2014/main" id="{1809BD43-A47E-4189-A650-26AD20189011}"/>
              </a:ext>
            </a:extLst>
          </p:cNvPr>
          <p:cNvSpPr>
            <a:spLocks xmlns:a="http://schemas.openxmlformats.org/drawingml/2006/main" noGrp="1"/>
          </p:cNvSpPr>
          <p:nvPr/>
        </p:nvSpPr>
        <p:spPr>
          <a:xfrm xmlns:a="http://schemas.openxmlformats.org/drawingml/2006/main">
            <a:off x="3857625" y="19526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Keep ordered WAITING, SERVING, and COMPLETED entries</a:t>
            </a:r>
          </a:p>
        </p:txBody>
      </p:sp>
      <p:sp>
        <p:nvSpPr>
          <p:cNvPr id="12" name="">
            <a:extLst xmlns:a="http://schemas.openxmlformats.org/drawingml/2006/main">
              <a:ext uri="{FF2B5EF4-FFF2-40B4-BE49-F238E27FC236}">
                <a16:creationId xmlns:a16="http://schemas.microsoft.com/office/drawing/2014/main" id="{1B78D11A-4103-4807-BC80-A7589DE3CB93}"/>
              </a:ext>
            </a:extLst>
          </p:cNvPr>
          <p:cNvSpPr>
            <a:spLocks xmlns:a="http://schemas.openxmlformats.org/drawingml/2006/main" noGrp="1"/>
          </p:cNvSpPr>
          <p:nvPr/>
        </p:nvSpPr>
        <p:spPr>
          <a:xfrm xmlns:a="http://schemas.openxmlformats.org/drawingml/2006/main">
            <a:off x="685800" y="28289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ADFC2F59-C9D6-468F-AA7C-4925C9F54BBD}"/>
              </a:ext>
            </a:extLst>
          </p:cNvPr>
          <p:cNvSpPr>
            <a:spLocks xmlns:a="http://schemas.openxmlformats.org/drawingml/2006/main" noGrp="1"/>
          </p:cNvSpPr>
          <p:nvPr/>
        </p:nvSpPr>
        <p:spPr>
          <a:xfrm xmlns:a="http://schemas.openxmlformats.org/drawingml/2006/main">
            <a:off x="1257300" y="30003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4" name="">
            <a:extLst xmlns:a="http://schemas.openxmlformats.org/drawingml/2006/main">
              <a:ext uri="{FF2B5EF4-FFF2-40B4-BE49-F238E27FC236}">
                <a16:creationId xmlns:a16="http://schemas.microsoft.com/office/drawing/2014/main" id="{CC5C1BBE-167E-474E-B358-314B985BDEDE}"/>
              </a:ext>
            </a:extLst>
          </p:cNvPr>
          <p:cNvSpPr>
            <a:spLocks xmlns:a="http://schemas.openxmlformats.org/drawingml/2006/main" noGrp="1"/>
          </p:cNvSpPr>
          <p:nvPr/>
        </p:nvSpPr>
        <p:spPr>
          <a:xfrm xmlns:a="http://schemas.openxmlformats.org/drawingml/2006/main">
            <a:off x="1924050" y="2828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Socket server</a:t>
            </a:r>
          </a:p>
        </p:txBody>
      </p:sp>
      <p:sp>
        <p:nvSpPr>
          <p:cNvPr id="15" name="">
            <a:extLst xmlns:a="http://schemas.openxmlformats.org/drawingml/2006/main">
              <a:ext uri="{FF2B5EF4-FFF2-40B4-BE49-F238E27FC236}">
                <a16:creationId xmlns:a16="http://schemas.microsoft.com/office/drawing/2014/main" id="{F7158EF6-E66B-4D0B-A936-755929F1E351}"/>
              </a:ext>
            </a:extLst>
          </p:cNvPr>
          <p:cNvSpPr>
            <a:spLocks xmlns:a="http://schemas.openxmlformats.org/drawingml/2006/main" noGrp="1"/>
          </p:cNvSpPr>
          <p:nvPr/>
        </p:nvSpPr>
        <p:spPr>
          <a:xfrm xmlns:a="http://schemas.openxmlformats.org/drawingml/2006/main">
            <a:off x="3857625" y="28289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5"/>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Attach Socket.IO and create queue rooms</a:t>
            </a:r>
          </a:p>
        </p:txBody>
      </p:sp>
      <p:sp>
        <p:nvSpPr>
          <p:cNvPr id="16" name="">
            <a:extLst xmlns:a="http://schemas.openxmlformats.org/drawingml/2006/main">
              <a:ext uri="{FF2B5EF4-FFF2-40B4-BE49-F238E27FC236}">
                <a16:creationId xmlns:a16="http://schemas.microsoft.com/office/drawing/2014/main" id="{CCE4CF30-CE8F-49F4-9726-42670895079F}"/>
              </a:ext>
            </a:extLst>
          </p:cNvPr>
          <p:cNvSpPr>
            <a:spLocks xmlns:a="http://schemas.openxmlformats.org/drawingml/2006/main" noGrp="1"/>
          </p:cNvSpPr>
          <p:nvPr/>
        </p:nvSpPr>
        <p:spPr>
          <a:xfrm xmlns:a="http://schemas.openxmlformats.org/drawingml/2006/main">
            <a:off x="685800" y="3705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15ADAFBB-5C4D-4DC6-A010-CE71CB24C29F}"/>
              </a:ext>
            </a:extLst>
          </p:cNvPr>
          <p:cNvSpPr>
            <a:spLocks xmlns:a="http://schemas.openxmlformats.org/drawingml/2006/main" noGrp="1"/>
          </p:cNvSpPr>
          <p:nvPr/>
        </p:nvSpPr>
        <p:spPr>
          <a:xfrm xmlns:a="http://schemas.openxmlformats.org/drawingml/2006/main">
            <a:off x="1257300" y="38766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8" name="">
            <a:extLst xmlns:a="http://schemas.openxmlformats.org/drawingml/2006/main">
              <a:ext uri="{FF2B5EF4-FFF2-40B4-BE49-F238E27FC236}">
                <a16:creationId xmlns:a16="http://schemas.microsoft.com/office/drawing/2014/main" id="{99DB61B1-0D2B-4387-BA03-EC4DCB7FEC6E}"/>
              </a:ext>
            </a:extLst>
          </p:cNvPr>
          <p:cNvSpPr>
            <a:spLocks xmlns:a="http://schemas.openxmlformats.org/drawingml/2006/main" noGrp="1"/>
          </p:cNvSpPr>
          <p:nvPr/>
        </p:nvSpPr>
        <p:spPr>
          <a:xfrm xmlns:a="http://schemas.openxmlformats.org/drawingml/2006/main">
            <a:off x="1924050" y="3705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Event contract</a:t>
            </a:r>
          </a:p>
        </p:txBody>
      </p:sp>
      <p:sp>
        <p:nvSpPr>
          <p:cNvPr id="19" name="">
            <a:extLst xmlns:a="http://schemas.openxmlformats.org/drawingml/2006/main">
              <a:ext uri="{FF2B5EF4-FFF2-40B4-BE49-F238E27FC236}">
                <a16:creationId xmlns:a16="http://schemas.microsoft.com/office/drawing/2014/main" id="{582E5ADE-8CB8-4A6D-9CB9-5646F12C6923}"/>
              </a:ext>
            </a:extLst>
          </p:cNvPr>
          <p:cNvSpPr>
            <a:spLocks xmlns:a="http://schemas.openxmlformats.org/drawingml/2006/main" noGrp="1"/>
          </p:cNvSpPr>
          <p:nvPr/>
        </p:nvSpPr>
        <p:spPr>
          <a:xfrm xmlns:a="http://schemas.openxmlformats.org/drawingml/2006/main">
            <a:off x="3857625" y="37052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92"/>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Broadcast current number, count, and status</a:t>
            </a:r>
          </a:p>
        </p:txBody>
      </p:sp>
      <p:sp>
        <p:nvSpPr>
          <p:cNvPr id="20" name="">
            <a:extLst xmlns:a="http://schemas.openxmlformats.org/drawingml/2006/main">
              <a:ext uri="{FF2B5EF4-FFF2-40B4-BE49-F238E27FC236}">
                <a16:creationId xmlns:a16="http://schemas.microsoft.com/office/drawing/2014/main" id="{6FEB5D92-8D36-4315-B6F4-00CEBFD0B702}"/>
              </a:ext>
            </a:extLst>
          </p:cNvPr>
          <p:cNvSpPr>
            <a:spLocks xmlns:a="http://schemas.openxmlformats.org/drawingml/2006/main" noGrp="1"/>
          </p:cNvSpPr>
          <p:nvPr/>
        </p:nvSpPr>
        <p:spPr>
          <a:xfrm xmlns:a="http://schemas.openxmlformats.org/drawingml/2006/main">
            <a:off x="685800" y="45815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52C06BB1-6C6D-40BA-B603-14A30E4AE404}"/>
              </a:ext>
            </a:extLst>
          </p:cNvPr>
          <p:cNvSpPr>
            <a:spLocks xmlns:a="http://schemas.openxmlformats.org/drawingml/2006/main" noGrp="1"/>
          </p:cNvSpPr>
          <p:nvPr/>
        </p:nvSpPr>
        <p:spPr>
          <a:xfrm xmlns:a="http://schemas.openxmlformats.org/drawingml/2006/main">
            <a:off x="1257300" y="47529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22" name="">
            <a:extLst xmlns:a="http://schemas.openxmlformats.org/drawingml/2006/main">
              <a:ext uri="{FF2B5EF4-FFF2-40B4-BE49-F238E27FC236}">
                <a16:creationId xmlns:a16="http://schemas.microsoft.com/office/drawing/2014/main" id="{BED1ACFF-9DEF-427A-A144-C2779C56ABAE}"/>
              </a:ext>
            </a:extLst>
          </p:cNvPr>
          <p:cNvSpPr>
            <a:spLocks xmlns:a="http://schemas.openxmlformats.org/drawingml/2006/main" noGrp="1"/>
          </p:cNvSpPr>
          <p:nvPr/>
        </p:nvSpPr>
        <p:spPr>
          <a:xfrm xmlns:a="http://schemas.openxmlformats.org/drawingml/2006/main">
            <a:off x="1924050" y="45815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Owner screen</a:t>
            </a:r>
          </a:p>
        </p:txBody>
      </p:sp>
      <p:sp>
        <p:nvSpPr>
          <p:cNvPr id="23" name="">
            <a:extLst xmlns:a="http://schemas.openxmlformats.org/drawingml/2006/main">
              <a:ext uri="{FF2B5EF4-FFF2-40B4-BE49-F238E27FC236}">
                <a16:creationId xmlns:a16="http://schemas.microsoft.com/office/drawing/2014/main" id="{ED7DD483-018E-47D8-B577-34078F71FEF3}"/>
              </a:ext>
            </a:extLst>
          </p:cNvPr>
          <p:cNvSpPr>
            <a:spLocks xmlns:a="http://schemas.openxmlformats.org/drawingml/2006/main" noGrp="1"/>
          </p:cNvSpPr>
          <p:nvPr/>
        </p:nvSpPr>
        <p:spPr>
          <a:xfrm xmlns:a="http://schemas.openxmlformats.org/drawingml/2006/main">
            <a:off x="3857625" y="45815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08"/>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Update immediately and resync after reconnect</a:t>
            </a:r>
          </a:p>
        </p:txBody>
      </p:sp>
      <p:sp>
        <p:nvSpPr>
          <p:cNvPr id="24" name="">
            <a:extLst xmlns:a="http://schemas.openxmlformats.org/drawingml/2006/main">
              <a:ext uri="{FF2B5EF4-FFF2-40B4-BE49-F238E27FC236}">
                <a16:creationId xmlns:a16="http://schemas.microsoft.com/office/drawing/2014/main" id="{0ADA7C4B-D46C-44C2-B3F5-6F34E2331DDF}"/>
              </a:ext>
            </a:extLst>
          </p:cNvPr>
          <p:cNvSpPr>
            <a:spLocks xmlns:a="http://schemas.openxmlformats.org/drawingml/2006/main" noGrp="1"/>
          </p:cNvSpPr>
          <p:nvPr/>
        </p:nvSpPr>
        <p:spPr>
          <a:xfrm xmlns:a="http://schemas.openxmlformats.org/drawingml/2006/main">
            <a:off x="7381875" y="1809750"/>
            <a:ext cx="3905250" cy="3810000"/>
          </a:xfrm>
          <a:prstGeom xmlns:a="http://schemas.openxmlformats.org/drawingml/2006/main" prst="roundRect">
            <a:avLst>
              <a:gd name="adj" fmla="val 5000"/>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A4CCE3A0-185D-4BAC-85BF-FDD43EE9CCD2}"/>
              </a:ext>
            </a:extLst>
          </p:cNvPr>
          <p:cNvSpPr>
            <a:spLocks xmlns:a="http://schemas.openxmlformats.org/drawingml/2006/main" noGrp="1"/>
          </p:cNvSpPr>
          <p:nvPr/>
        </p:nvSpPr>
        <p:spPr>
          <a:xfrm xmlns:a="http://schemas.openxmlformats.org/drawingml/2006/main">
            <a:off x="7715250" y="2047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83DEC5"/>
                </a:solidFill>
                <a:latin typeface="Helvetica Neue"/>
                <a:ea typeface="Helvetica Neue"/>
                <a:cs typeface="Helvetica Neue"/>
              </a:defRPr>
            </a:pPr>
            <a:r>
              <a:rPr sz="1275" b="1">
                <a:solidFill>
                  <a:srgbClr val="83DEC5"/>
                </a:solidFill>
                <a:latin typeface="Helvetica Neue"/>
                <a:ea typeface="Helvetica Neue"/>
                <a:cs typeface="Helvetica Neue"/>
              </a:rPr>
              <a:t>RUNNABLE PROOF</a:t>
            </a:r>
          </a:p>
        </p:txBody>
      </p:sp>
      <p:sp>
        <p:nvSpPr>
          <p:cNvPr id="26" name="">
            <a:extLst xmlns:a="http://schemas.openxmlformats.org/drawingml/2006/main">
              <a:ext uri="{FF2B5EF4-FFF2-40B4-BE49-F238E27FC236}">
                <a16:creationId xmlns:a16="http://schemas.microsoft.com/office/drawing/2014/main" id="{AC1F5D48-49FA-4A83-879B-4ACE49CD403D}"/>
              </a:ext>
            </a:extLst>
          </p:cNvPr>
          <p:cNvSpPr>
            <a:spLocks xmlns:a="http://schemas.openxmlformats.org/drawingml/2006/main" noGrp="1"/>
          </p:cNvSpPr>
          <p:nvPr/>
        </p:nvSpPr>
        <p:spPr>
          <a:xfrm xmlns:a="http://schemas.openxmlformats.org/drawingml/2006/main">
            <a:off x="7715250" y="25336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Backend</a:t>
            </a:r>
          </a:p>
        </p:txBody>
      </p:sp>
      <p:sp>
        <p:nvSpPr>
          <p:cNvPr id="27" name="">
            <a:extLst xmlns:a="http://schemas.openxmlformats.org/drawingml/2006/main">
              <a:ext uri="{FF2B5EF4-FFF2-40B4-BE49-F238E27FC236}">
                <a16:creationId xmlns:a16="http://schemas.microsoft.com/office/drawing/2014/main" id="{05CDCA58-46EB-4C77-8E38-201124712E6A}"/>
              </a:ext>
            </a:extLst>
          </p:cNvPr>
          <p:cNvSpPr>
            <a:spLocks xmlns:a="http://schemas.openxmlformats.org/drawingml/2006/main" noGrp="1"/>
          </p:cNvSpPr>
          <p:nvPr/>
        </p:nvSpPr>
        <p:spPr>
          <a:xfrm xmlns:a="http://schemas.openxmlformats.org/drawingml/2006/main">
            <a:off x="7715250" y="2857500"/>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db:migrate</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28" name="">
            <a:extLst xmlns:a="http://schemas.openxmlformats.org/drawingml/2006/main">
              <a:ext uri="{FF2B5EF4-FFF2-40B4-BE49-F238E27FC236}">
                <a16:creationId xmlns:a16="http://schemas.microsoft.com/office/drawing/2014/main" id="{DC301DF3-2920-4704-AFA9-F8865E4C5A11}"/>
              </a:ext>
            </a:extLst>
          </p:cNvPr>
          <p:cNvSpPr>
            <a:spLocks xmlns:a="http://schemas.openxmlformats.org/drawingml/2006/main" noGrp="1"/>
          </p:cNvSpPr>
          <p:nvPr/>
        </p:nvSpPr>
        <p:spPr>
          <a:xfrm xmlns:a="http://schemas.openxmlformats.org/drawingml/2006/main">
            <a:off x="7715250" y="3714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Frontend</a:t>
            </a:r>
          </a:p>
        </p:txBody>
      </p:sp>
      <p:sp>
        <p:nvSpPr>
          <p:cNvPr id="29" name="">
            <a:extLst xmlns:a="http://schemas.openxmlformats.org/drawingml/2006/main">
              <a:ext uri="{FF2B5EF4-FFF2-40B4-BE49-F238E27FC236}">
                <a16:creationId xmlns:a16="http://schemas.microsoft.com/office/drawing/2014/main" id="{DD92B4E4-5EA3-4551-9693-EB7EA7E6452A}"/>
              </a:ext>
            </a:extLst>
          </p:cNvPr>
          <p:cNvSpPr>
            <a:spLocks xmlns:a="http://schemas.openxmlformats.org/drawingml/2006/main" noGrp="1"/>
          </p:cNvSpPr>
          <p:nvPr/>
        </p:nvSpPr>
        <p:spPr>
          <a:xfrm xmlns:a="http://schemas.openxmlformats.org/drawingml/2006/main">
            <a:off x="7715250" y="40386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30" name="">
            <a:extLst xmlns:a="http://schemas.openxmlformats.org/drawingml/2006/main">
              <a:ext uri="{FF2B5EF4-FFF2-40B4-BE49-F238E27FC236}">
                <a16:creationId xmlns:a16="http://schemas.microsoft.com/office/drawing/2014/main" id="{61556183-C8B3-4C0A-9004-91249C82C30D}"/>
              </a:ext>
            </a:extLst>
          </p:cNvPr>
          <p:cNvSpPr>
            <a:spLocks xmlns:a="http://schemas.openxmlformats.org/drawingml/2006/main" noGrp="1"/>
          </p:cNvSpPr>
          <p:nvPr/>
        </p:nvSpPr>
        <p:spPr>
          <a:xfrm xmlns:a="http://schemas.openxmlformats.org/drawingml/2006/main">
            <a:off x="7715250" y="4762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Verification</a:t>
            </a:r>
          </a:p>
        </p:txBody>
      </p:sp>
      <p:sp>
        <p:nvSpPr>
          <p:cNvPr id="31" name="">
            <a:extLst xmlns:a="http://schemas.openxmlformats.org/drawingml/2006/main">
              <a:ext uri="{FF2B5EF4-FFF2-40B4-BE49-F238E27FC236}">
                <a16:creationId xmlns:a16="http://schemas.microsoft.com/office/drawing/2014/main" id="{56A76648-4AD6-40E4-8CD0-A235B6ACC89E}"/>
              </a:ext>
            </a:extLst>
          </p:cNvPr>
          <p:cNvSpPr>
            <a:spLocks xmlns:a="http://schemas.openxmlformats.org/drawingml/2006/main" noGrp="1"/>
          </p:cNvSpPr>
          <p:nvPr/>
        </p:nvSpPr>
        <p:spPr>
          <a:xfrm xmlns:a="http://schemas.openxmlformats.org/drawingml/2006/main">
            <a:off x="7715250" y="50863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build</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queue integration test</a:t>
            </a:r>
          </a:p>
        </p:txBody>
      </p:sp>
      <p:sp>
        <p:nvSpPr>
          <p:cNvPr id="32" name="">
            <a:extLst xmlns:a="http://schemas.openxmlformats.org/drawingml/2006/main">
              <a:ext uri="{FF2B5EF4-FFF2-40B4-BE49-F238E27FC236}">
                <a16:creationId xmlns:a16="http://schemas.microsoft.com/office/drawing/2014/main" id="{90D1E296-93FA-4F6C-B845-4DE1561775E5}"/>
              </a:ext>
            </a:extLst>
          </p:cNvPr>
          <p:cNvSpPr>
            <a:spLocks xmlns:a="http://schemas.openxmlformats.org/drawingml/2006/main" noGrp="1"/>
          </p:cNvSpPr>
          <p:nvPr/>
        </p:nvSpPr>
        <p:spPr>
          <a:xfrm xmlns:a="http://schemas.openxmlformats.org/drawingml/2006/main">
            <a:off x="714375" y="5762625"/>
            <a:ext cx="10239375" cy="428625"/>
          </a:xfrm>
          <a:prstGeom xmlns:a="http://schemas.openxmlformats.org/drawingml/2006/main" prst="roundRect">
            <a:avLst>
              <a:gd name="adj" fmla="val 26667"/>
            </a:avLst>
          </a:prstGeom>
          <a:solidFill xmlns:a="http://schemas.openxmlformats.org/drawingml/2006/main">
            <a:srgbClr val="DCF4EC"/>
          </a:solidFill>
          <a:ln xmlns:a="http://schemas.openxmlformats.org/drawingml/2006/main" w="14288">
            <a:solidFill>
              <a:srgbClr val="8ACDBA"/>
            </a:solidFill>
            <a:prstDash val="solid"/>
          </a:ln>
        </p:spPr>
      </p:sp>
      <p:sp>
        <p:nvSpPr>
          <p:cNvPr id="33" name="">
            <a:extLst xmlns:a="http://schemas.openxmlformats.org/drawingml/2006/main">
              <a:ext uri="{FF2B5EF4-FFF2-40B4-BE49-F238E27FC236}">
                <a16:creationId xmlns:a16="http://schemas.microsoft.com/office/drawing/2014/main" id="{7FA2EF79-D86B-471B-A752-4D8C069CBC5D}"/>
              </a:ext>
            </a:extLst>
          </p:cNvPr>
          <p:cNvSpPr>
            <a:spLocks xmlns:a="http://schemas.openxmlformats.org/drawingml/2006/main" noGrp="1"/>
          </p:cNvSpPr>
          <p:nvPr/>
        </p:nvSpPr>
        <p:spPr>
          <a:xfrm xmlns:a="http://schemas.openxmlformats.org/drawingml/2006/main">
            <a:off x="904875" y="5829300"/>
            <a:ext cx="985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123F38"/>
                </a:solidFill>
                <a:latin typeface="Helvetica Neue"/>
                <a:ea typeface="Helvetica Neue"/>
                <a:cs typeface="Helvetica Neue"/>
              </a:defRPr>
            </a:pPr>
            <a:r>
              <a:rPr sz="1200" b="1">
                <a:solidFill>
                  <a:srgbClr val="123F38"/>
                </a:solidFill>
                <a:latin typeface="Helvetica Neue"/>
                <a:ea typeface="Helvetica Neue"/>
                <a:cs typeface="Helvetica Neue"/>
              </a:rPr>
              <a:t>Runnable proof demonstrates check-in, call-next, cancellation, reconnection, and live screen refresh</a:t>
            </a:r>
          </a:p>
        </p:txBody>
      </p:sp>
    </p:spTree>
    <p:extLst>
      <p:ext uri="{BB962C8B-B14F-4D97-AF65-F5344CB8AC3E}">
        <p14:creationId xmlns:p14="http://schemas.microsoft.com/office/powerpoint/2010/main" val="1338226681"/>
      </p:ext>
    </p:extLst>
  </p:cSld>
</p:sld>
</file>

<file path=ppt/slides/slide9.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AD11CCF-E18A-4199-A7D1-C5BC44D621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5202E60F-EA36-4C81-A027-0DF0791375FE}"/>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CF49CFA8-AB61-473B-A830-E2AF4416640B}"/>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Live demonstration and testing</a:t>
            </a:r>
          </a:p>
        </p:txBody>
      </p:sp>
      <p:sp>
        <p:nvSpPr>
          <p:cNvPr id="4" name="">
            <a:extLst xmlns:a="http://schemas.openxmlformats.org/drawingml/2006/main">
              <a:ext uri="{FF2B5EF4-FFF2-40B4-BE49-F238E27FC236}">
                <a16:creationId xmlns:a16="http://schemas.microsoft.com/office/drawing/2014/main" id="{0842FDEF-F8E9-4955-A7AA-76673DB1DFC4}"/>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Two browser windows show the same queue changing in real time</a:t>
            </a:r>
          </a:p>
        </p:txBody>
      </p:sp>
      <p:sp>
        <p:nvSpPr>
          <p:cNvPr id="5" name="">
            <a:extLst xmlns:a="http://schemas.openxmlformats.org/drawingml/2006/main">
              <a:ext uri="{FF2B5EF4-FFF2-40B4-BE49-F238E27FC236}">
                <a16:creationId xmlns:a16="http://schemas.microsoft.com/office/drawing/2014/main" id="{FCEF3083-E031-43D0-AFE9-7EE0D1EBF6D6}"/>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77FA2375-673A-44FC-A3A2-93F6CA215E25}"/>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112C4178-C311-4E2C-B46E-144A8D593BE6}"/>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9</a:t>
            </a:r>
          </a:p>
        </p:txBody>
      </p:sp>
      <p:sp>
        <p:nvSpPr>
          <p:cNvPr id="8" name="">
            <a:extLst xmlns:a="http://schemas.openxmlformats.org/drawingml/2006/main">
              <a:ext uri="{FF2B5EF4-FFF2-40B4-BE49-F238E27FC236}">
                <a16:creationId xmlns:a16="http://schemas.microsoft.com/office/drawing/2014/main" id="{78089D19-32A6-4A81-9E95-A58B4FF9AB27}"/>
              </a:ext>
            </a:extLst>
          </p:cNvPr>
          <p:cNvSpPr>
            <a:spLocks xmlns:a="http://schemas.openxmlformats.org/drawingml/2006/main" noGrp="1"/>
          </p:cNvSpPr>
          <p:nvPr/>
        </p:nvSpPr>
        <p:spPr>
          <a:xfrm xmlns:a="http://schemas.openxmlformats.org/drawingml/2006/main">
            <a:off x="619125" y="1857375"/>
            <a:ext cx="5191125" cy="3905250"/>
          </a:xfrm>
          <a:prstGeom xmlns:a="http://schemas.openxmlformats.org/drawingml/2006/main" prst="roundRect">
            <a:avLst>
              <a:gd name="adj" fmla="val 4878"/>
            </a:avLst>
          </a:prstGeom>
          <a:solidFill xmlns:a="http://schemas.openxmlformats.org/drawingml/2006/main">
            <a:srgbClr val="F8E5D2"/>
          </a:solidFill>
          <a:ln xmlns:a="http://schemas.openxmlformats.org/drawingml/2006/main" w="14288">
            <a:solidFill>
              <a:srgbClr val="C98A3D"/>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070CCE1-1D8B-4E06-A9E7-02589DB935F2}"/>
              </a:ext>
            </a:extLst>
          </p:cNvPr>
          <p:cNvSpPr>
            <a:spLocks xmlns:a="http://schemas.openxmlformats.org/drawingml/2006/main" noGrp="1"/>
          </p:cNvSpPr>
          <p:nvPr/>
        </p:nvSpPr>
        <p:spPr>
          <a:xfrm xmlns:a="http://schemas.openxmlformats.org/drawingml/2006/main">
            <a:off x="904875"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C98A3D"/>
                </a:solidFill>
                <a:latin typeface="Helvetica Neue"/>
                <a:ea typeface="Helvetica Neue"/>
                <a:cs typeface="Helvetica Neue"/>
              </a:defRPr>
            </a:pPr>
            <a:r>
              <a:rPr sz="1350" b="1">
                <a:solidFill>
                  <a:srgbClr val="C98A3D"/>
                </a:solidFill>
                <a:latin typeface="Helvetica Neue"/>
                <a:ea typeface="Helvetica Neue"/>
                <a:cs typeface="Helvetica Neue"/>
              </a:rPr>
              <a:t>PET OWNER WINDOW</a:t>
            </a:r>
          </a:p>
        </p:txBody>
      </p:sp>
      <p:sp>
        <p:nvSpPr>
          <p:cNvPr id="10" name="">
            <a:extLst xmlns:a="http://schemas.openxmlformats.org/drawingml/2006/main">
              <a:ext uri="{FF2B5EF4-FFF2-40B4-BE49-F238E27FC236}">
                <a16:creationId xmlns:a16="http://schemas.microsoft.com/office/drawing/2014/main" id="{CF5DB90E-B321-47A8-A09F-AB9DE5895DAF}"/>
              </a:ext>
            </a:extLst>
          </p:cNvPr>
          <p:cNvSpPr>
            <a:spLocks xmlns:a="http://schemas.openxmlformats.org/drawingml/2006/main" noGrp="1"/>
          </p:cNvSpPr>
          <p:nvPr/>
        </p:nvSpPr>
        <p:spPr>
          <a:xfrm xmlns:a="http://schemas.openxmlformats.org/drawingml/2006/main">
            <a:off x="1047750"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Select a registered pet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Check In</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Read queue number and patients ahead</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Keep this screen open without refreshing</a:t>
            </a:r>
          </a:p>
        </p:txBody>
      </p:sp>
      <p:sp>
        <p:nvSpPr>
          <p:cNvPr id="11" name="">
            <a:extLst xmlns:a="http://schemas.openxmlformats.org/drawingml/2006/main">
              <a:ext uri="{FF2B5EF4-FFF2-40B4-BE49-F238E27FC236}">
                <a16:creationId xmlns:a16="http://schemas.microsoft.com/office/drawing/2014/main" id="{1A4FF9EA-49C7-459D-A2BE-B796993A23E2}"/>
              </a:ext>
            </a:extLst>
          </p:cNvPr>
          <p:cNvSpPr>
            <a:spLocks xmlns:a="http://schemas.openxmlformats.org/drawingml/2006/main" noGrp="1"/>
          </p:cNvSpPr>
          <p:nvPr/>
        </p:nvSpPr>
        <p:spPr>
          <a:xfrm xmlns:a="http://schemas.openxmlformats.org/drawingml/2006/main">
            <a:off x="6381750" y="1857375"/>
            <a:ext cx="5191125" cy="3905250"/>
          </a:xfrm>
          <a:prstGeom xmlns:a="http://schemas.openxmlformats.org/drawingml/2006/main" prst="roundRect">
            <a:avLst>
              <a:gd name="adj" fmla="val 4878"/>
            </a:avLst>
          </a:prstGeom>
          <a:solidFill xmlns:a="http://schemas.openxmlformats.org/drawingml/2006/main">
            <a:srgbClr val="E5F0F8"/>
          </a:solidFill>
          <a:ln xmlns:a="http://schemas.openxmlformats.org/drawingml/2006/main" w="14288">
            <a:solidFill>
              <a:srgbClr val="2E6F9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A9D07B7-B9B3-4274-A810-A943741D3422}"/>
              </a:ext>
            </a:extLst>
          </p:cNvPr>
          <p:cNvSpPr>
            <a:spLocks xmlns:a="http://schemas.openxmlformats.org/drawingml/2006/main" noGrp="1"/>
          </p:cNvSpPr>
          <p:nvPr/>
        </p:nvSpPr>
        <p:spPr>
          <a:xfrm xmlns:a="http://schemas.openxmlformats.org/drawingml/2006/main">
            <a:off x="6667500"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E6F95"/>
                </a:solidFill>
                <a:latin typeface="Helvetica Neue"/>
                <a:ea typeface="Helvetica Neue"/>
                <a:cs typeface="Helvetica Neue"/>
              </a:defRPr>
            </a:pPr>
            <a:r>
              <a:rPr sz="1350" b="1">
                <a:solidFill>
                  <a:srgbClr val="2E6F95"/>
                </a:solidFill>
                <a:latin typeface="Helvetica Neue"/>
                <a:ea typeface="Helvetica Neue"/>
                <a:cs typeface="Helvetica Neue"/>
              </a:rPr>
              <a:t>STAFF WINDOW</a:t>
            </a:r>
          </a:p>
        </p:txBody>
      </p:sp>
      <p:sp>
        <p:nvSpPr>
          <p:cNvPr id="13" name="">
            <a:extLst xmlns:a="http://schemas.openxmlformats.org/drawingml/2006/main">
              <a:ext uri="{FF2B5EF4-FFF2-40B4-BE49-F238E27FC236}">
                <a16:creationId xmlns:a16="http://schemas.microsoft.com/office/drawing/2014/main" id="{A75091BD-FEB0-4DC3-97F9-9DE448B8F4F7}"/>
              </a:ext>
            </a:extLst>
          </p:cNvPr>
          <p:cNvSpPr>
            <a:spLocks xmlns:a="http://schemas.openxmlformats.org/drawingml/2006/main" noGrp="1"/>
          </p:cNvSpPr>
          <p:nvPr/>
        </p:nvSpPr>
        <p:spPr>
          <a:xfrm xmlns:a="http://schemas.openxmlformats.org/drawingml/2006/main">
            <a:off x="6810375"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Confirm the waiting entry appears</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Call Next Patient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Watch the owner screen change automatically</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Test reconnection and cancellation</a:t>
            </a:r>
          </a:p>
        </p:txBody>
      </p:sp>
      <p:sp>
        <p:nvSpPr>
          <p:cNvPr id="14" name="">
            <a:extLst xmlns:a="http://schemas.openxmlformats.org/drawingml/2006/main">
              <a:ext uri="{FF2B5EF4-FFF2-40B4-BE49-F238E27FC236}">
                <a16:creationId xmlns:a16="http://schemas.microsoft.com/office/drawing/2014/main" id="{C78DB593-11E5-479A-BE89-A83EBCC5437A}"/>
              </a:ext>
            </a:extLst>
          </p:cNvPr>
          <p:cNvSpPr>
            <a:spLocks xmlns:a="http://schemas.openxmlformats.org/drawingml/2006/main" noGrp="1"/>
          </p:cNvSpPr>
          <p:nvPr/>
        </p:nvSpPr>
        <p:spPr>
          <a:xfrm xmlns:a="http://schemas.openxmlformats.org/drawingml/2006/main">
            <a:off x="2000250" y="5953125"/>
            <a:ext cx="8191500" cy="381000"/>
          </a:xfrm>
          <a:prstGeom xmlns:a="http://schemas.openxmlformats.org/drawingml/2006/main" prst="roundRect">
            <a:avLst>
              <a:gd name="adj" fmla="val 30000"/>
            </a:avLst>
          </a:prstGeom>
          <a:solidFill xmlns:a="http://schemas.openxmlformats.org/drawingml/2006/main">
            <a:srgbClr val="DCF4EC"/>
          </a:solidFill>
          <a:ln xmlns:a="http://schemas.openxmlformats.org/drawingml/2006/main" w="14288">
            <a:solidFill>
              <a:srgbClr val="8ACDBA"/>
            </a:solidFill>
            <a:prstDash val="solid"/>
          </a:ln>
        </p:spPr>
      </p:sp>
      <p:sp>
        <p:nvSpPr>
          <p:cNvPr id="15" name="">
            <a:extLst xmlns:a="http://schemas.openxmlformats.org/drawingml/2006/main">
              <a:ext uri="{FF2B5EF4-FFF2-40B4-BE49-F238E27FC236}">
                <a16:creationId xmlns:a16="http://schemas.microsoft.com/office/drawing/2014/main" id="{335C6557-298F-4E1C-836F-04E6418C701D}"/>
              </a:ext>
            </a:extLst>
          </p:cNvPr>
          <p:cNvSpPr>
            <a:spLocks xmlns:a="http://schemas.openxmlformats.org/drawingml/2006/main" noGrp="1"/>
          </p:cNvSpPr>
          <p:nvPr/>
        </p:nvSpPr>
        <p:spPr>
          <a:xfrm xmlns:a="http://schemas.openxmlformats.org/drawingml/2006/main">
            <a:off x="2190750" y="6010275"/>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ctr">
              <a:defRPr sz="1275" b="1">
                <a:solidFill>
                  <a:srgbClr val="123F38"/>
                </a:solidFill>
                <a:latin typeface="Helvetica Neue"/>
                <a:ea typeface="Helvetica Neue"/>
                <a:cs typeface="Helvetica Neue"/>
              </a:defRPr>
            </a:pPr>
            <a:r>
              <a:rPr sz="1275" b="1">
                <a:solidFill>
                  <a:srgbClr val="123F38"/>
                </a:solidFill>
                <a:latin typeface="Helvetica Neue"/>
                <a:ea typeface="Helvetica Neue"/>
                <a:cs typeface="Helvetica Neue"/>
              </a:rPr>
              <a:t>Proof point: the owner page changes while no one presses Refresh</a:t>
            </a:r>
          </a:p>
        </p:txBody>
      </p:sp>
    </p:spTree>
    <p:extLst>
      <p:ext uri="{BB962C8B-B14F-4D97-AF65-F5344CB8AC3E}">
        <p14:creationId xmlns:p14="http://schemas.microsoft.com/office/powerpoint/2010/main" val="1096162819"/>
      </p:ext>
    </p:extLst>
  </p:cSld>
</p:sld>
</file>

<file path=ppt/slides/slide10.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4FE7BC6-8513-4BBD-A110-B2782C0E88CB}"/>
              </a:ext>
            </a:extLst>
          </p:cNvPr>
          <p:cNvSpPr>
            <a:spLocks xmlns:a="http://schemas.openxmlformats.org/drawingml/2006/main" noGrp="1"/>
          </p:cNvSpPr>
          <p:nvPr/>
        </p:nvSpPr>
        <p:spPr>
          <a:xfrm xmlns:a="http://schemas.openxmlformats.org/drawingml/2006/main">
            <a:off x="952500" y="12382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9AF1683A-0AC8-4C1B-BAC7-0CF037462BDB}"/>
              </a:ext>
            </a:extLst>
          </p:cNvPr>
          <p:cNvSpPr>
            <a:spLocks xmlns:a="http://schemas.openxmlformats.org/drawingml/2006/main" noGrp="1"/>
          </p:cNvSpPr>
          <p:nvPr/>
        </p:nvSpPr>
        <p:spPr>
          <a:xfrm xmlns:a="http://schemas.openxmlformats.org/drawingml/2006/main">
            <a:off x="1714500" y="2238375"/>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Real-time queue visibility for pet owners and clinic staff</a:t>
            </a:r>
          </a:p>
        </p:txBody>
      </p:sp>
      <p:sp>
        <p:nvSpPr>
          <p:cNvPr id="3" name="">
            <a:extLst xmlns:a="http://schemas.openxmlformats.org/drawingml/2006/main">
              <a:ext uri="{FF2B5EF4-FFF2-40B4-BE49-F238E27FC236}">
                <a16:creationId xmlns:a16="http://schemas.microsoft.com/office/drawing/2014/main" id="{190B5C1F-FC70-44E7-AE43-F3FBC9E35FD3}"/>
              </a:ext>
            </a:extLst>
          </p:cNvPr>
          <p:cNvSpPr>
            <a:spLocks xmlns:a="http://schemas.openxmlformats.org/drawingml/2006/main" noGrp="1"/>
          </p:cNvSpPr>
          <p:nvPr/>
        </p:nvSpPr>
        <p:spPr>
          <a:xfrm xmlns:a="http://schemas.openxmlformats.org/drawingml/2006/main">
            <a:off x="4000500" y="3028950"/>
            <a:ext cx="4191000"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4" name="">
            <a:extLst xmlns:a="http://schemas.openxmlformats.org/drawingml/2006/main">
              <a:ext uri="{FF2B5EF4-FFF2-40B4-BE49-F238E27FC236}">
                <a16:creationId xmlns:a16="http://schemas.microsoft.com/office/drawing/2014/main" id="{C2B4EE9D-2BCD-407F-8374-95074906C621}"/>
              </a:ext>
            </a:extLst>
          </p:cNvPr>
          <p:cNvSpPr>
            <a:spLocks xmlns:a="http://schemas.openxmlformats.org/drawingml/2006/main" noGrp="1"/>
          </p:cNvSpPr>
          <p:nvPr/>
        </p:nvSpPr>
        <p:spPr>
          <a:xfrm xmlns:a="http://schemas.openxmlformats.org/drawingml/2006/main">
            <a:off x="2505075" y="3638550"/>
            <a:ext cx="590550" cy="5905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B4B1FA4-B208-4F15-972D-30573570EBB8}"/>
              </a:ext>
            </a:extLst>
          </p:cNvPr>
          <p:cNvSpPr>
            <a:spLocks xmlns:a="http://schemas.openxmlformats.org/drawingml/2006/main" noGrp="1"/>
          </p:cNvSpPr>
          <p:nvPr/>
        </p:nvSpPr>
        <p:spPr>
          <a:xfrm xmlns:a="http://schemas.openxmlformats.org/drawingml/2006/main">
            <a:off x="14763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Staff action</a:t>
            </a:r>
          </a:p>
        </p:txBody>
      </p:sp>
      <p:sp>
        <p:nvSpPr>
          <p:cNvPr id="6" name="">
            <a:extLst xmlns:a="http://schemas.openxmlformats.org/drawingml/2006/main">
              <a:ext uri="{FF2B5EF4-FFF2-40B4-BE49-F238E27FC236}">
                <a16:creationId xmlns:a16="http://schemas.microsoft.com/office/drawing/2014/main" id="{7871C1CF-9C67-4D3D-8F9A-8613C59DA523}"/>
              </a:ext>
            </a:extLst>
          </p:cNvPr>
          <p:cNvSpPr>
            <a:spLocks xmlns:a="http://schemas.openxmlformats.org/drawingml/2006/main" noGrp="1"/>
          </p:cNvSpPr>
          <p:nvPr/>
        </p:nvSpPr>
        <p:spPr>
          <a:xfrm xmlns:a="http://schemas.openxmlformats.org/drawingml/2006/main">
            <a:off x="14763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changes the queue</a:t>
            </a:r>
          </a:p>
        </p:txBody>
      </p:sp>
      <p:sp>
        <p:nvSpPr>
          <p:cNvPr id="7" name="">
            <a:extLst xmlns:a="http://schemas.openxmlformats.org/drawingml/2006/main">
              <a:ext uri="{FF2B5EF4-FFF2-40B4-BE49-F238E27FC236}">
                <a16:creationId xmlns:a16="http://schemas.microsoft.com/office/drawing/2014/main" id="{6C83BEF6-B55B-461E-8B22-4C4F0C05E4FD}"/>
              </a:ext>
            </a:extLst>
          </p:cNvPr>
          <p:cNvSpPr>
            <a:spLocks xmlns:a="http://schemas.openxmlformats.org/drawingml/2006/main" noGrp="1"/>
          </p:cNvSpPr>
          <p:nvPr/>
        </p:nvSpPr>
        <p:spPr>
          <a:xfrm xmlns:a="http://schemas.openxmlformats.org/drawingml/2006/main">
            <a:off x="5648325" y="3638550"/>
            <a:ext cx="590550" cy="590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7DCA7DDD-3132-4DC5-8C6B-72B334760F55}"/>
              </a:ext>
            </a:extLst>
          </p:cNvPr>
          <p:cNvSpPr>
            <a:spLocks xmlns:a="http://schemas.openxmlformats.org/drawingml/2006/main" noGrp="1"/>
          </p:cNvSpPr>
          <p:nvPr/>
        </p:nvSpPr>
        <p:spPr>
          <a:xfrm xmlns:a="http://schemas.openxmlformats.org/drawingml/2006/main">
            <a:off x="461962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Socket.IO</a:t>
            </a:r>
          </a:p>
        </p:txBody>
      </p:sp>
      <p:sp>
        <p:nvSpPr>
          <p:cNvPr id="9" name="">
            <a:extLst xmlns:a="http://schemas.openxmlformats.org/drawingml/2006/main">
              <a:ext uri="{FF2B5EF4-FFF2-40B4-BE49-F238E27FC236}">
                <a16:creationId xmlns:a16="http://schemas.microsoft.com/office/drawing/2014/main" id="{6B0C299F-38E1-4FD3-B12F-40D89D97E6C4}"/>
              </a:ext>
            </a:extLst>
          </p:cNvPr>
          <p:cNvSpPr>
            <a:spLocks xmlns:a="http://schemas.openxmlformats.org/drawingml/2006/main" noGrp="1"/>
          </p:cNvSpPr>
          <p:nvPr/>
        </p:nvSpPr>
        <p:spPr>
          <a:xfrm xmlns:a="http://schemas.openxmlformats.org/drawingml/2006/main">
            <a:off x="461962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broadcasts the update</a:t>
            </a:r>
          </a:p>
        </p:txBody>
      </p:sp>
      <p:sp>
        <p:nvSpPr>
          <p:cNvPr id="10" name="">
            <a:extLst xmlns:a="http://schemas.openxmlformats.org/drawingml/2006/main">
              <a:ext uri="{FF2B5EF4-FFF2-40B4-BE49-F238E27FC236}">
                <a16:creationId xmlns:a16="http://schemas.microsoft.com/office/drawing/2014/main" id="{2A70A437-088A-4501-AC40-162A9F41D03E}"/>
              </a:ext>
            </a:extLst>
          </p:cNvPr>
          <p:cNvSpPr>
            <a:spLocks xmlns:a="http://schemas.openxmlformats.org/drawingml/2006/main" noGrp="1"/>
          </p:cNvSpPr>
          <p:nvPr/>
        </p:nvSpPr>
        <p:spPr>
          <a:xfrm xmlns:a="http://schemas.openxmlformats.org/drawingml/2006/main">
            <a:off x="8791575" y="3638550"/>
            <a:ext cx="590550" cy="5905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CC79629A-8BFF-4915-A0AE-B13AC575F5D5}"/>
              </a:ext>
            </a:extLst>
          </p:cNvPr>
          <p:cNvSpPr>
            <a:spLocks xmlns:a="http://schemas.openxmlformats.org/drawingml/2006/main" noGrp="1"/>
          </p:cNvSpPr>
          <p:nvPr/>
        </p:nvSpPr>
        <p:spPr>
          <a:xfrm xmlns:a="http://schemas.openxmlformats.org/drawingml/2006/main">
            <a:off x="77628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Owner screen</a:t>
            </a:r>
          </a:p>
        </p:txBody>
      </p:sp>
      <p:sp>
        <p:nvSpPr>
          <p:cNvPr id="12" name="">
            <a:extLst xmlns:a="http://schemas.openxmlformats.org/drawingml/2006/main">
              <a:ext uri="{FF2B5EF4-FFF2-40B4-BE49-F238E27FC236}">
                <a16:creationId xmlns:a16="http://schemas.microsoft.com/office/drawing/2014/main" id="{B9DCB45D-2917-47B8-AB3B-129070640279}"/>
              </a:ext>
            </a:extLst>
          </p:cNvPr>
          <p:cNvSpPr>
            <a:spLocks xmlns:a="http://schemas.openxmlformats.org/drawingml/2006/main" noGrp="1"/>
          </p:cNvSpPr>
          <p:nvPr/>
        </p:nvSpPr>
        <p:spPr>
          <a:xfrm xmlns:a="http://schemas.openxmlformats.org/drawingml/2006/main">
            <a:off x="77628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changes without refresh</a:t>
            </a:r>
          </a:p>
        </p:txBody>
      </p:sp>
      <p:sp>
        <p:nvSpPr>
          <p:cNvPr id="13" name="">
            <a:extLst xmlns:a="http://schemas.openxmlformats.org/drawingml/2006/main">
              <a:ext uri="{FF2B5EF4-FFF2-40B4-BE49-F238E27FC236}">
                <a16:creationId xmlns:a16="http://schemas.microsoft.com/office/drawing/2014/main" id="{225DB676-0F77-45E5-B7DF-C14660299F4F}"/>
              </a:ext>
            </a:extLst>
          </p:cNvPr>
          <p:cNvSpPr>
            <a:spLocks xmlns:a="http://schemas.openxmlformats.org/drawingml/2006/main" noGrp="1"/>
          </p:cNvSpPr>
          <p:nvPr/>
        </p:nvSpPr>
        <p:spPr>
          <a:xfrm xmlns:a="http://schemas.openxmlformats.org/drawingml/2006/main">
            <a:off x="952500" y="6000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8EE0C8"/>
                </a:solidFill>
                <a:latin typeface="Helvetica Neue"/>
                <a:ea typeface="Helvetica Neue"/>
                <a:cs typeface="Helvetica Neue"/>
              </a:defRPr>
            </a:pPr>
            <a:r>
              <a:rPr sz="2025" b="1">
                <a:solidFill>
                  <a:srgbClr val="8EE0C8"/>
                </a:solidFill>
                <a:latin typeface="Helvetica Neue"/>
                <a:ea typeface="Helvetica Neue"/>
                <a:cs typeface="Helvetica Neue"/>
              </a:rPr>
              <a:t>Questions?</a:t>
            </a:r>
          </a:p>
        </p:txBody>
      </p:sp>
    </p:spTree>
    <p:extLst>
      <p:ext uri="{BB962C8B-B14F-4D97-AF65-F5344CB8AC3E}">
        <p14:creationId xmlns:p14="http://schemas.microsoft.com/office/powerpoint/2010/main" val="2053063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
          <a:effectLst>
            <a:outerShdw blurRad="114300" dist="39273" dir="4557825">
              <a:srgbClr val="18302B">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2026-09-22T13:29:29.5130000Z</dcterms:created>
  <dcterms:modified xsi:type="dcterms:W3CDTF">2026-09-22T13:29:29.5130000Z</dcterms:modified>
</coreProperties>
</file>